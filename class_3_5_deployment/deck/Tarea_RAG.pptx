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10268053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10268053c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2e85f04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2e85f04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2e85f045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2e85f045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2e85f045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2e85f045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2e85f045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2e85f045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2e85f045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2e85f045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2ef950b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2ef950b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2167386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3817096" y="3944462"/>
            <a:ext cx="150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/>
          <p:cNvSpPr txBox="1"/>
          <p:nvPr/>
        </p:nvSpPr>
        <p:spPr>
          <a:xfrm>
            <a:off x="1" y="4821596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Control de Gestión y Sistemas de Información | Facultad de Economía y Negocios | Universidad de Chile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5343613" y="893286"/>
            <a:ext cx="2360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657087"/>
            <a:ext cx="64881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628650" y="1008529"/>
            <a:ext cx="78867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slide">
  <p:cSld name="Main content slid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81000" y="259797"/>
            <a:ext cx="8134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81000" y="595222"/>
            <a:ext cx="8134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381000" y="4654550"/>
            <a:ext cx="20574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final">
  <p:cSld name="Portada fin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7"/>
          <p:cNvSpPr txBox="1"/>
          <p:nvPr/>
        </p:nvSpPr>
        <p:spPr>
          <a:xfrm>
            <a:off x="279918" y="3112435"/>
            <a:ext cx="3862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+56 2 2978 3565 | contacto@uejecutivos.cl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Facultad de Economía y Negocios: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Diagonal Paraguay 257, Piso 6, Santiago.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oriente: Av. Nueva Los Leones 0222, Providencia.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7"/>
          <p:cNvCxnSpPr/>
          <p:nvPr/>
        </p:nvCxnSpPr>
        <p:spPr>
          <a:xfrm>
            <a:off x="346108" y="4259370"/>
            <a:ext cx="3726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623888" y="576263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623888" y="1079816"/>
            <a:ext cx="78867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8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6286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46291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9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xfrm>
            <a:off x="629841" y="753380"/>
            <a:ext cx="64611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629841" y="1483046"/>
            <a:ext cx="3868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2"/>
          </p:nvPr>
        </p:nvSpPr>
        <p:spPr>
          <a:xfrm>
            <a:off x="629841" y="2100864"/>
            <a:ext cx="38682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3"/>
          </p:nvPr>
        </p:nvSpPr>
        <p:spPr>
          <a:xfrm>
            <a:off x="4629150" y="1483046"/>
            <a:ext cx="388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4"/>
          </p:nvPr>
        </p:nvSpPr>
        <p:spPr>
          <a:xfrm>
            <a:off x="4629150" y="2100863"/>
            <a:ext cx="38874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0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1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22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>
            <a:off x="3887391" y="1015760"/>
            <a:ext cx="4629300" cy="3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2"/>
          </p:nvPr>
        </p:nvSpPr>
        <p:spPr>
          <a:xfrm>
            <a:off x="629841" y="1979762"/>
            <a:ext cx="2949300" cy="24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>
            <a:spLocks noGrp="1"/>
          </p:cNvSpPr>
          <p:nvPr>
            <p:ph type="pic" idx="2"/>
          </p:nvPr>
        </p:nvSpPr>
        <p:spPr>
          <a:xfrm>
            <a:off x="3887391" y="1061049"/>
            <a:ext cx="4629300" cy="3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4"/>
          <p:cNvSpPr txBox="1">
            <a:spLocks noGrp="1"/>
          </p:cNvSpPr>
          <p:nvPr>
            <p:ph type="body" idx="1"/>
          </p:nvPr>
        </p:nvSpPr>
        <p:spPr>
          <a:xfrm>
            <a:off x="629841" y="1785667"/>
            <a:ext cx="29493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4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1"/>
          </p:nvPr>
        </p:nvSpPr>
        <p:spPr>
          <a:xfrm rot="5400000">
            <a:off x="3079800" y="-802700"/>
            <a:ext cx="2984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5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title"/>
          </p:nvPr>
        </p:nvSpPr>
        <p:spPr>
          <a:xfrm rot="5400000">
            <a:off x="5746950" y="1864318"/>
            <a:ext cx="35652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1"/>
          </p:nvPr>
        </p:nvSpPr>
        <p:spPr>
          <a:xfrm rot="5400000">
            <a:off x="1589325" y="-207372"/>
            <a:ext cx="38793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6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648450"/>
            <a:ext cx="78867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1500"/>
              <a:t>Desafío:</a:t>
            </a:r>
            <a:endParaRPr sz="150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Expandir el repositorio del tutorial de langserve ya generado y usar como cadena un Agente de Retriever que consuma una instancia externa de una BBDD vectorial (sugerido Qdrant)</a:t>
            </a:r>
            <a:endParaRPr sz="150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La bbdd vectorial debe estar poblada a priori (con lo que quieran)</a:t>
            </a:r>
            <a:endParaRPr sz="150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Crear cuenta en Qdrant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Obtener URL y API-KEY qdrant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Correr carga de documentos en un script paralelo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Modificar código del servidor y cambiar el runnable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Deployar (agregar url y api-key como secretos)</a:t>
            </a:r>
            <a:endParaRPr sz="1500"/>
          </a:p>
        </p:txBody>
      </p:sp>
      <p:pic>
        <p:nvPicPr>
          <p:cNvPr id="149" name="Google Shape;1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325" y="2217975"/>
            <a:ext cx="2942250" cy="159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🎯 Objetivo Principal</a:t>
            </a: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Implementar un sistema RAG completo utilizando el stack tecnológico 2025: LangChain + Qdrant Cloud + OpenAI, aplicando estrategias de chunking inteligente y evaluación rigurosa del sistema.</a:t>
            </a: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📚 Paso 1: Preparación de Fuentes de Datos</a:t>
            </a: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Requisitos mínimos:</a:t>
            </a:r>
            <a:endParaRPr sz="140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Seleccionar 2-3 fuentes de datos textuales de diferentes tipos:</a:t>
            </a:r>
            <a:endParaRPr sz="1400"/>
          </a:p>
          <a:p>
            <a:pPr marL="914400" lvl="1" indent="-317500" algn="l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Documentos PDF, Word (.docx) o archivos de texto (.txt)</a:t>
            </a:r>
            <a:endParaRPr sz="1400"/>
          </a:p>
          <a:p>
            <a:pPr marL="914400" lvl="1" indent="-317500" algn="l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Contenido temático coherente (ej: documentación técnica, libros, artículos especializados, a su elección)</a:t>
            </a:r>
            <a:endParaRPr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61" name="Google Shape;161;p32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🔧 Paso 2: Procesamiento y Chunking Estratégico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Implementar: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Análisis del contenido: Determinar el tipo de documento y estructura.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Selección de estrategia: Elegir entre las técnicas vistas en clase:</a:t>
            </a:r>
            <a:endParaRPr sz="150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RecursiveCharacterTextSplitter (baseline)</a:t>
            </a:r>
            <a:endParaRPr sz="150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SemanticChunker (avanzado)</a:t>
            </a:r>
            <a:endParaRPr sz="150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Chunking específico por tipo de documento o otro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Configuración optimizada: Definir chunk_size, chunk_overlap, separadores.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🗄️ Paso 3: Indexación en Qdrant Cloud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Crear vector store robusto: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Configurar colección Qdrant con nombre descriptivo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Generar metadata enriquecida para cada chunk: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Indexar con embeddings OpenAI (text-embedding-3-large o small), seleccionen la cantidad de dimensiones.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Mostrar el Qdrant con la información cargada.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🤖 Paso 4: Implementación RAG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Sistema RAG funcional con: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Retriever configurado con top-k apropiado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Prompt template optimizado siguiendo las mejores prácticas del curso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Chain RAG completo usando LangChain LCEL o Langgraph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🧪 Paso 5: Evaluación Sistemática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Crear datasets de evaluación: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Set de Preguntas Respondibles (10-15 preguntas):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Preguntas que SÍ pueden responderse con la información indexada</a:t>
            </a:r>
            <a:endParaRPr sz="15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Set de Preguntas No Respondibles (5-10 preguntas):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Preguntas sobre temas NO cubiertos en los documentos</a:t>
            </a:r>
            <a:endParaRPr sz="150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Evaluar que el sistema responda "No tengo información suficiente"</a:t>
            </a:r>
            <a:endParaRPr sz="15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(3 semanas)</a:t>
            </a:r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body" idx="1"/>
          </p:nvPr>
        </p:nvSpPr>
        <p:spPr>
          <a:xfrm>
            <a:off x="37750" y="751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dirty="0" err="1"/>
              <a:t>Detalles</a:t>
            </a:r>
            <a:r>
              <a:rPr lang="en" sz="1500" dirty="0"/>
              <a:t> de </a:t>
            </a:r>
            <a:r>
              <a:rPr lang="en" sz="1500" dirty="0" err="1"/>
              <a:t>entrega</a:t>
            </a:r>
            <a:r>
              <a:rPr lang="en" sz="1500" dirty="0"/>
              <a:t>:</a:t>
            </a:r>
            <a:endParaRPr sz="15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dirty="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Deadline: Domingo 02 de Agosto a las 23:59</a:t>
            </a:r>
            <a:endParaRPr sz="1500" dirty="0"/>
          </a:p>
          <a:p>
            <a:pPr marL="457200" lvl="0" indent="-323850" algn="l" rtl="0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 err="1"/>
              <a:t>Entregables</a:t>
            </a:r>
            <a:r>
              <a:rPr lang="en" sz="1500" dirty="0"/>
              <a:t>:</a:t>
            </a:r>
            <a:endParaRPr sz="1500" dirty="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 dirty="0"/>
              <a:t>URL del </a:t>
            </a:r>
            <a:r>
              <a:rPr lang="en" sz="1500" dirty="0" err="1"/>
              <a:t>servicio</a:t>
            </a:r>
            <a:r>
              <a:rPr lang="en" sz="1500" dirty="0"/>
              <a:t> </a:t>
            </a:r>
            <a:r>
              <a:rPr lang="en" sz="1500" dirty="0" err="1"/>
              <a:t>deployado</a:t>
            </a:r>
            <a:endParaRPr lang="en" sz="1500" dirty="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 dirty="0" err="1"/>
              <a:t>Archivo</a:t>
            </a:r>
            <a:r>
              <a:rPr lang="en" sz="1500" dirty="0"/>
              <a:t> con </a:t>
            </a:r>
            <a:r>
              <a:rPr lang="en" sz="1500" dirty="0" err="1"/>
              <a:t>código</a:t>
            </a:r>
            <a:r>
              <a:rPr lang="en" sz="1500" dirty="0"/>
              <a:t> de carga de </a:t>
            </a:r>
            <a:r>
              <a:rPr lang="en" sz="1500" dirty="0" err="1"/>
              <a:t>documentos</a:t>
            </a:r>
            <a:r>
              <a:rPr lang="en" sz="1500" dirty="0"/>
              <a:t> a </a:t>
            </a:r>
            <a:r>
              <a:rPr lang="en" sz="1500" dirty="0" err="1"/>
              <a:t>qdrant</a:t>
            </a:r>
            <a:r>
              <a:rPr lang="en" sz="1500" dirty="0"/>
              <a:t>, </a:t>
            </a:r>
            <a:r>
              <a:rPr lang="en" sz="1500" dirty="0" err="1"/>
              <a:t>comentando</a:t>
            </a:r>
            <a:r>
              <a:rPr lang="en" sz="1500" dirty="0"/>
              <a:t> </a:t>
            </a:r>
            <a:r>
              <a:rPr lang="en" sz="1500" dirty="0" err="1"/>
              <a:t>estrategia</a:t>
            </a:r>
            <a:r>
              <a:rPr lang="en" sz="1500" dirty="0"/>
              <a:t> a </a:t>
            </a:r>
            <a:r>
              <a:rPr lang="en" sz="1500" dirty="0" err="1"/>
              <a:t>utilizar</a:t>
            </a:r>
            <a:r>
              <a:rPr lang="en" sz="1500" dirty="0"/>
              <a:t> y </a:t>
            </a:r>
            <a:r>
              <a:rPr lang="en" sz="1500" dirty="0" err="1"/>
              <a:t>razón</a:t>
            </a:r>
            <a:r>
              <a:rPr lang="en" sz="1500" dirty="0"/>
              <a:t>.</a:t>
            </a:r>
            <a:endParaRPr sz="1500" dirty="0"/>
          </a:p>
          <a:p>
            <a:pPr marL="914400" lvl="1" indent="-323850" algn="l" rtl="0">
              <a:spcBef>
                <a:spcPts val="40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 dirty="0"/>
              <a:t>Set de </a:t>
            </a:r>
            <a:r>
              <a:rPr lang="en" sz="1500" dirty="0" err="1"/>
              <a:t>preguntas</a:t>
            </a:r>
            <a:r>
              <a:rPr lang="en" sz="1500" dirty="0"/>
              <a:t> </a:t>
            </a:r>
            <a:r>
              <a:rPr lang="en" sz="1500" dirty="0" err="1"/>
              <a:t>respondibles</a:t>
            </a:r>
            <a:r>
              <a:rPr lang="en" sz="1500" dirty="0"/>
              <a:t> y no </a:t>
            </a:r>
            <a:r>
              <a:rPr lang="en" sz="1500" dirty="0" err="1"/>
              <a:t>respondibles</a:t>
            </a:r>
            <a:endParaRPr sz="15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Macintosh PowerPoint</Application>
  <PresentationFormat>On-screen Show (16:9)</PresentationFormat>
  <Paragraphs>65</Paragraphs>
  <Slides>7</Slides>
  <Notes>7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</vt:lpstr>
      <vt:lpstr>Arial</vt:lpstr>
      <vt:lpstr>Calibri</vt:lpstr>
      <vt:lpstr>Simple Light</vt:lpstr>
      <vt:lpstr>Tema de Office</vt:lpstr>
      <vt:lpstr>Tarea (3 semanas)</vt:lpstr>
      <vt:lpstr>Tarea (3 semanas)</vt:lpstr>
      <vt:lpstr>Tarea (3 semanas)</vt:lpstr>
      <vt:lpstr>Tarea (3 semanas)</vt:lpstr>
      <vt:lpstr>Tarea (3 semanas)</vt:lpstr>
      <vt:lpstr>Tarea (3 semanas)</vt:lpstr>
      <vt:lpstr>Tarea (3 semanas)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José Manuel Peña Mendez</cp:lastModifiedBy>
  <cp:revision>1</cp:revision>
  <dcterms:modified xsi:type="dcterms:W3CDTF">2026-07-13T21:54:59Z</dcterms:modified>
</cp:coreProperties>
</file>