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5" r:id="rId4"/>
    <p:sldMasterId id="2147483676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y="5143500" cx="9144000"/>
  <p:notesSz cx="6858000" cy="9144000"/>
  <p:embeddedFontLst>
    <p:embeddedFont>
      <p:font typeface="Poppins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5" Type="http://schemas.openxmlformats.org/officeDocument/2006/relationships/font" Target="fonts/Poppins-bold.fntdata"/><Relationship Id="rId14" Type="http://schemas.openxmlformats.org/officeDocument/2006/relationships/font" Target="fonts/Poppins-regular.fntdata"/><Relationship Id="rId17" Type="http://schemas.openxmlformats.org/officeDocument/2006/relationships/font" Target="fonts/Poppins-boldItalic.fntdata"/><Relationship Id="rId16" Type="http://schemas.openxmlformats.org/officeDocument/2006/relationships/font" Target="fonts/Poppins-italic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710268053c_0_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710268053c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72e85f04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72e85f04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72e85f0454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72e85f0454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72e85f0454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372e85f0454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72e85f04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72e85f04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72e85f0454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72e85f0454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72ef950b3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g372ef950b3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>
  <p:cSld name="Diapositiva de título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type="ctrTitle"/>
          </p:nvPr>
        </p:nvSpPr>
        <p:spPr>
          <a:xfrm>
            <a:off x="1143000" y="2167386"/>
            <a:ext cx="6858000" cy="10344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Calibri"/>
              <a:buNone/>
              <a:defRPr b="1" sz="33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cxnSp>
        <p:nvCxnSpPr>
          <p:cNvPr id="58" name="Google Shape;58;p14"/>
          <p:cNvCxnSpPr/>
          <p:nvPr/>
        </p:nvCxnSpPr>
        <p:spPr>
          <a:xfrm>
            <a:off x="3817096" y="3944462"/>
            <a:ext cx="15099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59" name="Google Shape;59;p14"/>
          <p:cNvSpPr txBox="1"/>
          <p:nvPr/>
        </p:nvSpPr>
        <p:spPr>
          <a:xfrm>
            <a:off x="1" y="4821596"/>
            <a:ext cx="91440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Departamento de Control de Gestión y Sistemas de Información | Facultad de Economía y Negocios | Universidad de Chile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14"/>
          <p:cNvSpPr txBox="1"/>
          <p:nvPr/>
        </p:nvSpPr>
        <p:spPr>
          <a:xfrm>
            <a:off x="5343613" y="893286"/>
            <a:ext cx="23601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Educación Ejecutiva | UEJECUTIVOS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 txBox="1"/>
          <p:nvPr>
            <p:ph type="title"/>
          </p:nvPr>
        </p:nvSpPr>
        <p:spPr>
          <a:xfrm>
            <a:off x="628650" y="657087"/>
            <a:ext cx="64881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F7F"/>
              </a:buClr>
              <a:buSzPts val="1800"/>
              <a:buFont typeface="Calibri"/>
              <a:buNone/>
              <a:defRPr sz="1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Google Shape;63;p15"/>
          <p:cNvSpPr txBox="1"/>
          <p:nvPr>
            <p:ph idx="1" type="body"/>
          </p:nvPr>
        </p:nvSpPr>
        <p:spPr>
          <a:xfrm>
            <a:off x="628650" y="1008529"/>
            <a:ext cx="7886700" cy="3624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2" type="sldNum"/>
          </p:nvPr>
        </p:nvSpPr>
        <p:spPr>
          <a:xfrm>
            <a:off x="6457950" y="4839958"/>
            <a:ext cx="2057400" cy="20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5" name="Google Shape;65;p15"/>
          <p:cNvSpPr txBox="1"/>
          <p:nvPr/>
        </p:nvSpPr>
        <p:spPr>
          <a:xfrm>
            <a:off x="734785" y="449851"/>
            <a:ext cx="20862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Educación Ejecutiva | UEJECUTIVOS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15"/>
          <p:cNvSpPr txBox="1"/>
          <p:nvPr/>
        </p:nvSpPr>
        <p:spPr>
          <a:xfrm>
            <a:off x="506411" y="4839958"/>
            <a:ext cx="2104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contacto@</a:t>
            </a:r>
            <a:r>
              <a:rPr b="1" i="0" lang="en" sz="900" u="none" cap="none" strike="noStrik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uejecutivos.cl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content slide">
  <p:cSld name="Main content slide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6"/>
          <p:cNvSpPr txBox="1"/>
          <p:nvPr>
            <p:ph type="title"/>
          </p:nvPr>
        </p:nvSpPr>
        <p:spPr>
          <a:xfrm>
            <a:off x="381000" y="259797"/>
            <a:ext cx="8134500" cy="33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F7F"/>
              </a:buClr>
              <a:buSzPts val="2400"/>
              <a:buFont typeface="Poppins"/>
              <a:buNone/>
              <a:defRPr b="0" i="0">
                <a:latin typeface="Poppins"/>
                <a:ea typeface="Poppins"/>
                <a:cs typeface="Poppins"/>
                <a:sym typeface="Poppins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1" type="body"/>
          </p:nvPr>
        </p:nvSpPr>
        <p:spPr>
          <a:xfrm>
            <a:off x="381000" y="595222"/>
            <a:ext cx="8134500" cy="4059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b="0" i="0">
                <a:latin typeface="Poppins"/>
                <a:ea typeface="Poppins"/>
                <a:cs typeface="Poppins"/>
                <a:sym typeface="Poppins"/>
              </a:defRPr>
            </a:lvl1pPr>
            <a:lvl2pPr indent="-3429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b="0" i="0">
                <a:latin typeface="Poppins"/>
                <a:ea typeface="Poppins"/>
                <a:cs typeface="Poppins"/>
                <a:sym typeface="Poppins"/>
              </a:defRPr>
            </a:lvl2pPr>
            <a:lvl3pPr indent="-32385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b="0" i="0">
                <a:latin typeface="Poppins"/>
                <a:ea typeface="Poppins"/>
                <a:cs typeface="Poppins"/>
                <a:sym typeface="Poppins"/>
              </a:defRPr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b="0" i="0">
                <a:latin typeface="Poppins"/>
                <a:ea typeface="Poppins"/>
                <a:cs typeface="Poppins"/>
                <a:sym typeface="Poppins"/>
              </a:defRPr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b="0" i="0">
                <a:latin typeface="Poppins"/>
                <a:ea typeface="Poppins"/>
                <a:cs typeface="Poppins"/>
                <a:sym typeface="Poppi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2" type="sldNum"/>
          </p:nvPr>
        </p:nvSpPr>
        <p:spPr>
          <a:xfrm>
            <a:off x="381000" y="4654550"/>
            <a:ext cx="2057400" cy="19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indent="0" lvl="1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indent="0" lvl="2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indent="0" lvl="3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indent="0" lvl="4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indent="0" lvl="5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indent="0" lvl="6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indent="0" lvl="7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indent="0" lvl="8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ortada final">
  <p:cSld name="Portada final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7"/>
          <p:cNvSpPr txBox="1"/>
          <p:nvPr>
            <p:ph idx="12" type="sldNum"/>
          </p:nvPr>
        </p:nvSpPr>
        <p:spPr>
          <a:xfrm>
            <a:off x="6457950" y="4839958"/>
            <a:ext cx="2057400" cy="20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3" name="Google Shape;73;p17"/>
          <p:cNvSpPr txBox="1"/>
          <p:nvPr/>
        </p:nvSpPr>
        <p:spPr>
          <a:xfrm>
            <a:off x="279918" y="3112435"/>
            <a:ext cx="3862800" cy="1100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" sz="12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uejecutivos.cl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+56 2 2978 3565 | contacto@uejecutivos.cl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11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Facultad de Economía y Negocios: 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Diagonal Paraguay 257, Piso 6, Santiago.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Campus oriente: Av. Nueva Los Leones 0222, Providencia.</a:t>
            </a:r>
            <a:endParaRPr b="0" i="0" sz="11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4" name="Google Shape;74;p17"/>
          <p:cNvCxnSpPr/>
          <p:nvPr/>
        </p:nvCxnSpPr>
        <p:spPr>
          <a:xfrm>
            <a:off x="346108" y="4259370"/>
            <a:ext cx="3726600" cy="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8"/>
          <p:cNvSpPr txBox="1"/>
          <p:nvPr>
            <p:ph type="title"/>
          </p:nvPr>
        </p:nvSpPr>
        <p:spPr>
          <a:xfrm>
            <a:off x="623888" y="576263"/>
            <a:ext cx="7886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F7F"/>
              </a:buClr>
              <a:buSzPts val="1800"/>
              <a:buFont typeface="Calibri"/>
              <a:buNone/>
              <a:defRPr sz="1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8"/>
          <p:cNvSpPr txBox="1"/>
          <p:nvPr>
            <p:ph idx="1" type="body"/>
          </p:nvPr>
        </p:nvSpPr>
        <p:spPr>
          <a:xfrm>
            <a:off x="623888" y="1079816"/>
            <a:ext cx="7886700" cy="3487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8" name="Google Shape;78;p18"/>
          <p:cNvSpPr txBox="1"/>
          <p:nvPr>
            <p:ph idx="12" type="sldNum"/>
          </p:nvPr>
        </p:nvSpPr>
        <p:spPr>
          <a:xfrm>
            <a:off x="6457950" y="4839958"/>
            <a:ext cx="2057400" cy="20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9" name="Google Shape;79;p18"/>
          <p:cNvSpPr txBox="1"/>
          <p:nvPr/>
        </p:nvSpPr>
        <p:spPr>
          <a:xfrm>
            <a:off x="734785" y="449851"/>
            <a:ext cx="20862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Educación Ejecutiva | UEJECUTIVOS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8"/>
          <p:cNvSpPr txBox="1"/>
          <p:nvPr/>
        </p:nvSpPr>
        <p:spPr>
          <a:xfrm>
            <a:off x="506411" y="4839958"/>
            <a:ext cx="2104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contacto@</a:t>
            </a:r>
            <a:r>
              <a:rPr b="1" i="0" lang="en" sz="900" u="none" cap="none" strike="noStrik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uejecutivos.cl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9"/>
          <p:cNvSpPr txBox="1"/>
          <p:nvPr>
            <p:ph type="title"/>
          </p:nvPr>
        </p:nvSpPr>
        <p:spPr>
          <a:xfrm>
            <a:off x="628650" y="834607"/>
            <a:ext cx="6488100" cy="6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F7F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9"/>
          <p:cNvSpPr txBox="1"/>
          <p:nvPr>
            <p:ph idx="1" type="body"/>
          </p:nvPr>
        </p:nvSpPr>
        <p:spPr>
          <a:xfrm>
            <a:off x="628650" y="1567222"/>
            <a:ext cx="3886200" cy="30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4" name="Google Shape;84;p19"/>
          <p:cNvSpPr txBox="1"/>
          <p:nvPr>
            <p:ph idx="2" type="body"/>
          </p:nvPr>
        </p:nvSpPr>
        <p:spPr>
          <a:xfrm>
            <a:off x="4629150" y="1567222"/>
            <a:ext cx="3886200" cy="306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85" name="Google Shape;85;p19"/>
          <p:cNvSpPr txBox="1"/>
          <p:nvPr>
            <p:ph idx="12" type="sldNum"/>
          </p:nvPr>
        </p:nvSpPr>
        <p:spPr>
          <a:xfrm>
            <a:off x="6457950" y="4839958"/>
            <a:ext cx="2057400" cy="20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6" name="Google Shape;86;p19"/>
          <p:cNvSpPr txBox="1"/>
          <p:nvPr/>
        </p:nvSpPr>
        <p:spPr>
          <a:xfrm>
            <a:off x="734785" y="449851"/>
            <a:ext cx="20862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Educación Ejecutiva | UEJECUTIVOS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9"/>
          <p:cNvSpPr txBox="1"/>
          <p:nvPr/>
        </p:nvSpPr>
        <p:spPr>
          <a:xfrm>
            <a:off x="506411" y="4839958"/>
            <a:ext cx="2104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contacto@</a:t>
            </a:r>
            <a:r>
              <a:rPr b="1" i="0" lang="en" sz="900" u="none" cap="none" strike="noStrik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uejecutivos.cl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0"/>
          <p:cNvSpPr txBox="1"/>
          <p:nvPr>
            <p:ph type="title"/>
          </p:nvPr>
        </p:nvSpPr>
        <p:spPr>
          <a:xfrm>
            <a:off x="629841" y="753380"/>
            <a:ext cx="6461100" cy="663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F7F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0" name="Google Shape;90;p20"/>
          <p:cNvSpPr txBox="1"/>
          <p:nvPr>
            <p:ph idx="1" type="body"/>
          </p:nvPr>
        </p:nvSpPr>
        <p:spPr>
          <a:xfrm>
            <a:off x="629841" y="1483046"/>
            <a:ext cx="38682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91" name="Google Shape;91;p20"/>
          <p:cNvSpPr txBox="1"/>
          <p:nvPr>
            <p:ph idx="2" type="body"/>
          </p:nvPr>
        </p:nvSpPr>
        <p:spPr>
          <a:xfrm>
            <a:off x="629841" y="2100864"/>
            <a:ext cx="3868200" cy="2541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92" name="Google Shape;92;p20"/>
          <p:cNvSpPr txBox="1"/>
          <p:nvPr>
            <p:ph idx="3" type="body"/>
          </p:nvPr>
        </p:nvSpPr>
        <p:spPr>
          <a:xfrm>
            <a:off x="4629150" y="1483046"/>
            <a:ext cx="38874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93" name="Google Shape;93;p20"/>
          <p:cNvSpPr txBox="1"/>
          <p:nvPr>
            <p:ph idx="4" type="body"/>
          </p:nvPr>
        </p:nvSpPr>
        <p:spPr>
          <a:xfrm>
            <a:off x="4629150" y="2100863"/>
            <a:ext cx="3887400" cy="2541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94" name="Google Shape;94;p20"/>
          <p:cNvSpPr txBox="1"/>
          <p:nvPr>
            <p:ph idx="12" type="sldNum"/>
          </p:nvPr>
        </p:nvSpPr>
        <p:spPr>
          <a:xfrm>
            <a:off x="6457950" y="4839958"/>
            <a:ext cx="2057400" cy="20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5" name="Google Shape;95;p20"/>
          <p:cNvSpPr txBox="1"/>
          <p:nvPr/>
        </p:nvSpPr>
        <p:spPr>
          <a:xfrm>
            <a:off x="734785" y="449851"/>
            <a:ext cx="20862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Educación Ejecutiva | UEJECUTIVOS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20"/>
          <p:cNvSpPr txBox="1"/>
          <p:nvPr/>
        </p:nvSpPr>
        <p:spPr>
          <a:xfrm>
            <a:off x="506411" y="4839958"/>
            <a:ext cx="2104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contacto@</a:t>
            </a:r>
            <a:r>
              <a:rPr b="1" i="0" lang="en" sz="900" u="none" cap="none" strike="noStrik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uejecutivos.cl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1"/>
          <p:cNvSpPr txBox="1"/>
          <p:nvPr>
            <p:ph type="title"/>
          </p:nvPr>
        </p:nvSpPr>
        <p:spPr>
          <a:xfrm>
            <a:off x="628650" y="834607"/>
            <a:ext cx="6488100" cy="6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F7F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9" name="Google Shape;99;p21"/>
          <p:cNvSpPr txBox="1"/>
          <p:nvPr>
            <p:ph idx="12" type="sldNum"/>
          </p:nvPr>
        </p:nvSpPr>
        <p:spPr>
          <a:xfrm>
            <a:off x="6457950" y="4839958"/>
            <a:ext cx="2057400" cy="20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0" name="Google Shape;100;p21"/>
          <p:cNvSpPr txBox="1"/>
          <p:nvPr/>
        </p:nvSpPr>
        <p:spPr>
          <a:xfrm>
            <a:off x="734785" y="449851"/>
            <a:ext cx="20862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Educación Ejecutiva | UEJECUTIVOS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21"/>
          <p:cNvSpPr txBox="1"/>
          <p:nvPr/>
        </p:nvSpPr>
        <p:spPr>
          <a:xfrm>
            <a:off x="506411" y="4839958"/>
            <a:ext cx="2104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contacto@</a:t>
            </a:r>
            <a:r>
              <a:rPr b="1" i="0" lang="en" sz="900" u="none" cap="none" strike="noStrik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uejecutivos.cl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2"/>
          <p:cNvSpPr txBox="1"/>
          <p:nvPr>
            <p:ph idx="12" type="sldNum"/>
          </p:nvPr>
        </p:nvSpPr>
        <p:spPr>
          <a:xfrm>
            <a:off x="6457950" y="4839958"/>
            <a:ext cx="2057400" cy="20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22"/>
          <p:cNvSpPr txBox="1"/>
          <p:nvPr/>
        </p:nvSpPr>
        <p:spPr>
          <a:xfrm>
            <a:off x="734785" y="449851"/>
            <a:ext cx="20862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Educación Ejecutiva | UEJECUTIVOS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22"/>
          <p:cNvSpPr txBox="1"/>
          <p:nvPr/>
        </p:nvSpPr>
        <p:spPr>
          <a:xfrm>
            <a:off x="506411" y="4839958"/>
            <a:ext cx="2104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contacto@</a:t>
            </a:r>
            <a:r>
              <a:rPr b="1" i="0" lang="en" sz="900" u="none" cap="none" strike="noStrik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uejecutivos.cl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3"/>
          <p:cNvSpPr txBox="1"/>
          <p:nvPr>
            <p:ph type="title"/>
          </p:nvPr>
        </p:nvSpPr>
        <p:spPr>
          <a:xfrm>
            <a:off x="629841" y="740568"/>
            <a:ext cx="2949300" cy="1239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F7F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3"/>
          <p:cNvSpPr txBox="1"/>
          <p:nvPr>
            <p:ph idx="1" type="body"/>
          </p:nvPr>
        </p:nvSpPr>
        <p:spPr>
          <a:xfrm>
            <a:off x="3887391" y="1015760"/>
            <a:ext cx="4629300" cy="33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9" name="Google Shape;109;p23"/>
          <p:cNvSpPr txBox="1"/>
          <p:nvPr>
            <p:ph idx="2" type="body"/>
          </p:nvPr>
        </p:nvSpPr>
        <p:spPr>
          <a:xfrm>
            <a:off x="629841" y="1979762"/>
            <a:ext cx="2949300" cy="2421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10" name="Google Shape;110;p23"/>
          <p:cNvSpPr txBox="1"/>
          <p:nvPr>
            <p:ph idx="12" type="sldNum"/>
          </p:nvPr>
        </p:nvSpPr>
        <p:spPr>
          <a:xfrm>
            <a:off x="6457950" y="4839958"/>
            <a:ext cx="2057400" cy="20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1" name="Google Shape;111;p23"/>
          <p:cNvSpPr txBox="1"/>
          <p:nvPr/>
        </p:nvSpPr>
        <p:spPr>
          <a:xfrm>
            <a:off x="734785" y="449851"/>
            <a:ext cx="20862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Educación Ejecutiva | UEJECUTIVOS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23"/>
          <p:cNvSpPr txBox="1"/>
          <p:nvPr/>
        </p:nvSpPr>
        <p:spPr>
          <a:xfrm>
            <a:off x="506411" y="4839958"/>
            <a:ext cx="2104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contacto@</a:t>
            </a:r>
            <a:r>
              <a:rPr b="1" i="0" lang="en" sz="900" u="none" cap="none" strike="noStrik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uejecutivos.cl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4"/>
          <p:cNvSpPr txBox="1"/>
          <p:nvPr>
            <p:ph type="title"/>
          </p:nvPr>
        </p:nvSpPr>
        <p:spPr>
          <a:xfrm>
            <a:off x="629841" y="740568"/>
            <a:ext cx="2949300" cy="10386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F7F"/>
              </a:buClr>
              <a:buSzPts val="2400"/>
              <a:buFont typeface="Calibri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4"/>
          <p:cNvSpPr/>
          <p:nvPr>
            <p:ph idx="2" type="pic"/>
          </p:nvPr>
        </p:nvSpPr>
        <p:spPr>
          <a:xfrm>
            <a:off x="3887391" y="1061049"/>
            <a:ext cx="4629300" cy="3334800"/>
          </a:xfrm>
          <a:prstGeom prst="rect">
            <a:avLst/>
          </a:prstGeom>
          <a:noFill/>
          <a:ln>
            <a:noFill/>
          </a:ln>
        </p:spPr>
      </p:sp>
      <p:sp>
        <p:nvSpPr>
          <p:cNvPr id="116" name="Google Shape;116;p24"/>
          <p:cNvSpPr txBox="1"/>
          <p:nvPr>
            <p:ph idx="1" type="body"/>
          </p:nvPr>
        </p:nvSpPr>
        <p:spPr>
          <a:xfrm>
            <a:off x="629841" y="1785667"/>
            <a:ext cx="2949300" cy="26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117" name="Google Shape;117;p24"/>
          <p:cNvSpPr txBox="1"/>
          <p:nvPr>
            <p:ph idx="12" type="sldNum"/>
          </p:nvPr>
        </p:nvSpPr>
        <p:spPr>
          <a:xfrm>
            <a:off x="6457950" y="4839958"/>
            <a:ext cx="2057400" cy="20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8" name="Google Shape;118;p24"/>
          <p:cNvSpPr txBox="1"/>
          <p:nvPr/>
        </p:nvSpPr>
        <p:spPr>
          <a:xfrm>
            <a:off x="734785" y="449851"/>
            <a:ext cx="20862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Educación Ejecutiva | UEJECUTIVOS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4"/>
          <p:cNvSpPr txBox="1"/>
          <p:nvPr/>
        </p:nvSpPr>
        <p:spPr>
          <a:xfrm>
            <a:off x="506411" y="4839958"/>
            <a:ext cx="2104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contacto@</a:t>
            </a:r>
            <a:r>
              <a:rPr b="1" i="0" lang="en" sz="900" u="none" cap="none" strike="noStrik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uejecutivos.cl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5"/>
          <p:cNvSpPr txBox="1"/>
          <p:nvPr>
            <p:ph type="title"/>
          </p:nvPr>
        </p:nvSpPr>
        <p:spPr>
          <a:xfrm>
            <a:off x="628650" y="834607"/>
            <a:ext cx="6488100" cy="6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F7F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2" name="Google Shape;122;p25"/>
          <p:cNvSpPr txBox="1"/>
          <p:nvPr>
            <p:ph idx="1" type="body"/>
          </p:nvPr>
        </p:nvSpPr>
        <p:spPr>
          <a:xfrm rot="5400000">
            <a:off x="3079800" y="-802700"/>
            <a:ext cx="2984400" cy="78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3" name="Google Shape;123;p25"/>
          <p:cNvSpPr txBox="1"/>
          <p:nvPr>
            <p:ph idx="12" type="sldNum"/>
          </p:nvPr>
        </p:nvSpPr>
        <p:spPr>
          <a:xfrm>
            <a:off x="6457950" y="4839958"/>
            <a:ext cx="2057400" cy="20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5"/>
          <p:cNvSpPr txBox="1"/>
          <p:nvPr/>
        </p:nvSpPr>
        <p:spPr>
          <a:xfrm>
            <a:off x="734785" y="449851"/>
            <a:ext cx="20862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Educación Ejecutiva | UEJECUTIVOS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25"/>
          <p:cNvSpPr txBox="1"/>
          <p:nvPr/>
        </p:nvSpPr>
        <p:spPr>
          <a:xfrm>
            <a:off x="506411" y="4839958"/>
            <a:ext cx="2104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contacto@</a:t>
            </a:r>
            <a:r>
              <a:rPr b="1" i="0" lang="en" sz="900" u="none" cap="none" strike="noStrik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uejecutivos.cl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6"/>
          <p:cNvSpPr txBox="1"/>
          <p:nvPr>
            <p:ph type="title"/>
          </p:nvPr>
        </p:nvSpPr>
        <p:spPr>
          <a:xfrm rot="5400000">
            <a:off x="5746950" y="1864318"/>
            <a:ext cx="3565200" cy="19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F7F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8" name="Google Shape;128;p26"/>
          <p:cNvSpPr txBox="1"/>
          <p:nvPr>
            <p:ph idx="1" type="body"/>
          </p:nvPr>
        </p:nvSpPr>
        <p:spPr>
          <a:xfrm rot="5400000">
            <a:off x="1589325" y="-207372"/>
            <a:ext cx="3879300" cy="58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9" name="Google Shape;129;p26"/>
          <p:cNvSpPr txBox="1"/>
          <p:nvPr>
            <p:ph idx="12" type="sldNum"/>
          </p:nvPr>
        </p:nvSpPr>
        <p:spPr>
          <a:xfrm>
            <a:off x="6457950" y="4839958"/>
            <a:ext cx="2057400" cy="20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0" name="Google Shape;130;p26"/>
          <p:cNvSpPr txBox="1"/>
          <p:nvPr/>
        </p:nvSpPr>
        <p:spPr>
          <a:xfrm>
            <a:off x="734785" y="449851"/>
            <a:ext cx="20862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Educación Ejecutiva | UEJECUTIVOS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6"/>
          <p:cNvSpPr txBox="1"/>
          <p:nvPr/>
        </p:nvSpPr>
        <p:spPr>
          <a:xfrm>
            <a:off x="506411" y="4839958"/>
            <a:ext cx="21042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contacto@</a:t>
            </a:r>
            <a:r>
              <a:rPr b="1" i="0" lang="en" sz="900" u="none" cap="none" strike="noStrik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rPr>
              <a:t>uejecutivos.cl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4" name="Google Shape;134;p2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>
              <a:spcBef>
                <a:spcPts val="800"/>
              </a:spcBef>
              <a:spcAft>
                <a:spcPts val="0"/>
              </a:spcAft>
              <a:buSzPts val="2100"/>
              <a:buChar char="•"/>
              <a:defRPr/>
            </a:lvl1pPr>
            <a:lvl2pPr indent="-342900" lvl="1" marL="914400"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2pPr>
            <a:lvl3pPr indent="-323850" lvl="2" marL="1371600">
              <a:spcBef>
                <a:spcPts val="400"/>
              </a:spcBef>
              <a:spcAft>
                <a:spcPts val="0"/>
              </a:spcAft>
              <a:buSzPts val="1500"/>
              <a:buChar char="•"/>
              <a:defRPr/>
            </a:lvl3pPr>
            <a:lvl4pPr indent="-317500" lvl="3" marL="1828800"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>
              <a:spcBef>
                <a:spcPts val="4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135" name="Google Shape;135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38" name="Google Shape;138;p2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39" name="Google Shape;139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_HEADER_1">
  <p:cSld name="SECTION_HEADER_1"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9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42" name="Google Shape;142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2.xml"/><Relationship Id="rId1" Type="http://schemas.openxmlformats.org/officeDocument/2006/relationships/image" Target="../media/image3.jpg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15" Type="http://schemas.openxmlformats.org/officeDocument/2006/relationships/slideLayout" Target="../slideLayouts/slideLayout25.xml"/><Relationship Id="rId14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7.xml"/><Relationship Id="rId16" Type="http://schemas.openxmlformats.org/officeDocument/2006/relationships/slideLayout" Target="../slideLayouts/slideLayout26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18" Type="http://schemas.openxmlformats.org/officeDocument/2006/relationships/theme" Target="../theme/theme2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628650" y="834607"/>
            <a:ext cx="6488100" cy="66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C3F7F"/>
              </a:buClr>
              <a:buSzPts val="2400"/>
              <a:buFont typeface="Calibri"/>
              <a:buNone/>
              <a:defRPr b="0" i="0" sz="2400" u="none" cap="none" strike="noStrike">
                <a:solidFill>
                  <a:srgbClr val="1C3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28650" y="1648450"/>
            <a:ext cx="7886700" cy="2984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6457950" y="4839958"/>
            <a:ext cx="2057400" cy="201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13"/>
          <p:cNvSpPr txBox="1"/>
          <p:nvPr/>
        </p:nvSpPr>
        <p:spPr>
          <a:xfrm>
            <a:off x="3686746" y="4981575"/>
            <a:ext cx="17919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Calificación: Publico, apto para su distribución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3686746" y="4981575"/>
            <a:ext cx="17919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Calificación: Publico, apto para su distribución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  <p:sldLayoutId id="2147483666" r:id="rId9"/>
    <p:sldLayoutId id="2147483667" r:id="rId10"/>
    <p:sldLayoutId id="2147483668" r:id="rId11"/>
    <p:sldLayoutId id="2147483669" r:id="rId12"/>
    <p:sldLayoutId id="2147483670" r:id="rId13"/>
    <p:sldLayoutId id="2147483671" r:id="rId14"/>
    <p:sldLayoutId id="2147483672" r:id="rId15"/>
    <p:sldLayoutId id="2147483673" r:id="rId16"/>
    <p:sldLayoutId id="2147483674" r:id="rId1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30"/>
          <p:cNvSpPr txBox="1"/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Tarea (3 semanas)</a:t>
            </a:r>
            <a:endParaRPr/>
          </a:p>
        </p:txBody>
      </p:sp>
      <p:sp>
        <p:nvSpPr>
          <p:cNvPr id="148" name="Google Shape;148;p30"/>
          <p:cNvSpPr txBox="1"/>
          <p:nvPr>
            <p:ph idx="1" type="body"/>
          </p:nvPr>
        </p:nvSpPr>
        <p:spPr>
          <a:xfrm>
            <a:off x="37750" y="751475"/>
            <a:ext cx="8520600" cy="3416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rmAutofit/>
          </a:bodyPr>
          <a:lstStyle/>
          <a:p>
            <a:pPr indent="-3619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100"/>
              <a:buChar char="-"/>
            </a:pPr>
            <a:r>
              <a:rPr lang="en" sz="1500"/>
              <a:t>Desafío:</a:t>
            </a:r>
            <a:endParaRPr sz="1500"/>
          </a:p>
          <a:p>
            <a:pPr indent="-32385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Expandir el repositorio del tutorial de langserve ya generado y usar como cadena un Agente de Retriever que consuma una instancia externa de una BBDD vectorial (sugerido Qdrant)</a:t>
            </a:r>
            <a:endParaRPr sz="1500"/>
          </a:p>
          <a:p>
            <a:pPr indent="-32385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La bbdd vectorial debe estar poblada a priori (con lo que quieran)</a:t>
            </a:r>
            <a:endParaRPr sz="1500"/>
          </a:p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-323850" lvl="0" marL="45720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500"/>
              <a:buAutoNum type="arabicPeriod"/>
            </a:pPr>
            <a:r>
              <a:rPr lang="en" sz="1500"/>
              <a:t>Crear cuenta en Qdrant</a:t>
            </a:r>
            <a:endParaRPr sz="1500"/>
          </a:p>
          <a:p>
            <a: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lang="en" sz="1500"/>
              <a:t>Obtener URL y API-KEY qdrant</a:t>
            </a:r>
            <a:endParaRPr sz="1500"/>
          </a:p>
          <a:p>
            <a: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lang="en" sz="1500"/>
              <a:t>Correr carga de documentos en un script paralelo</a:t>
            </a:r>
            <a:endParaRPr sz="1500"/>
          </a:p>
          <a:p>
            <a: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lang="en" sz="1500"/>
              <a:t>Modificar código del servidor y cambiar el runnable</a:t>
            </a:r>
            <a:endParaRPr sz="1500"/>
          </a:p>
          <a:p>
            <a:pPr indent="-32385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lang="en" sz="1500"/>
              <a:t>Deployar (agregar url y api-key como secretos)</a:t>
            </a:r>
            <a:endParaRPr sz="1500"/>
          </a:p>
        </p:txBody>
      </p:sp>
      <p:pic>
        <p:nvPicPr>
          <p:cNvPr id="149" name="Google Shape;149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58325" y="2217975"/>
            <a:ext cx="2942250" cy="1596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1"/>
          <p:cNvSpPr txBox="1"/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Tarea (3 semanas)</a:t>
            </a:r>
            <a:endParaRPr/>
          </a:p>
        </p:txBody>
      </p:sp>
      <p:sp>
        <p:nvSpPr>
          <p:cNvPr id="155" name="Google Shape;155;p31"/>
          <p:cNvSpPr txBox="1"/>
          <p:nvPr>
            <p:ph idx="1" type="body"/>
          </p:nvPr>
        </p:nvSpPr>
        <p:spPr>
          <a:xfrm>
            <a:off x="37750" y="751475"/>
            <a:ext cx="8520600" cy="3416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400"/>
              <a:t>🎯 Objetivo Principal</a:t>
            </a:r>
            <a:endParaRPr sz="14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400"/>
              <a:t>Implementar un sistema RAG completo utilizando el stack tecnológico 2025: LangChain + Qdrant Cloud + OpenAI, aplicando estrategias de chunking inteligente y evaluación rigurosa del sistema.</a:t>
            </a:r>
            <a:endParaRPr sz="14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4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/>
              <a:t>📚 Paso 1: Preparación de Fuentes de Datos</a:t>
            </a:r>
            <a:endParaRPr sz="14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/>
              <a:t>Requisitos mínimos:</a:t>
            </a:r>
            <a:endParaRPr sz="1400"/>
          </a:p>
          <a:p>
            <a:pPr indent="-317500" lvl="0" marL="457200" rtl="0" algn="l">
              <a:spcBef>
                <a:spcPts val="80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Seleccionar 2-3 fuentes de datos textuales de diferentes tipos:</a:t>
            </a:r>
            <a:endParaRPr sz="1400"/>
          </a:p>
          <a:p>
            <a:pPr indent="-317500" lvl="1" marL="914400" rtl="0" algn="l">
              <a:spcBef>
                <a:spcPts val="40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Documentos PDF, Word (.docx) o archivos de texto (.txt)</a:t>
            </a:r>
            <a:endParaRPr sz="1400"/>
          </a:p>
          <a:p>
            <a:pPr indent="-317500" lvl="1" marL="914400" rtl="0" algn="l">
              <a:spcBef>
                <a:spcPts val="40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Contenido temático coherente (ej: documentación técnica, libros, artículos especializados, a su elección)</a:t>
            </a:r>
            <a:endParaRPr sz="1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32"/>
          <p:cNvSpPr txBox="1"/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Tarea (3 semanas)</a:t>
            </a:r>
            <a:endParaRPr/>
          </a:p>
        </p:txBody>
      </p:sp>
      <p:sp>
        <p:nvSpPr>
          <p:cNvPr id="161" name="Google Shape;161;p32"/>
          <p:cNvSpPr txBox="1"/>
          <p:nvPr>
            <p:ph idx="1" type="body"/>
          </p:nvPr>
        </p:nvSpPr>
        <p:spPr>
          <a:xfrm>
            <a:off x="37750" y="751475"/>
            <a:ext cx="8520600" cy="3416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🔧 Paso 2: Procesamiento y Chunking Estratégico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/>
              <a:t>Implementar: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AutoNum type="arabicPeriod"/>
            </a:pPr>
            <a:r>
              <a:rPr lang="en" sz="1500"/>
              <a:t>Análisis del contenido: Determinar el tipo de documento y estructura.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AutoNum type="arabicPeriod"/>
            </a:pPr>
            <a:r>
              <a:rPr lang="en" sz="1500"/>
              <a:t>Selección de estrategia: Elegir entre las técnicas vistas en clase: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RecursiveCharacterTextSplitter (baseline)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SemanticChunker (avanzado)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Chunking específico por tipo de documento o otro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AutoNum type="arabicPeriod"/>
            </a:pPr>
            <a:r>
              <a:rPr lang="en" sz="1500"/>
              <a:t>Configuración optimizada: Definir chunk_size, chunk_overlap, separadores.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33"/>
          <p:cNvSpPr txBox="1"/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Tarea (3 semanas)</a:t>
            </a:r>
            <a:endParaRPr/>
          </a:p>
        </p:txBody>
      </p:sp>
      <p:sp>
        <p:nvSpPr>
          <p:cNvPr id="167" name="Google Shape;167;p33"/>
          <p:cNvSpPr txBox="1"/>
          <p:nvPr>
            <p:ph idx="1" type="body"/>
          </p:nvPr>
        </p:nvSpPr>
        <p:spPr>
          <a:xfrm>
            <a:off x="37750" y="751475"/>
            <a:ext cx="8520600" cy="3416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🗄️ Paso 3: Indexación en Qdrant Cloud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Crear vector store robusto: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AutoNum type="arabicPeriod"/>
            </a:pPr>
            <a:r>
              <a:rPr lang="en" sz="1500"/>
              <a:t>Configurar colección Qdrant con nombre descriptivo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AutoNum type="arabicPeriod"/>
            </a:pPr>
            <a:r>
              <a:rPr lang="en" sz="1500"/>
              <a:t>Generar metadata enriquecida para cada chunk: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AutoNum type="arabicPeriod"/>
            </a:pPr>
            <a:r>
              <a:rPr lang="en" sz="1500"/>
              <a:t>Indexar con embeddings OpenAI (text-embedding-3-large o small), seleccionen la cantidad de dimensiones.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AutoNum type="arabicPeriod"/>
            </a:pPr>
            <a:r>
              <a:rPr lang="en" sz="1500"/>
              <a:t>Mostrar el Qdrant con la información cargada.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4"/>
          <p:cNvSpPr txBox="1"/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Tarea (3 semanas)</a:t>
            </a:r>
            <a:endParaRPr/>
          </a:p>
        </p:txBody>
      </p:sp>
      <p:sp>
        <p:nvSpPr>
          <p:cNvPr id="173" name="Google Shape;173;p34"/>
          <p:cNvSpPr txBox="1"/>
          <p:nvPr>
            <p:ph idx="1" type="body"/>
          </p:nvPr>
        </p:nvSpPr>
        <p:spPr>
          <a:xfrm>
            <a:off x="37750" y="751475"/>
            <a:ext cx="8520600" cy="3416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/>
              <a:t>🤖 Paso 4: Implementación RAG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Sistema RAG funcional con: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AutoNum type="arabicPeriod"/>
            </a:pPr>
            <a:r>
              <a:rPr lang="en" sz="1500"/>
              <a:t>Retriever configurado con top-k apropiado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AutoNum type="arabicPeriod"/>
            </a:pPr>
            <a:r>
              <a:rPr lang="en" sz="1500"/>
              <a:t>Prompt template optimizado siguiendo las mejores prácticas del curso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AutoNum type="arabicPeriod"/>
            </a:pPr>
            <a:r>
              <a:rPr lang="en" sz="1500"/>
              <a:t>Chain RAG completo usando LangChain LCEL o Langgraph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5"/>
          <p:cNvSpPr txBox="1"/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Tarea (3 semanas)</a:t>
            </a:r>
            <a:endParaRPr/>
          </a:p>
        </p:txBody>
      </p:sp>
      <p:sp>
        <p:nvSpPr>
          <p:cNvPr id="179" name="Google Shape;179;p35"/>
          <p:cNvSpPr txBox="1"/>
          <p:nvPr>
            <p:ph idx="1" type="body"/>
          </p:nvPr>
        </p:nvSpPr>
        <p:spPr>
          <a:xfrm>
            <a:off x="37750" y="751475"/>
            <a:ext cx="8520600" cy="3416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🧪 Paso 5: Evaluación Sistemática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Crear datasets de evaluación: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Set de Preguntas Respondibles (10-15 preguntas):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Preguntas que SÍ pueden responderse con la información indexada</a:t>
            </a:r>
            <a:endParaRPr sz="15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Set de Preguntas No Respondibles (5-10 preguntas):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Preguntas sobre temas NO cubiertos en los documentos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Evaluar que el sistema responda "No tengo información suficiente"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6"/>
          <p:cNvSpPr txBox="1"/>
          <p:nvPr>
            <p:ph type="title"/>
          </p:nvPr>
        </p:nvSpPr>
        <p:spPr>
          <a:xfrm>
            <a:off x="311700" y="64025"/>
            <a:ext cx="8520600" cy="5727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Tarea (3 semanas)</a:t>
            </a:r>
            <a:endParaRPr/>
          </a:p>
        </p:txBody>
      </p:sp>
      <p:sp>
        <p:nvSpPr>
          <p:cNvPr id="185" name="Google Shape;185;p36"/>
          <p:cNvSpPr txBox="1"/>
          <p:nvPr>
            <p:ph idx="1" type="body"/>
          </p:nvPr>
        </p:nvSpPr>
        <p:spPr>
          <a:xfrm>
            <a:off x="37750" y="751475"/>
            <a:ext cx="8520600" cy="3416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Detalles de entrega: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Deadline: Domingo 28 de Diciembre a las 23:59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Entregables: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AutoNum type="alphaLcPeriod"/>
            </a:pPr>
            <a:r>
              <a:rPr lang="en" sz="1500"/>
              <a:t>URL del servicio deployado en langserve, debe tener acceso al playground para hacer preguntas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AutoNum type="alphaLcPeriod"/>
            </a:pPr>
            <a:r>
              <a:rPr lang="en" sz="1500"/>
              <a:t>Archivo con </a:t>
            </a:r>
            <a:r>
              <a:rPr lang="en" sz="1500"/>
              <a:t>código</a:t>
            </a:r>
            <a:r>
              <a:rPr lang="en" sz="1500"/>
              <a:t> de carga de documentos a qdrant, comentando estrategia a utilizar y raz</a:t>
            </a:r>
            <a:r>
              <a:rPr lang="en" sz="1500"/>
              <a:t>ón.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AutoNum type="alphaLcPeriod"/>
            </a:pPr>
            <a:r>
              <a:rPr lang="en" sz="1500"/>
              <a:t>Set de preguntas respondibles y no respondibles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