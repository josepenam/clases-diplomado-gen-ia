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3" r:id="rId17"/>
    <p:sldId id="274" r:id="rId18"/>
    <p:sldId id="271" r:id="rId19"/>
  </p:sldIdLst>
  <p:sldSz cx="9144000" cy="5143500" type="screen16x9"/>
  <p:notesSz cx="6858000" cy="9144000"/>
  <p:embeddedFontLst>
    <p:embeddedFont>
      <p:font typeface="Poppins" pitchFamily="2" charset="77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3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d6f200f3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ed6f200f3d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2ed6f200f3d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287b2a7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e287b2a71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517ea48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517ea486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4041e905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74041e905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517ea486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e517ea486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517ea486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517ea486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517ea4863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517ea4863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73ef9df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73ef9df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4041e90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4041e90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4041e905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4041e905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e517ea4863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517ea4863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79d8e412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79d8e412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e79d8e412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e79d8e412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79d8e412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79d8e412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d6f200f3d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ed6f200f3d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2ed6f200f3d_0_2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2167386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3817096" y="3944462"/>
            <a:ext cx="150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p2"/>
          <p:cNvSpPr txBox="1"/>
          <p:nvPr/>
        </p:nvSpPr>
        <p:spPr>
          <a:xfrm>
            <a:off x="1" y="4821596"/>
            <a:ext cx="914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Control de Gestión y Sistemas de Información | Facultad de Economía y Negocios | Universidad de Chile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5343613" y="893286"/>
            <a:ext cx="2360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628650" y="657087"/>
            <a:ext cx="64881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628650" y="1008529"/>
            <a:ext cx="7886700" cy="3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 slide">
  <p:cSld name="Main content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81000" y="259797"/>
            <a:ext cx="8134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81000" y="595222"/>
            <a:ext cx="81345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381000" y="4654550"/>
            <a:ext cx="20574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final">
  <p:cSld name="Portada fin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279918" y="3112435"/>
            <a:ext cx="3862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+56 2 2978 3565 | contacto@uejecutivos.cl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Facultad de Economía y Negocios: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Diagonal Paraguay 257, Piso 6, Santiago.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Campus oriente: Av. Nueva Los Leones 0222, Providencia.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5"/>
          <p:cNvCxnSpPr/>
          <p:nvPr/>
        </p:nvCxnSpPr>
        <p:spPr>
          <a:xfrm>
            <a:off x="346108" y="4259370"/>
            <a:ext cx="3726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23888" y="576263"/>
            <a:ext cx="7886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23888" y="1079816"/>
            <a:ext cx="78867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286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6291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629841" y="753380"/>
            <a:ext cx="64611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629841" y="1483046"/>
            <a:ext cx="38682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629841" y="2100864"/>
            <a:ext cx="38682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3"/>
          </p:nvPr>
        </p:nvSpPr>
        <p:spPr>
          <a:xfrm>
            <a:off x="4629150" y="1483046"/>
            <a:ext cx="388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4"/>
          </p:nvPr>
        </p:nvSpPr>
        <p:spPr>
          <a:xfrm>
            <a:off x="4629150" y="2100863"/>
            <a:ext cx="38874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3887391" y="1015760"/>
            <a:ext cx="4629300" cy="3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2"/>
          </p:nvPr>
        </p:nvSpPr>
        <p:spPr>
          <a:xfrm>
            <a:off x="629841" y="1979762"/>
            <a:ext cx="2949300" cy="24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>
            <a:spLocks noGrp="1"/>
          </p:cNvSpPr>
          <p:nvPr>
            <p:ph type="pic" idx="2"/>
          </p:nvPr>
        </p:nvSpPr>
        <p:spPr>
          <a:xfrm>
            <a:off x="3887391" y="1061049"/>
            <a:ext cx="4629300" cy="3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629841" y="1785667"/>
            <a:ext cx="29493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 rot="5400000">
            <a:off x="3079800" y="-802700"/>
            <a:ext cx="2984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 rot="5400000">
            <a:off x="5746950" y="1864318"/>
            <a:ext cx="35652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1589325" y="-207372"/>
            <a:ext cx="38793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rtl="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rtl="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648450"/>
            <a:ext cx="78867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ctrTitle"/>
          </p:nvPr>
        </p:nvSpPr>
        <p:spPr>
          <a:xfrm>
            <a:off x="1143000" y="2571750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n" sz="2100" b="0"/>
              <a:t>Diplomado de Extensión en</a:t>
            </a:r>
            <a:br>
              <a:rPr lang="en" sz="2100" b="0"/>
            </a:br>
            <a:r>
              <a:rPr lang="en" sz="2100"/>
              <a:t>IA Generativa para Organizaciones</a:t>
            </a:r>
            <a:br>
              <a:rPr lang="en" sz="2100"/>
            </a:br>
            <a:br>
              <a:rPr lang="en" sz="2700"/>
            </a:br>
            <a:r>
              <a:rPr lang="en" sz="2700"/>
              <a:t>Clase 6: Tópicos Avanzados en Producción </a:t>
            </a:r>
            <a:endParaRPr sz="2700"/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4294967295"/>
          </p:nvPr>
        </p:nvSpPr>
        <p:spPr>
          <a:xfrm>
            <a:off x="261374" y="4133753"/>
            <a:ext cx="43107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4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</a:t>
            </a:r>
            <a:r>
              <a:rPr lang="en">
                <a:solidFill>
                  <a:schemeClr val="lt1"/>
                </a:solidFill>
              </a:rPr>
              <a:t>Jose manuel Peña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">
                <a:solidFill>
                  <a:schemeClr val="lt1"/>
                </a:solidFill>
              </a:rPr>
              <a:t>jmp2260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">
                <a:solidFill>
                  <a:schemeClr val="lt1"/>
                </a:solidFill>
              </a:rPr>
              <a:t>columbia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>
                <a:solidFill>
                  <a:schemeClr val="lt1"/>
                </a:solidFill>
              </a:rPr>
              <a:t>edu</a:t>
            </a: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63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Temario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F0F0F"/>
              </a:buClr>
              <a:buSzPts val="1600"/>
              <a:buFont typeface="Roboto"/>
              <a:buChar char="-"/>
            </a:pPr>
            <a:r>
              <a:rPr lang="en" sz="16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Conceptos “avanzados" de proyectos de GenAI a nivel productivo:</a:t>
            </a:r>
            <a:endParaRPr sz="16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F0F0F"/>
              </a:buClr>
              <a:buSzPts val="1600"/>
              <a:buFont typeface="Roboto"/>
              <a:buChar char="-"/>
            </a:pPr>
            <a:r>
              <a:rPr lang="en" sz="16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Evaluación y comparación</a:t>
            </a:r>
            <a:endParaRPr sz="1600">
              <a:solidFill>
                <a:srgbClr val="0F0F0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0200" algn="l" rtl="0">
              <a:spcBef>
                <a:spcPts val="400"/>
              </a:spcBef>
              <a:spcAft>
                <a:spcPts val="0"/>
              </a:spcAft>
              <a:buClr>
                <a:srgbClr val="0F0F0F"/>
              </a:buClr>
              <a:buSzPts val="1600"/>
              <a:buFont typeface="Roboto"/>
              <a:buChar char="-"/>
            </a:pPr>
            <a:r>
              <a:rPr lang="en" sz="16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Versionamiento de Prompts.</a:t>
            </a:r>
            <a:endParaRPr sz="1800"/>
          </a:p>
          <a:p>
            <a:pPr marL="914400" lvl="1" indent="-330200" algn="l" rtl="0">
              <a:spcBef>
                <a:spcPts val="400"/>
              </a:spcBef>
              <a:spcAft>
                <a:spcPts val="0"/>
              </a:spcAft>
              <a:buClr>
                <a:srgbClr val="0F0F0F"/>
              </a:buClr>
              <a:buSzPts val="1600"/>
              <a:buFont typeface="Roboto"/>
              <a:buChar char="-"/>
            </a:pPr>
            <a:r>
              <a:rPr lang="en" sz="1600">
                <a:solidFill>
                  <a:srgbClr val="0F0F0F"/>
                </a:solidFill>
                <a:latin typeface="Roboto"/>
                <a:ea typeface="Roboto"/>
                <a:cs typeface="Roboto"/>
                <a:sym typeface="Roboto"/>
              </a:rPr>
              <a:t>Versionamiento de Skills (Packmind): standards, commands y skills.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Motivación: Gen AI in the wild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20000"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“Que funcione” es solo el comienzo</a:t>
            </a:r>
            <a:endParaRPr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Necesita monitoreo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Errores / alucinaciones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Cambios de información</a:t>
            </a:r>
            <a:endParaRPr/>
          </a:p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Múltiples stakeholders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Desarrolladores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Equipos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"/>
              <a:t>Usuarios</a:t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250" y="1231450"/>
            <a:ext cx="3682051" cy="368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Motivación: Gen AI in the wild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Que tengo hasta ahora?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Construcción de sistemas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Puesta en producción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UI/UX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"/>
              <a:t>ENJOY!!!!!</a:t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8501" y="636726"/>
            <a:ext cx="2673301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Motivación: Ciclo de desarrollo y mejora continua</a:t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3140214" y="1659662"/>
            <a:ext cx="2767800" cy="2850900"/>
          </a:xfrm>
          <a:prstGeom prst="donut">
            <a:avLst>
              <a:gd name="adj" fmla="val 16067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" name="Google Shape;139;p24"/>
          <p:cNvGrpSpPr/>
          <p:nvPr/>
        </p:nvGrpSpPr>
        <p:grpSpPr>
          <a:xfrm>
            <a:off x="734781" y="1469150"/>
            <a:ext cx="2934172" cy="751492"/>
            <a:chOff x="1089983" y="996039"/>
            <a:chExt cx="2692642" cy="669600"/>
          </a:xfrm>
        </p:grpSpPr>
        <p:cxnSp>
          <p:nvCxnSpPr>
            <p:cNvPr id="140" name="Google Shape;140;p24"/>
            <p:cNvCxnSpPr/>
            <p:nvPr/>
          </p:nvCxnSpPr>
          <p:spPr>
            <a:xfrm>
              <a:off x="3438525" y="1309350"/>
              <a:ext cx="344100" cy="344100"/>
            </a:xfrm>
            <a:prstGeom prst="straightConnector1">
              <a:avLst/>
            </a:prstGeom>
            <a:noFill/>
            <a:ln w="19050" cap="flat" cmpd="sng">
              <a:solidFill>
                <a:srgbClr val="0E9453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41" name="Google Shape;141;p24"/>
            <p:cNvSpPr txBox="1"/>
            <p:nvPr/>
          </p:nvSpPr>
          <p:spPr>
            <a:xfrm>
              <a:off x="1089983" y="996039"/>
              <a:ext cx="23055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9453"/>
                  </a:solidFill>
                  <a:latin typeface="Roboto"/>
                  <a:ea typeface="Roboto"/>
                  <a:cs typeface="Roboto"/>
                  <a:sym typeface="Roboto"/>
                </a:rPr>
                <a:t>Identificación de mejoras</a:t>
              </a:r>
              <a:endParaRPr sz="1200" b="1">
                <a:solidFill>
                  <a:srgbClr val="0E945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Mejoras a prompts</a:t>
              </a:r>
              <a:br>
                <a:rPr lang="en" sz="800" b="1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Necesidades no cubiertas</a:t>
              </a:r>
              <a:br>
                <a:rPr lang="en" sz="800" b="1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Errores frecuentes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2" name="Google Shape;142;p24"/>
          <p:cNvGrpSpPr/>
          <p:nvPr/>
        </p:nvGrpSpPr>
        <p:grpSpPr>
          <a:xfrm>
            <a:off x="208652" y="3889125"/>
            <a:ext cx="3459021" cy="751492"/>
            <a:chOff x="607162" y="3152303"/>
            <a:chExt cx="3174288" cy="669600"/>
          </a:xfrm>
        </p:grpSpPr>
        <p:cxnSp>
          <p:nvCxnSpPr>
            <p:cNvPr id="143" name="Google Shape;143;p24"/>
            <p:cNvCxnSpPr/>
            <p:nvPr/>
          </p:nvCxnSpPr>
          <p:spPr>
            <a:xfrm rot="10800000" flipH="1">
              <a:off x="3436150" y="3214625"/>
              <a:ext cx="345300" cy="342900"/>
            </a:xfrm>
            <a:prstGeom prst="straightConnector1">
              <a:avLst/>
            </a:prstGeom>
            <a:noFill/>
            <a:ln w="19050" cap="flat" cmpd="sng">
              <a:solidFill>
                <a:srgbClr val="085630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44" name="Google Shape;144;p24"/>
            <p:cNvSpPr txBox="1"/>
            <p:nvPr/>
          </p:nvSpPr>
          <p:spPr>
            <a:xfrm>
              <a:off x="607162" y="3152303"/>
              <a:ext cx="2788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9453"/>
                  </a:solidFill>
                  <a:latin typeface="Roboto"/>
                  <a:ea typeface="Roboto"/>
                  <a:cs typeface="Roboto"/>
                  <a:sym typeface="Roboto"/>
                </a:rPr>
                <a:t>Evaluación y Análisis de feedback</a:t>
              </a:r>
              <a:endParaRPr sz="1200" b="1">
                <a:solidFill>
                  <a:srgbClr val="0E945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Tendencias Generales</a:t>
              </a:r>
              <a:br>
                <a:rPr lang="en" sz="800" b="1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Drill Down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5" name="Google Shape;145;p24"/>
          <p:cNvSpPr/>
          <p:nvPr/>
        </p:nvSpPr>
        <p:spPr>
          <a:xfrm rot="-1844235" flipH="1">
            <a:off x="3046967" y="1581419"/>
            <a:ext cx="2954206" cy="2998294"/>
          </a:xfrm>
          <a:prstGeom prst="blockArc">
            <a:avLst>
              <a:gd name="adj1" fmla="val 14348563"/>
              <a:gd name="adj2" fmla="val 19872341"/>
              <a:gd name="adj3" fmla="val 9100"/>
            </a:avLst>
          </a:prstGeom>
          <a:solidFill>
            <a:srgbClr val="0E9453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24"/>
          <p:cNvGrpSpPr/>
          <p:nvPr/>
        </p:nvGrpSpPr>
        <p:grpSpPr>
          <a:xfrm>
            <a:off x="5369757" y="3889125"/>
            <a:ext cx="3620004" cy="751492"/>
            <a:chOff x="5343425" y="3152303"/>
            <a:chExt cx="3322018" cy="669600"/>
          </a:xfrm>
        </p:grpSpPr>
        <p:cxnSp>
          <p:nvCxnSpPr>
            <p:cNvPr id="147" name="Google Shape;147;p24"/>
            <p:cNvCxnSpPr/>
            <p:nvPr/>
          </p:nvCxnSpPr>
          <p:spPr>
            <a:xfrm rot="10800000">
              <a:off x="5343425" y="3214625"/>
              <a:ext cx="354900" cy="35010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48" name="Google Shape;148;p24"/>
            <p:cNvSpPr txBox="1"/>
            <p:nvPr/>
          </p:nvSpPr>
          <p:spPr>
            <a:xfrm>
              <a:off x="5718543" y="3152303"/>
              <a:ext cx="29469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9453"/>
                  </a:solidFill>
                  <a:latin typeface="Roboto"/>
                  <a:ea typeface="Roboto"/>
                  <a:cs typeface="Roboto"/>
                  <a:sym typeface="Roboto"/>
                </a:rPr>
                <a:t>Exposición a usuario y stakeholders</a:t>
              </a:r>
              <a:endParaRPr sz="1200" b="1">
                <a:solidFill>
                  <a:srgbClr val="0E945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Interacción con sistema</a:t>
              </a:r>
              <a:br>
                <a:rPr lang="en" sz="800" b="1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Captura de feedback y parámetros de uso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" name="Google Shape;149;p24"/>
          <p:cNvGrpSpPr/>
          <p:nvPr/>
        </p:nvGrpSpPr>
        <p:grpSpPr>
          <a:xfrm>
            <a:off x="5371228" y="1469147"/>
            <a:ext cx="2036624" cy="751492"/>
            <a:chOff x="5344775" y="996036"/>
            <a:chExt cx="1868977" cy="669600"/>
          </a:xfrm>
        </p:grpSpPr>
        <p:cxnSp>
          <p:nvCxnSpPr>
            <p:cNvPr id="150" name="Google Shape;150;p24"/>
            <p:cNvCxnSpPr/>
            <p:nvPr/>
          </p:nvCxnSpPr>
          <p:spPr>
            <a:xfrm flipH="1">
              <a:off x="5344775" y="1314450"/>
              <a:ext cx="336900" cy="339000"/>
            </a:xfrm>
            <a:prstGeom prst="straightConnector1">
              <a:avLst/>
            </a:prstGeom>
            <a:noFill/>
            <a:ln w="19050" cap="flat" cmpd="sng">
              <a:solidFill>
                <a:srgbClr val="085630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51" name="Google Shape;151;p24"/>
            <p:cNvSpPr txBox="1"/>
            <p:nvPr/>
          </p:nvSpPr>
          <p:spPr>
            <a:xfrm>
              <a:off x="5718552" y="9960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9453"/>
                  </a:solidFill>
                  <a:latin typeface="Roboto"/>
                  <a:ea typeface="Roboto"/>
                  <a:cs typeface="Roboto"/>
                  <a:sym typeface="Roboto"/>
                </a:rPr>
                <a:t>Desarrollo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Generación de  código 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Prompt engineering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Roboto"/>
                  <a:ea typeface="Roboto"/>
                  <a:cs typeface="Roboto"/>
                  <a:sym typeface="Roboto"/>
                </a:rPr>
                <a:t>Puesta en producción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2" name="Google Shape;152;p24"/>
          <p:cNvSpPr txBox="1"/>
          <p:nvPr/>
        </p:nvSpPr>
        <p:spPr>
          <a:xfrm>
            <a:off x="3737663" y="2659357"/>
            <a:ext cx="1573200" cy="9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Desarrollo y mejora continua</a:t>
            </a:r>
            <a:endParaRPr sz="1200"/>
          </a:p>
        </p:txBody>
      </p:sp>
      <p:sp>
        <p:nvSpPr>
          <p:cNvPr id="153" name="Google Shape;153;p24"/>
          <p:cNvSpPr/>
          <p:nvPr/>
        </p:nvSpPr>
        <p:spPr>
          <a:xfrm rot="1844235">
            <a:off x="3044549" y="1581419"/>
            <a:ext cx="2954206" cy="2998294"/>
          </a:xfrm>
          <a:prstGeom prst="blockArc">
            <a:avLst>
              <a:gd name="adj1" fmla="val 14545937"/>
              <a:gd name="adj2" fmla="val 19902139"/>
              <a:gd name="adj3" fmla="val 9115"/>
            </a:avLst>
          </a:prstGeom>
          <a:solidFill>
            <a:srgbClr val="085630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4"/>
          <p:cNvSpPr/>
          <p:nvPr/>
        </p:nvSpPr>
        <p:spPr>
          <a:xfrm rot="8956309">
            <a:off x="3038507" y="1581060"/>
            <a:ext cx="2953231" cy="2997592"/>
          </a:xfrm>
          <a:prstGeom prst="blockArc">
            <a:avLst>
              <a:gd name="adj1" fmla="val 18041678"/>
              <a:gd name="adj2" fmla="val 1798478"/>
              <a:gd name="adj3" fmla="val 9595"/>
            </a:avLst>
          </a:prstGeom>
          <a:solidFill>
            <a:srgbClr val="085630"/>
          </a:solidFill>
          <a:ln>
            <a:noFill/>
          </a:ln>
          <a:effectLst>
            <a:outerShdw blurRad="71438" dist="9525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4"/>
          <p:cNvSpPr/>
          <p:nvPr/>
        </p:nvSpPr>
        <p:spPr>
          <a:xfrm rot="-8956309" flipH="1">
            <a:off x="3046454" y="1581902"/>
            <a:ext cx="2953231" cy="2997592"/>
          </a:xfrm>
          <a:prstGeom prst="blockArc">
            <a:avLst>
              <a:gd name="adj1" fmla="val 17967225"/>
              <a:gd name="adj2" fmla="val 1529547"/>
              <a:gd name="adj3" fmla="val 9279"/>
            </a:avLst>
          </a:prstGeom>
          <a:solidFill>
            <a:srgbClr val="0E9453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4"/>
          <p:cNvSpPr/>
          <p:nvPr/>
        </p:nvSpPr>
        <p:spPr>
          <a:xfrm rot="8049128">
            <a:off x="2994449" y="2888039"/>
            <a:ext cx="401398" cy="401398"/>
          </a:xfrm>
          <a:prstGeom prst="rtTriangle">
            <a:avLst/>
          </a:prstGeom>
          <a:solidFill>
            <a:srgbClr val="0856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4"/>
          <p:cNvSpPr/>
          <p:nvPr/>
        </p:nvSpPr>
        <p:spPr>
          <a:xfrm rot="-2750872">
            <a:off x="5644626" y="2880001"/>
            <a:ext cx="401398" cy="401398"/>
          </a:xfrm>
          <a:prstGeom prst="rtTriangle">
            <a:avLst/>
          </a:prstGeom>
          <a:solidFill>
            <a:srgbClr val="0856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4"/>
          <p:cNvSpPr/>
          <p:nvPr/>
        </p:nvSpPr>
        <p:spPr>
          <a:xfrm rot="2750872">
            <a:off x="4319155" y="4240935"/>
            <a:ext cx="401398" cy="401398"/>
          </a:xfrm>
          <a:prstGeom prst="rtTriangle">
            <a:avLst/>
          </a:prstGeom>
          <a:solidFill>
            <a:srgbClr val="0E94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4"/>
          <p:cNvSpPr/>
          <p:nvPr/>
        </p:nvSpPr>
        <p:spPr>
          <a:xfrm rot="-8049128">
            <a:off x="4319910" y="1507708"/>
            <a:ext cx="401398" cy="401398"/>
          </a:xfrm>
          <a:prstGeom prst="rtTriangle">
            <a:avLst/>
          </a:prstGeom>
          <a:solidFill>
            <a:srgbClr val="0E94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0" name="Google Shape;160;p24"/>
          <p:cNvCxnSpPr/>
          <p:nvPr/>
        </p:nvCxnSpPr>
        <p:spPr>
          <a:xfrm rot="10800000">
            <a:off x="5539723" y="4127528"/>
            <a:ext cx="199500" cy="221700"/>
          </a:xfrm>
          <a:prstGeom prst="straightConnector1">
            <a:avLst/>
          </a:prstGeom>
          <a:noFill/>
          <a:ln w="19050" cap="flat" cmpd="sng">
            <a:solidFill>
              <a:srgbClr val="085630"/>
            </a:solidFill>
            <a:prstDash val="solid"/>
            <a:round/>
            <a:headEnd type="oval" w="med" len="med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Mejora continua: cerrando el círculo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1763" y="671100"/>
            <a:ext cx="4820478" cy="40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/>
          <p:nvPr/>
        </p:nvSpPr>
        <p:spPr>
          <a:xfrm>
            <a:off x="4693662" y="459496"/>
            <a:ext cx="2930400" cy="3924375"/>
          </a:xfrm>
          <a:custGeom>
            <a:avLst/>
            <a:gdLst/>
            <a:ahLst/>
            <a:cxnLst/>
            <a:rect l="l" t="t" r="r" b="b"/>
            <a:pathLst>
              <a:path w="117216" h="156975" extrusionOk="0">
                <a:moveTo>
                  <a:pt x="28030" y="16998"/>
                </a:moveTo>
                <a:cubicBezTo>
                  <a:pt x="32902" y="7189"/>
                  <a:pt x="22040" y="10678"/>
                  <a:pt x="36325" y="9493"/>
                </a:cubicBezTo>
                <a:cubicBezTo>
                  <a:pt x="50611" y="8308"/>
                  <a:pt x="103803" y="-11310"/>
                  <a:pt x="113743" y="9888"/>
                </a:cubicBezTo>
                <a:cubicBezTo>
                  <a:pt x="123684" y="31086"/>
                  <a:pt x="110319" y="112454"/>
                  <a:pt x="95968" y="136680"/>
                </a:cubicBezTo>
                <a:cubicBezTo>
                  <a:pt x="81617" y="160906"/>
                  <a:pt x="43435" y="157746"/>
                  <a:pt x="27635" y="155244"/>
                </a:cubicBezTo>
                <a:cubicBezTo>
                  <a:pt x="11836" y="152742"/>
                  <a:pt x="4594" y="136153"/>
                  <a:pt x="1171" y="121670"/>
                </a:cubicBezTo>
                <a:cubicBezTo>
                  <a:pt x="-2252" y="107187"/>
                  <a:pt x="2620" y="85791"/>
                  <a:pt x="7096" y="68346"/>
                </a:cubicBezTo>
                <a:cubicBezTo>
                  <a:pt x="11573" y="50901"/>
                  <a:pt x="23159" y="26807"/>
                  <a:pt x="28030" y="16998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_tradnl"/>
          </a:p>
        </p:txBody>
      </p:sp>
      <p:sp>
        <p:nvSpPr>
          <p:cNvPr id="168" name="Google Shape;168;p25"/>
          <p:cNvSpPr/>
          <p:nvPr/>
        </p:nvSpPr>
        <p:spPr>
          <a:xfrm>
            <a:off x="2967079" y="3931656"/>
            <a:ext cx="1953525" cy="828425"/>
          </a:xfrm>
          <a:custGeom>
            <a:avLst/>
            <a:gdLst/>
            <a:ahLst/>
            <a:cxnLst/>
            <a:rect l="l" t="t" r="r" b="b"/>
            <a:pathLst>
              <a:path w="78141" h="33137" extrusionOk="0">
                <a:moveTo>
                  <a:pt x="16403" y="3152"/>
                </a:moveTo>
                <a:cubicBezTo>
                  <a:pt x="26607" y="-1061"/>
                  <a:pt x="51360" y="-535"/>
                  <a:pt x="61432" y="1967"/>
                </a:cubicBezTo>
                <a:cubicBezTo>
                  <a:pt x="71504" y="4469"/>
                  <a:pt x="74533" y="13554"/>
                  <a:pt x="76837" y="18162"/>
                </a:cubicBezTo>
                <a:cubicBezTo>
                  <a:pt x="79141" y="22770"/>
                  <a:pt x="78088" y="27181"/>
                  <a:pt x="75257" y="29617"/>
                </a:cubicBezTo>
                <a:cubicBezTo>
                  <a:pt x="72426" y="32053"/>
                  <a:pt x="68279" y="32315"/>
                  <a:pt x="59852" y="32776"/>
                </a:cubicBezTo>
                <a:cubicBezTo>
                  <a:pt x="51426" y="33237"/>
                  <a:pt x="34639" y="33303"/>
                  <a:pt x="24698" y="32381"/>
                </a:cubicBezTo>
                <a:cubicBezTo>
                  <a:pt x="14758" y="31460"/>
                  <a:pt x="1592" y="32119"/>
                  <a:pt x="209" y="27247"/>
                </a:cubicBezTo>
                <a:cubicBezTo>
                  <a:pt x="-1173" y="22376"/>
                  <a:pt x="6199" y="7365"/>
                  <a:pt x="16403" y="3152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s-ES_tradnl"/>
          </a:p>
        </p:txBody>
      </p:sp>
      <p:sp>
        <p:nvSpPr>
          <p:cNvPr id="169" name="Google Shape;169;p25"/>
          <p:cNvSpPr txBox="1"/>
          <p:nvPr/>
        </p:nvSpPr>
        <p:spPr>
          <a:xfrm>
            <a:off x="6329725" y="3774750"/>
            <a:ext cx="195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Evaluation Loop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4684925" y="4298375"/>
            <a:ext cx="301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Prompt Versioning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Evaluacion: Motivación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408225" y="932550"/>
            <a:ext cx="8424000" cy="3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LLMs no son determinísticos!:</a:t>
            </a:r>
            <a:endParaRPr sz="18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Testing tradicional no puede determinar la calidad del output generado (aunque tu código puede/debe estar testeado).</a:t>
            </a:r>
            <a:endParaRPr sz="1800">
              <a:solidFill>
                <a:schemeClr val="dk2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Es más similar a data science tradicional:</a:t>
            </a:r>
            <a:endParaRPr sz="1800">
              <a:solidFill>
                <a:schemeClr val="dk2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romanLcPeriod"/>
            </a:pPr>
            <a:r>
              <a:rPr lang="en" sz="1800">
                <a:solidFill>
                  <a:schemeClr val="dk2"/>
                </a:solidFill>
              </a:rPr>
              <a:t>Dataset objetivo</a:t>
            </a:r>
            <a:endParaRPr sz="1800">
              <a:solidFill>
                <a:schemeClr val="dk2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romanLcPeriod"/>
            </a:pPr>
            <a:r>
              <a:rPr lang="en" sz="1800">
                <a:solidFill>
                  <a:schemeClr val="dk2"/>
                </a:solidFill>
              </a:rPr>
              <a:t>Correr modelo</a:t>
            </a:r>
            <a:endParaRPr sz="1800">
              <a:solidFill>
                <a:schemeClr val="dk2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romanLcPeriod"/>
            </a:pPr>
            <a:r>
              <a:rPr lang="en" sz="1800">
                <a:solidFill>
                  <a:schemeClr val="dk2"/>
                </a:solidFill>
              </a:rPr>
              <a:t>Estimar la calidad del output generado vs output esperado</a:t>
            </a:r>
            <a:endParaRPr sz="1800">
              <a:solidFill>
                <a:schemeClr val="dk2"/>
              </a:solidFill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romanLcPeriod"/>
            </a:pPr>
            <a:r>
              <a:rPr lang="en" sz="1800">
                <a:solidFill>
                  <a:schemeClr val="dk2"/>
                </a:solidFill>
              </a:rPr>
              <a:t>Consolidación y comparación vs thresholds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270000" y="3209475"/>
            <a:ext cx="6721800" cy="299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Evaluacion:</a:t>
            </a:r>
            <a:r>
              <a:rPr lang="en" sz="750"/>
              <a:t> </a:t>
            </a:r>
            <a:r>
              <a:rPr lang="en" sz="2750"/>
              <a:t>🧠</a:t>
            </a:r>
            <a:r>
              <a:rPr lang="en"/>
              <a:t> vs 🤖 </a:t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360000" y="832775"/>
            <a:ext cx="8424000" cy="3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750">
                <a:solidFill>
                  <a:schemeClr val="dk1"/>
                </a:solidFill>
              </a:rPr>
              <a:t>🧠</a:t>
            </a:r>
            <a:endParaRPr sz="18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👍🏻</a:t>
            </a:r>
            <a:endParaRPr>
              <a:solidFill>
                <a:schemeClr val="dk2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Precisa</a:t>
            </a:r>
            <a:endParaRPr>
              <a:solidFill>
                <a:schemeClr val="dk2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Pormenorizada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👎🏻</a:t>
            </a:r>
            <a:endParaRPr>
              <a:solidFill>
                <a:schemeClr val="dk2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Costosa</a:t>
            </a:r>
            <a:endParaRPr>
              <a:solidFill>
                <a:schemeClr val="dk2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Sesgada</a:t>
            </a:r>
            <a:endParaRPr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750">
                <a:solidFill>
                  <a:schemeClr val="dk1"/>
                </a:solidFill>
              </a:rPr>
              <a:t>🤖</a:t>
            </a:r>
            <a:endParaRPr sz="1800"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👍🏻</a:t>
            </a:r>
            <a:endParaRPr>
              <a:solidFill>
                <a:schemeClr val="dk2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Escalable</a:t>
            </a:r>
            <a:endParaRPr>
              <a:solidFill>
                <a:schemeClr val="dk2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Trazable</a:t>
            </a:r>
            <a:endParaRPr>
              <a:solidFill>
                <a:schemeClr val="dk2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Insesgado (ish)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👎🏻</a:t>
            </a:r>
            <a:endParaRPr>
              <a:solidFill>
                <a:schemeClr val="dk2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Impreciso(?)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203075" y="209115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/>
              <a:t>Evaluacion:  Ejemplos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systems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675" y="1090525"/>
            <a:ext cx="7332650" cy="32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Discusión: ¿Qué es un Prompt?</a:t>
            </a:r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body" idx="1"/>
          </p:nvPr>
        </p:nvSpPr>
        <p:spPr>
          <a:xfrm>
            <a:off x="311700" y="771475"/>
            <a:ext cx="39999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¿Es código?</a:t>
            </a:r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body" idx="2"/>
          </p:nvPr>
        </p:nvSpPr>
        <p:spPr>
          <a:xfrm>
            <a:off x="4832400" y="771475"/>
            <a:ext cx="39999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¿Es contenido?</a:t>
            </a:r>
            <a:endParaRPr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75" y="1568775"/>
            <a:ext cx="4308926" cy="30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4">
            <a:alphaModFix/>
          </a:blip>
          <a:srcRect l="2378" t="4218" r="3591" b="5651"/>
          <a:stretch/>
        </p:blipFill>
        <p:spPr>
          <a:xfrm>
            <a:off x="4780650" y="1578425"/>
            <a:ext cx="4051650" cy="223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187775"/>
            <a:ext cx="4477090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 rotWithShape="1">
          <a:blip r:embed="rId6">
            <a:alphaModFix/>
          </a:blip>
          <a:srcRect r="22756"/>
          <a:stretch/>
        </p:blipFill>
        <p:spPr>
          <a:xfrm>
            <a:off x="311700" y="1187775"/>
            <a:ext cx="44771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Discusión: Que es un Prompt?</a:t>
            </a:r>
            <a:endParaRPr/>
          </a:p>
        </p:txBody>
      </p:sp>
      <p:sp>
        <p:nvSpPr>
          <p:cNvPr id="228" name="Google Shape;228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Es un poco de ambos?</a:t>
            </a:r>
            <a:endParaRPr/>
          </a:p>
        </p:txBody>
      </p:sp>
      <p:pic>
        <p:nvPicPr>
          <p:cNvPr id="229" name="Google Shape;229;p34"/>
          <p:cNvPicPr preferRelativeResize="0"/>
          <p:nvPr/>
        </p:nvPicPr>
        <p:blipFill rotWithShape="1">
          <a:blip r:embed="rId3">
            <a:alphaModFix/>
          </a:blip>
          <a:srcRect l="2818"/>
          <a:stretch/>
        </p:blipFill>
        <p:spPr>
          <a:xfrm>
            <a:off x="661600" y="2914263"/>
            <a:ext cx="1813250" cy="64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3950" y="1130963"/>
            <a:ext cx="4527602" cy="360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0376" y="1844336"/>
            <a:ext cx="5994752" cy="232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0387" y="2165830"/>
            <a:ext cx="5398036" cy="233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Más allá del prompt: Skills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desafío: del prompt al skill</a:t>
            </a:r>
            <a:endParaRPr/>
          </a:p>
        </p:txBody>
      </p:sp>
      <p:sp>
        <p:nvSpPr>
          <p:cNvPr id="901" name="TextBox 901"/>
          <p:cNvSpPr txBox="1"/>
          <p:nvPr/>
        </p:nvSpPr>
        <p:spPr>
          <a:xfrm>
            <a:off x="408225" y="932550"/>
            <a:ext cx="8424000" cy="3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Versionar el prompt (Lección 3) es solo una pieza: un agente además necesita formato, políticas, ejemplos y herramientas.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s" sz="1800">
                <a:solidFill>
                  <a:schemeClr val="dk2"/>
                </a:solidFill>
              </a:rPr>
              <a:t>Skill = prompt + instrucciones + contexto, empaquetados como artefacto versionable (SKILL.md).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s" sz="1800">
                <a:solidFill>
                  <a:schemeClr val="dk2"/>
                </a:solidFill>
              </a:rPr>
              <a:t>Context engineering: el agente solo ve nombre + descripción y carga el resto bajo demanda (progressive disclosure).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s" sz="1800">
                <a:solidFill>
                  <a:schemeClr val="dk2"/>
                </a:solidFill>
              </a:rPr>
              <a:t>Packmind: el “package manager” del contexto del agente.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s" sz="1800">
                <a:solidFill>
                  <a:schemeClr val="dk2"/>
                </a:solidFill>
              </a:rPr>
              <a:t>Repo central + versionado automático + packages + despliegue con lockfile (como uv/pip, pero para el contexto).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Standards · Commands · Skills</a:t>
            </a:r>
            <a:endParaRPr/>
          </a:p>
        </p:txBody>
      </p:sp>
      <p:sp>
        <p:nvSpPr>
          <p:cNvPr id="910" name="TextBox 910"/>
          <p:cNvSpPr txBox="1"/>
          <p:nvPr/>
        </p:nvSpPr>
        <p:spPr>
          <a:xfrm>
            <a:off x="408225" y="900000"/>
            <a:ext cx="2708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2"/>
                </a:solidFill>
              </a:rPr>
              <a:t>Standards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</a:rPr>
              <a:t>Siempre activos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Reglas en TODO el contexto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El “cómo se hace aquí” corporativo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Ej.: formato de montos CLP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11" name="TextBox 911"/>
          <p:cNvSpPr txBox="1"/>
          <p:nvPr/>
        </p:nvSpPr>
        <p:spPr>
          <a:xfrm>
            <a:off x="3266225" y="900000"/>
            <a:ext cx="2708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2"/>
                </a:solidFill>
              </a:rPr>
              <a:t>Commands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</a:rPr>
              <a:t>Invocados por el usuario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Tareas recurrentes estandarizadas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Punto de entrada auditado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Ej.: /reporte-trimestral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12" name="TextBox 912"/>
          <p:cNvSpPr txBox="1"/>
          <p:nvPr/>
        </p:nvSpPr>
        <p:spPr>
          <a:xfrm>
            <a:off x="6124225" y="900000"/>
            <a:ext cx="2708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2"/>
                </a:solidFill>
              </a:rPr>
              <a:t>Skills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2"/>
                </a:solidFill>
              </a:rPr>
              <a:t>Descubiertas por el agente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Expertise cargada bajo demanda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Contexto eficiente (disclosure)</a:t>
            </a:r>
            <a:endParaRPr sz="13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s" sz="1300">
                <a:solidFill>
                  <a:schemeClr val="dk2"/>
                </a:solidFill>
              </a:rPr>
              <a:t>Ej.: reportero-financiero-cl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20" name="TextBox 920"/>
          <p:cNvSpPr txBox="1"/>
          <p:nvPr/>
        </p:nvSpPr>
        <p:spPr>
          <a:xfrm>
            <a:off x="408225" y="3143500"/>
            <a:ext cx="8424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dk2"/>
                </a:solidFill>
              </a:rPr>
              <a:t>En una organización grande: un playbook único y versionado, desplegado a todos los equipos y agentes →</a:t>
            </a:r>
            <a:endParaRPr sz="1500" dirty="0">
              <a:solidFill>
                <a:schemeClr val="dk2"/>
              </a:solidFill>
            </a:endParaRPr>
          </a:p>
          <a:p>
            <a:pPr lvl="1">
              <a:spcBef>
                <a:spcPts val="400"/>
              </a:spcBef>
            </a:pPr>
            <a:r>
              <a:rPr lang="es" sz="1500" dirty="0">
                <a:solidFill>
                  <a:schemeClr val="dk2"/>
                </a:solidFill>
              </a:rPr>
              <a:t>consistencia, gobernanza, auditoría y rollback (packmind-lock.json fija qué versión corre en producción).</a:t>
            </a:r>
            <a:endParaRPr sz="15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Microsoft Macintosh PowerPoint</Application>
  <PresentationFormat>On-screen Show (16:9)</PresentationFormat>
  <Paragraphs>105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Poppins</vt:lpstr>
      <vt:lpstr>Arial</vt:lpstr>
      <vt:lpstr>Calibri</vt:lpstr>
      <vt:lpstr>Roboto</vt:lpstr>
      <vt:lpstr>Tema de Office</vt:lpstr>
      <vt:lpstr>Diplomado de Extensión en IA Generativa para Organizaciones  Clase 6: Tópicos Avanzados en Producción </vt:lpstr>
      <vt:lpstr>Temario</vt:lpstr>
      <vt:lpstr>Motivación: Gen AI in the wild</vt:lpstr>
      <vt:lpstr>Motivación: Gen AI in the wild</vt:lpstr>
      <vt:lpstr>Motivación: Ciclo de desarrollo y mejora continua</vt:lpstr>
      <vt:lpstr>Mejora continua: cerrando el círculo</vt:lpstr>
      <vt:lpstr>Evaluación</vt:lpstr>
      <vt:lpstr>Evaluacion: Motivación</vt:lpstr>
      <vt:lpstr>Evaluacion: 🧠 vs 🤖 </vt:lpstr>
      <vt:lpstr>Evaluacion:  Ejemplos</vt:lpstr>
      <vt:lpstr>Prompt systems</vt:lpstr>
      <vt:lpstr>PowerPoint Presentation</vt:lpstr>
      <vt:lpstr>Discusión: ¿Qué es un Prompt?</vt:lpstr>
      <vt:lpstr>Discusión: Que es un Prompt?</vt:lpstr>
      <vt:lpstr>Más allá del prompt: Skills</vt:lpstr>
      <vt:lpstr>El desafío: del prompt al skill</vt:lpstr>
      <vt:lpstr>Standards · Commands · Skills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José Manuel Peña Mendez</cp:lastModifiedBy>
  <cp:revision>1</cp:revision>
  <dcterms:modified xsi:type="dcterms:W3CDTF">2026-07-13T21:04:56Z</dcterms:modified>
</cp:coreProperties>
</file>