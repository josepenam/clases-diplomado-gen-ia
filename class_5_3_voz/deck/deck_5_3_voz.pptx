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5ffa278ef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2f5ffa278ef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2f5ffa278ef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2870683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287068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5ae0908b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e5ae0908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5ae0908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5ae0908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5ae0908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5ae0908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5ae0908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5ae0908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5ae0908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5ae0908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5ffa278e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5ffa278e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5ffa278e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5ffa278e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5ffa278e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5ffa278e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5ffa278e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5ffa278e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5ffa278e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5ffa278e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5ffa278e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5ffa278e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5ffa278e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5ffa278e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5ffa278e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5ffa278e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5ffa278e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f5ffa278e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852c9376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852c9376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3238fcc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3238fcc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3238fcc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33238fcc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3238fcc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3238fcc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3238fcc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3238fcc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2167386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b="1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3817096" y="3944462"/>
            <a:ext cx="1509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"/>
          <p:cNvSpPr txBox="1"/>
          <p:nvPr/>
        </p:nvSpPr>
        <p:spPr>
          <a:xfrm>
            <a:off x="1" y="4821596"/>
            <a:ext cx="914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Control de Gestión y Sistemas de Información | Facultad de Economía y Negocios | Universidad de Chile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5343613" y="893286"/>
            <a:ext cx="2360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628650" y="657087"/>
            <a:ext cx="6488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628650" y="1008529"/>
            <a:ext cx="7886700" cy="3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 slide">
  <p:cSld name="Main content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81000" y="259797"/>
            <a:ext cx="81345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81000" y="595222"/>
            <a:ext cx="8134500" cy="4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381000" y="4654550"/>
            <a:ext cx="205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final">
  <p:cSld name="Portada fin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279918" y="3112435"/>
            <a:ext cx="38628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+56 2 2978 3565 | contacto@uejecutivos.cl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Facultad de Economía y Negocios: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Diagonal Paraguay 257, Piso 6, Santiago.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 oriente: Av. Nueva Los Leones 0222, Providencia.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5"/>
          <p:cNvCxnSpPr/>
          <p:nvPr/>
        </p:nvCxnSpPr>
        <p:spPr>
          <a:xfrm>
            <a:off x="346108" y="4259370"/>
            <a:ext cx="3726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3888" y="576263"/>
            <a:ext cx="788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3888" y="1079816"/>
            <a:ext cx="78867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6286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6291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629841" y="753380"/>
            <a:ext cx="6461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629841" y="1483046"/>
            <a:ext cx="3868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629841" y="2100864"/>
            <a:ext cx="38682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3" type="body"/>
          </p:nvPr>
        </p:nvSpPr>
        <p:spPr>
          <a:xfrm>
            <a:off x="4629150" y="1483046"/>
            <a:ext cx="3887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8"/>
          <p:cNvSpPr txBox="1"/>
          <p:nvPr>
            <p:ph idx="4" type="body"/>
          </p:nvPr>
        </p:nvSpPr>
        <p:spPr>
          <a:xfrm>
            <a:off x="4629150" y="2100863"/>
            <a:ext cx="38874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29841" y="740568"/>
            <a:ext cx="29493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887391" y="1015760"/>
            <a:ext cx="46293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629841" y="1979762"/>
            <a:ext cx="2949300" cy="24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629841" y="740568"/>
            <a:ext cx="29493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2"/>
          <p:cNvSpPr/>
          <p:nvPr>
            <p:ph idx="2" type="pic"/>
          </p:nvPr>
        </p:nvSpPr>
        <p:spPr>
          <a:xfrm>
            <a:off x="3887391" y="1061049"/>
            <a:ext cx="4629300" cy="3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629841" y="1785667"/>
            <a:ext cx="29493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3079800" y="-802700"/>
            <a:ext cx="2984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 rot="5400000">
            <a:off x="5746950" y="1864318"/>
            <a:ext cx="3565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 rot="5400000">
            <a:off x="1589325" y="-207372"/>
            <a:ext cx="38793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b="1" i="0" lang="en" sz="9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" name="Google Shape;9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2">
  <p:cSld name="SECTION_HEADER_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648450"/>
            <a:ext cx="7886700" cy="29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M9xMuPWAZW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5hyI_dM5cGo?t=35" TargetMode="External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youtu.be/wQjTgvUEOrY?t=107" TargetMode="External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youtu.be/wQjTgvUEOrY?t=159" TargetMode="External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epmind.google/discover/blog/wavenet-a-generative-model-for-raw-audio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xiv.org/abs/1809.08895" TargetMode="External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hyperlink" Target="https://www.microsoft.com/en-us/research/project/vall-e-x/vall-e-2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latform.openai.com/audio/realtime" TargetMode="External"/><Relationship Id="rId4" Type="http://schemas.openxmlformats.org/officeDocument/2006/relationships/hyperlink" Target="https://platform.openai.com/audio/realtim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1143000" y="2571750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0" lang="en" sz="2100"/>
              <a:t>Diplomado de Extensión en</a:t>
            </a:r>
            <a:br>
              <a:rPr b="0" lang="en" sz="2100"/>
            </a:br>
            <a:r>
              <a:rPr lang="en" sz="2100"/>
              <a:t>IA Generativa para Organizaciones</a:t>
            </a:r>
            <a:br>
              <a:rPr lang="en" sz="2100"/>
            </a:br>
            <a:br>
              <a:rPr lang="en" sz="2700"/>
            </a:br>
            <a:r>
              <a:rPr lang="en" sz="2700"/>
              <a:t>Modulo 5, Clase 3:</a:t>
            </a:r>
            <a:endParaRPr sz="27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n" sz="2700"/>
              <a:t>Entendimiento y procesamiento de voz.</a:t>
            </a:r>
            <a:endParaRPr sz="2700"/>
          </a:p>
        </p:txBody>
      </p:sp>
      <p:sp>
        <p:nvSpPr>
          <p:cNvPr id="110" name="Google Shape;110;p20"/>
          <p:cNvSpPr txBox="1"/>
          <p:nvPr>
            <p:ph idx="4294967295" type="subTitle"/>
          </p:nvPr>
        </p:nvSpPr>
        <p:spPr>
          <a:xfrm>
            <a:off x="261374" y="4133753"/>
            <a:ext cx="43107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00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">
                <a:solidFill>
                  <a:schemeClr val="lt1"/>
                </a:solidFill>
              </a:rPr>
              <a:t>Jose manuel Peña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">
                <a:solidFill>
                  <a:schemeClr val="lt1"/>
                </a:solidFill>
              </a:rPr>
              <a:t>jmp2260</a:t>
            </a:r>
            <a:r>
              <a:rPr b="0" i="0" lang="e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">
                <a:solidFill>
                  <a:schemeClr val="lt1"/>
                </a:solidFill>
              </a:rPr>
              <a:t>columbia</a:t>
            </a:r>
            <a:r>
              <a:rPr b="0" i="0" lang="e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>
                <a:solidFill>
                  <a:schemeClr val="lt1"/>
                </a:solidFill>
              </a:rPr>
              <a:t>edu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35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5495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Temario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Entendiendo as componentes de modelos de voz-a-texto: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Preprocesamiento de audio: Espectrogramas y waveforms.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Convoluciones y Transformers.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Entendimiento las componentes de los modelos de texto-a-voz: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/>
              <a:t>Historia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/>
          </a:p>
          <a:p>
            <a:pPr indent="-304800" lvl="1" marL="9144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Y estado del arte</a:t>
            </a:r>
            <a:endParaRPr sz="1200"/>
          </a:p>
          <a:p>
            <a:pPr indent="-241300" lvl="0" marL="3429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Consideraciones </a:t>
            </a:r>
            <a:r>
              <a:rPr lang="en" sz="1200"/>
              <a:t>éticas</a:t>
            </a:r>
            <a:endParaRPr sz="1200"/>
          </a:p>
          <a:p>
            <a:pPr indent="-241300" lvl="0" marL="3429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Revisión y comparación de los principales proveedores de voz-a-texto y texto-a-voz.</a:t>
            </a:r>
            <a:endParaRPr sz="1200"/>
          </a:p>
          <a:p>
            <a:pPr indent="-241300" lvl="0" marL="3429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</a:t>
            </a:r>
            <a:r>
              <a:rPr lang="en" sz="1200">
                <a:solidFill>
                  <a:schemeClr val="dk1"/>
                </a:solidFill>
              </a:rPr>
              <a:t>asos prácticos de uso</a:t>
            </a:r>
            <a:r>
              <a:rPr lang="en" sz="1200"/>
              <a:t> en el contexto de agentes.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Entendiendo voice2text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75" y="1897625"/>
            <a:ext cx="2780850" cy="13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== Imagen: Furier y espectrogramas</a:t>
            </a:r>
            <a:endParaRPr/>
          </a:p>
        </p:txBody>
      </p:sp>
      <p:grpSp>
        <p:nvGrpSpPr>
          <p:cNvPr id="128" name="Google Shape;128;p23"/>
          <p:cNvGrpSpPr/>
          <p:nvPr/>
        </p:nvGrpSpPr>
        <p:grpSpPr>
          <a:xfrm>
            <a:off x="3400946" y="1988938"/>
            <a:ext cx="2122149" cy="1184625"/>
            <a:chOff x="3206234" y="2446138"/>
            <a:chExt cx="2122149" cy="1184625"/>
          </a:xfrm>
        </p:grpSpPr>
        <p:pic>
          <p:nvPicPr>
            <p:cNvPr id="129" name="Google Shape;129;p23"/>
            <p:cNvPicPr preferRelativeResize="0"/>
            <p:nvPr/>
          </p:nvPicPr>
          <p:blipFill rotWithShape="1">
            <a:blip r:embed="rId4">
              <a:alphaModFix/>
            </a:blip>
            <a:srcRect b="0" l="0" r="27745" t="0"/>
            <a:stretch/>
          </p:blipFill>
          <p:spPr>
            <a:xfrm>
              <a:off x="3206234" y="2912838"/>
              <a:ext cx="2122149" cy="717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23"/>
            <p:cNvPicPr preferRelativeResize="0"/>
            <p:nvPr/>
          </p:nvPicPr>
          <p:blipFill rotWithShape="1">
            <a:blip r:embed="rId5">
              <a:alphaModFix/>
            </a:blip>
            <a:srcRect b="10151" l="0" r="42223" t="11158"/>
            <a:stretch/>
          </p:blipFill>
          <p:spPr>
            <a:xfrm>
              <a:off x="3308950" y="2446138"/>
              <a:ext cx="1916725" cy="572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2413" y="1684138"/>
            <a:ext cx="3133274" cy="179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1301250" y="3800100"/>
            <a:ext cx="10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Audio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3932075" y="3800100"/>
            <a:ext cx="10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Furier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341450" y="3800100"/>
            <a:ext cx="18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Espectrograma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2195275" y="1222450"/>
            <a:ext cx="1769100" cy="461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4706250" y="1222450"/>
            <a:ext cx="1769100" cy="461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== Imagen: Furier y espectrogramas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374" y="1013450"/>
            <a:ext cx="5449923" cy="363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98750" y="2495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Aphex Twin [Equation]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349" y="951400"/>
            <a:ext cx="6223300" cy="36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== Imagen: Furier y espectrogramas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Espectrogramas a palabras: Whisper</a:t>
            </a: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900" y="1015975"/>
            <a:ext cx="4620127" cy="350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 txBox="1"/>
          <p:nvPr/>
        </p:nvSpPr>
        <p:spPr>
          <a:xfrm>
            <a:off x="589650" y="1143000"/>
            <a:ext cx="3571200" cy="3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-Encoder y decoder son transformers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Audio es quebrado en bloques de 30s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Convoluciones en 1D procesan y identifican patrones en el audio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Bloques decoders usan estado del fonema para predecir próximo token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Entendiendo text2voice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628650" y="1008525"/>
            <a:ext cx="63960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1939 (voder)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https://youtu.be/5hyI_dM5cGo?t=35</a:t>
            </a:r>
            <a:endParaRPr sz="1500"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1500" y="1978225"/>
            <a:ext cx="4396024" cy="247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628650" y="1008525"/>
            <a:ext cx="63960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1962 (IBM 704)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500"/>
              <a:t>Primer uso de computadores para sintetizar voz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https://youtu.be/wQjTgvUEOrY?t=107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La voz de HAL (2001 Odisea del Espacio)</a:t>
            </a:r>
            <a:endParaRPr sz="1500"/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9625" y="2036550"/>
            <a:ext cx="4404750" cy="26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628650" y="1008525"/>
            <a:ext cx="63960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1970 (Votrex)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500"/>
              <a:t>Primer uso comercial de </a:t>
            </a:r>
            <a:r>
              <a:rPr lang="en" sz="1500"/>
              <a:t>síntesis</a:t>
            </a:r>
            <a:r>
              <a:rPr lang="en" sz="1500"/>
              <a:t> de voz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https://youtu.be/wQjTgvUEOrY?t=159</a:t>
            </a: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82" name="Google Shape;18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2000" y="2019150"/>
            <a:ext cx="4379999" cy="242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628650" y="1008525"/>
            <a:ext cx="63960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1979 (S.A.M)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500"/>
              <a:t>Primer software dedicado a la sintesis de voz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Foco de Steve Jobs en el Macintosh System 1</a:t>
            </a: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725" y="2010612"/>
            <a:ext cx="1814550" cy="253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628650" y="1008525"/>
            <a:ext cx="82026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2005 (ish)</a:t>
            </a:r>
            <a:endParaRPr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Modelos de concatenacion</a:t>
            </a:r>
            <a:endParaRPr sz="1500"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Muuuuucchas grabaciones de fonemas.</a:t>
            </a:r>
            <a:endParaRPr sz="1500"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Por similaridad se extraen las N versiones más similares al fonema necesitado que entonen como viene la el discurso</a:t>
            </a: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628650" y="1008525"/>
            <a:ext cx="82026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2016 WaveNet (Deep Mind)</a:t>
            </a:r>
            <a:endParaRPr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Entrada del deep learning al campo de TTS</a:t>
            </a:r>
            <a:endParaRPr sz="1500"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Backend de las herramientas de Google Assistant, Navigation, Voice Search, etc.</a:t>
            </a:r>
            <a:endParaRPr sz="1500"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Que cambio:</a:t>
            </a:r>
            <a:endParaRPr sz="1500"/>
          </a:p>
          <a:p>
            <a:pPr indent="-32385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Redes Convolucionales Recursivas a diferentes escalas</a:t>
            </a:r>
            <a:endParaRPr sz="1500"/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https://deepmind.google/discover/blog/wavenet-a-generative-model-for-raw-audio/</a:t>
            </a: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Historia</a:t>
            </a:r>
            <a:endParaRPr sz="2320"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628650" y="1008525"/>
            <a:ext cx="4204800" cy="36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Hoy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u="sng">
                <a:solidFill>
                  <a:schemeClr val="hlink"/>
                </a:solidFill>
                <a:hlinkClick r:id="rId3"/>
              </a:rPr>
              <a:t>Transformers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Atención permitió textos más largos y coherentes</a:t>
            </a:r>
            <a:endParaRPr sz="1500"/>
          </a:p>
          <a:p>
            <a:pPr indent="0" lvl="0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Entonaciones más dinámicas vs redes recurrentes</a:t>
            </a: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714" y="83203"/>
            <a:ext cx="2727561" cy="463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La </a:t>
            </a:r>
            <a:r>
              <a:rPr lang="en" sz="2320"/>
              <a:t>ética</a:t>
            </a:r>
            <a:r>
              <a:rPr lang="en" sz="2320"/>
              <a:t> y legalidad de text2voice</a:t>
            </a:r>
            <a:endParaRPr sz="2320"/>
          </a:p>
        </p:txBody>
      </p:sp>
      <p:sp>
        <p:nvSpPr>
          <p:cNvPr id="214" name="Google Shape;214;p35"/>
          <p:cNvSpPr txBox="1"/>
          <p:nvPr/>
        </p:nvSpPr>
        <p:spPr>
          <a:xfrm>
            <a:off x="689425" y="1111250"/>
            <a:ext cx="43272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Suplantación de identidad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Permiso para 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clonación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Derechos de autor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075" y="2793677"/>
            <a:ext cx="7093848" cy="12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/>
        </p:nvSpPr>
        <p:spPr>
          <a:xfrm>
            <a:off x="1768950" y="4322450"/>
            <a:ext cx="56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https://www.microsoft.com/en-us/research/project/vall-e-x/vall-e-2/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Proveedores</a:t>
            </a:r>
            <a:endParaRPr sz="2320"/>
          </a:p>
        </p:txBody>
      </p:sp>
      <p:sp>
        <p:nvSpPr>
          <p:cNvPr id="222" name="Google Shape;222;p36"/>
          <p:cNvSpPr txBox="1"/>
          <p:nvPr/>
        </p:nvSpPr>
        <p:spPr>
          <a:xfrm>
            <a:off x="689425" y="1111250"/>
            <a:ext cx="43272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ElevenLabs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Agentes conversacionales</a:t>
            </a:r>
            <a:endParaRPr sz="2320"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0187"/>
            <a:ext cx="8839200" cy="3379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Agentes conversacionales: Realtime</a:t>
            </a:r>
            <a:endParaRPr sz="2320"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326" y="1201452"/>
            <a:ext cx="6885351" cy="305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582600" y="83212"/>
            <a:ext cx="6488100" cy="23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Agentes conversacionales: Realtime</a:t>
            </a:r>
            <a:endParaRPr sz="2320"/>
          </a:p>
        </p:txBody>
      </p:sp>
      <p:sp>
        <p:nvSpPr>
          <p:cNvPr id="240" name="Google Shape;240;p39">
            <a:hlinkClick r:id="rId3"/>
          </p:cNvPr>
          <p:cNvSpPr txBox="1"/>
          <p:nvPr/>
        </p:nvSpPr>
        <p:spPr>
          <a:xfrm>
            <a:off x="2032050" y="2325450"/>
            <a:ext cx="507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https://platform.openai.com/audio/realtime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