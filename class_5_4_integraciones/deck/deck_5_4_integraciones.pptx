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38"/>
  </p:notesMasterIdLst>
  <p:sldIdLst>
    <p:sldId id="256" r:id="rId3"/>
    <p:sldId id="257" r:id="rId4"/>
    <p:sldId id="273" r:id="rId20"/>
    <p:sldId id="296" r:id="rId57"/>
    <p:sldId id="297" r:id="rId58"/>
    <p:sldId id="294" r:id="rId55"/>
    <p:sldId id="298" r:id="rId59"/>
    <p:sldId id="299" r:id="rId60"/>
    <p:sldId id="295" r:id="rId56"/>
    <p:sldId id="300" r:id="rId61"/>
    <p:sldId id="301" r:id="rId62"/>
    <p:sldId id="302" r:id="rId63"/>
    <p:sldId id="274" r:id="rId21"/>
    <p:sldId id="275" r:id="rId22"/>
    <p:sldId id="276" r:id="rId23"/>
    <p:sldId id="277" r:id="rId24"/>
    <p:sldId id="278" r:id="rId25"/>
    <p:sldId id="279" r:id="rId26"/>
    <p:sldId id="304" r:id="rId65"/>
    <p:sldId id="280" r:id="rId27"/>
    <p:sldId id="266" r:id="rId13"/>
    <p:sldId id="303" r:id="rId64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9144000" cy="5143500" type="screen16x9"/>
  <p:notesSz cx="6858000" cy="9144000"/>
  <p:embeddedFontLst>
    <p:embeddedFont>
      <p:font typeface="Poppins" pitchFamily="2" charset="77"/>
      <p:regular r:id="rId39"/>
      <p:bold r:id="rId40"/>
      <p:italic r:id="rId41"/>
      <p:boldItalic r:id="rId42"/>
    </p:embeddedFont>
    <p:embeddedFont>
      <p:font typeface="Poppins Medium" panose="00000600000000000000" pitchFamily="2" charset="77"/>
      <p:regular r:id="rId43"/>
      <p:bold r:id="rId44"/>
      <p:italic r:id="rId45"/>
      <p:boldItalic r:id="rId46"/>
    </p:embeddedFont>
    <p:embeddedFont>
      <p:font typeface="Raleway" pitchFamily="2" charset="77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1.fntdata"/>  <Relationship Id="rId55" Type="http://schemas.openxmlformats.org/officeDocument/2006/relationships/slide" Target="slides/slide36.xml"/>
  <Relationship Id="rId56" Type="http://schemas.openxmlformats.org/officeDocument/2006/relationships/slide" Target="slides/slide37.xml"/>
  <Relationship Id="rId57" Type="http://schemas.openxmlformats.org/officeDocument/2006/relationships/slide" Target="slides/slide38.xml"/>
  <Relationship Id="rId58" Type="http://schemas.openxmlformats.org/officeDocument/2006/relationships/slide" Target="slides/slide39.xml"/>
  <Relationship Id="rId59" Type="http://schemas.openxmlformats.org/officeDocument/2006/relationships/slide" Target="slides/slide40.xml"/>
  <Relationship Id="rId60" Type="http://schemas.openxmlformats.org/officeDocument/2006/relationships/slide" Target="slides/slide41.xml"/>
  <Relationship Id="rId61" Type="http://schemas.openxmlformats.org/officeDocument/2006/relationships/slide" Target="slides/slide42.xml"/>
  <Relationship Id="rId62" Type="http://schemas.openxmlformats.org/officeDocument/2006/relationships/slide" Target="slides/slide43.xml"/>
  <Relationship Id="rId63" Type="http://schemas.openxmlformats.org/officeDocument/2006/relationships/slide" Target="slides/slide44.xml"/>
  <Relationship Id="rId64" Type="http://schemas.openxmlformats.org/officeDocument/2006/relationships/slide" Target="slides/slide45.xml"/>
  <Relationship Id="rId65" Type="http://schemas.openxmlformats.org/officeDocument/2006/relationships/slide" Target="slides/slide4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b797ca14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2fb797ca148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2fb797ca148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28860a8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28860a8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c0828f8c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c0828f8c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926ef20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926ef20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926ef206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926ef206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926ef206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926ef206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926ef206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926ef206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Cambio de uso de listados de herramientas, a correr snippets de codigo, donde las capacidades vienen definidas por las librerias importables en el ambiente de ejecucion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PROS: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Compostabilidad de herramientas (for, loops)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Menos pasos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Error analysis y recovery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El espacio de accion al final es turing copleto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926ef206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926ef206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926ef206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926ef206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el fondo, aca lo que vemos es que un set fijo de acciones fijado por herramientas en este loop cerrado tool-&gt; respuesta, sin una memoria endosada no puede iterar por una lista arbitraria, lo hace mas parecido a una maquina de estado finita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Mienstras que ejecutar codigo por definicion si es una maquina turing completa, apalancando la flexibilidad completa de la ejecucion de codigo.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926ef206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926ef206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26ef206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7926ef206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 les voy a mostrar una demo del agente correingo,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 tiene un front simple tipo chat gpt donde podemos ver la conversacion, y a la derecha podemos hacer el human in the loop para que revisemos lo que esta haciendo el agente y giuiarlo a nuestro gusto.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b797ca148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fb797ca148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fb7cfddddd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2fb7cfddddd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b7cfddddd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2fb7cfddddd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fb7cfddddd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2fb7cfddddd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fb7cfddddd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2fb7cfddddd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fb7cfddddd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2fb7cfddddd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fb7cfddddd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fb7cfddddd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fb797ca148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fb797ca148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859a7423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859a7423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fc0828f8c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g2fc0828f8c5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g2fc0828f8c5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2167386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3817096" y="3944462"/>
            <a:ext cx="150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2"/>
          <p:cNvSpPr txBox="1"/>
          <p:nvPr/>
        </p:nvSpPr>
        <p:spPr>
          <a:xfrm>
            <a:off x="1" y="4821596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Control de Gestión y Sistemas de Información | Facultad de Economía y Negocios | Universidad de Chile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5343613" y="893286"/>
            <a:ext cx="2360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28650" y="657087"/>
            <a:ext cx="64881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628650" y="1008529"/>
            <a:ext cx="78867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slide">
  <p:cSld name="Main content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81000" y="259797"/>
            <a:ext cx="8134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1000" y="595222"/>
            <a:ext cx="8134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381000" y="4654550"/>
            <a:ext cx="20574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final">
  <p:cSld name="Portada fin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279918" y="3112435"/>
            <a:ext cx="3862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+56 2 2978 3565 | contacto@uejecutivos.cl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Facultad de Economía y Negocios: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Diagonal Paraguay 257, Piso 6, Santiago.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oriente: Av. Nueva Los Leones 0222, Providencia.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346108" y="4259370"/>
            <a:ext cx="3726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23888" y="576263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23888" y="1079816"/>
            <a:ext cx="78867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286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6291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629841" y="753380"/>
            <a:ext cx="64611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629841" y="1483046"/>
            <a:ext cx="3868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629841" y="2100864"/>
            <a:ext cx="38682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4629150" y="1483046"/>
            <a:ext cx="388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4"/>
          </p:nvPr>
        </p:nvSpPr>
        <p:spPr>
          <a:xfrm>
            <a:off x="4629150" y="2100863"/>
            <a:ext cx="38874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887391" y="1015760"/>
            <a:ext cx="4629300" cy="3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2"/>
          </p:nvPr>
        </p:nvSpPr>
        <p:spPr>
          <a:xfrm>
            <a:off x="629841" y="1979762"/>
            <a:ext cx="2949300" cy="24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3887391" y="1061049"/>
            <a:ext cx="4629300" cy="3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629841" y="1785667"/>
            <a:ext cx="29493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3079800" y="-802700"/>
            <a:ext cx="2984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 rot="5400000">
            <a:off x="5746950" y="1864318"/>
            <a:ext cx="35652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1589325" y="-207372"/>
            <a:ext cx="38793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2">
  <p:cSld name="SECTION_HEADER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00"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marL="914400" lvl="1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marL="914400" lvl="1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marL="914400" lvl="1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9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9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648450"/>
            <a:ext cx="78867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None/>
              <a:defRPr sz="23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ctrTitle"/>
          </p:nvPr>
        </p:nvSpPr>
        <p:spPr>
          <a:xfrm>
            <a:off x="1143000" y="2571750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100" b="0"/>
              <a:t>Diplomado de Extensión en</a:t>
            </a:r>
            <a:br>
              <a:rPr lang="en" sz="2100" b="0"/>
            </a:br>
            <a:r>
              <a:rPr lang="en" sz="2100"/>
              <a:t>IA Generativa para Organizaciones</a:t>
            </a:r>
            <a:br>
              <a:rPr lang="en" sz="2100"/>
            </a:br>
            <a:br>
              <a:rPr lang="en" sz="2700"/>
            </a:br>
            <a:r>
              <a:rPr lang="en" sz="2700"/>
              <a:t>Modulo 5, Clase 4:</a:t>
            </a:r>
            <a:endParaRPr sz="27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700"/>
              <a:t>Integraciones</a:t>
            </a:r>
            <a:endParaRPr sz="2700"/>
          </a:p>
        </p:txBody>
      </p:sp>
      <p:sp>
        <p:nvSpPr>
          <p:cNvPr id="156" name="Google Shape;156;p31"/>
          <p:cNvSpPr txBox="1">
            <a:spLocks noGrp="1"/>
          </p:cNvSpPr>
          <p:nvPr>
            <p:ph type="subTitle" idx="4294967295"/>
          </p:nvPr>
        </p:nvSpPr>
        <p:spPr>
          <a:xfrm>
            <a:off x="261374" y="4133753"/>
            <a:ext cx="43107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">
                <a:solidFill>
                  <a:schemeClr val="lt1"/>
                </a:solidFill>
              </a:rPr>
              <a:t>Jose manuel Peña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>
                <a:solidFill>
                  <a:schemeClr val="lt1"/>
                </a:solidFill>
              </a:rPr>
              <a:t>jmp2260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">
                <a:solidFill>
                  <a:schemeClr val="lt1"/>
                </a:solidFill>
              </a:rPr>
              <a:t>columbia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>
                <a:solidFill>
                  <a:schemeClr val="lt1"/>
                </a:solidFill>
              </a:rPr>
              <a:t>edu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63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Temario</a:t>
            </a:r>
            <a:endParaRPr/>
          </a:p>
        </p:txBody>
      </p:sp>
      <p:sp>
        <p:nvSpPr>
          <p:cNvPr id="162" name="Google Shape;16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Conectar el LLM con todo lo que no es el LLM — midiendo el contraste con y sin cada integración: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MCP: herramientas y servicios por protocolo (L1)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Skills: conocimiento operativo empaquetado y su gestión (L2)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Capas semánticas: ontologías y grafos sobre los datos de la empresa (L3)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El agente SQL semántico — capstone (L4)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CodeAct: ejecución de código en sandbox (L5)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Test de multimodalidad: dibujar a ciegas (L6)</a:t>
            </a:r>
            <a:endParaRPr sz="1608"/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Anexos: consideraciones estratégicas y reflexiones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Evaluando LLMs multimodales: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prueba del Unicornio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/>
        </p:nvSpPr>
        <p:spPr>
          <a:xfrm>
            <a:off x="5715000" y="582802"/>
            <a:ext cx="1143000" cy="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5AD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6" name="Google Shape;306;p50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50"/>
          <p:cNvSpPr txBox="1"/>
          <p:nvPr/>
        </p:nvSpPr>
        <p:spPr>
          <a:xfrm>
            <a:off x="62550" y="14570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ReAct 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insuficiente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50"/>
          <p:cNvSpPr txBox="1"/>
          <p:nvPr/>
        </p:nvSpPr>
        <p:spPr>
          <a:xfrm>
            <a:off x="176850" y="978900"/>
            <a:ext cx="8790300" cy="3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Una lista de tools es insuficiente para manipulaciones</a:t>
            </a:r>
            <a:endParaRPr sz="1700" i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Estado subyacente pesado para transcribir como json calls (carencia de memoria flexible)</a:t>
            </a:r>
            <a:endParaRPr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Flow control acotado (no loops, ifs, etc)</a:t>
            </a:r>
            <a:endParaRPr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json-&gt;result-&gt;json traen errores </a:t>
            </a:r>
            <a:r>
              <a:rPr lang="en" sz="1700" i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irresolubles</a:t>
            </a:r>
            <a:endParaRPr sz="1700" i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ReAct no es turing completo </a:t>
            </a:r>
            <a:r>
              <a:rPr lang="en" sz="1700" i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casi siempre</a:t>
            </a:r>
            <a:endParaRPr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51"/>
          <p:cNvSpPr txBox="1"/>
          <p:nvPr/>
        </p:nvSpPr>
        <p:spPr>
          <a:xfrm>
            <a:off x="217725" y="38945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Framework:</a:t>
            </a:r>
            <a:r>
              <a:rPr lang="en" sz="2200">
                <a:solidFill>
                  <a:srgbClr val="005AD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endParaRPr sz="2200">
              <a:solidFill>
                <a:srgbClr val="005A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5" name="Google Shape;3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24" y="1398375"/>
            <a:ext cx="6505549" cy="3745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1"/>
          <p:cNvSpPr txBox="1"/>
          <p:nvPr/>
        </p:nvSpPr>
        <p:spPr>
          <a:xfrm>
            <a:off x="3072000" y="9480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https://arxiv.org/pdf/2402.01030</a:t>
            </a:r>
            <a:endParaRPr/>
          </a:p>
        </p:txBody>
      </p:sp>
      <p:sp>
        <p:nvSpPr>
          <p:cNvPr id="317" name="Google Shape;317;p51"/>
          <p:cNvSpPr txBox="1"/>
          <p:nvPr/>
        </p:nvSpPr>
        <p:spPr>
          <a:xfrm>
            <a:off x="2724225" y="294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CodeAct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8" name="Google Shape;318;p51"/>
          <p:cNvCxnSpPr>
            <a:endCxn id="317" idx="1"/>
          </p:cNvCxnSpPr>
          <p:nvPr/>
        </p:nvCxnSpPr>
        <p:spPr>
          <a:xfrm rot="10800000" flipH="1">
            <a:off x="1870425" y="556375"/>
            <a:ext cx="853800" cy="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75" y="1178450"/>
            <a:ext cx="8746051" cy="371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2"/>
          <p:cNvSpPr txBox="1"/>
          <p:nvPr/>
        </p:nvSpPr>
        <p:spPr>
          <a:xfrm>
            <a:off x="217725" y="38945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Framework:</a:t>
            </a:r>
            <a:r>
              <a:rPr lang="en" sz="2200">
                <a:solidFill>
                  <a:srgbClr val="005AD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endParaRPr sz="2200">
              <a:solidFill>
                <a:srgbClr val="005A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52"/>
          <p:cNvSpPr txBox="1"/>
          <p:nvPr/>
        </p:nvSpPr>
        <p:spPr>
          <a:xfrm>
            <a:off x="2724225" y="294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CodeAct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7" name="Google Shape;327;p52"/>
          <p:cNvCxnSpPr>
            <a:endCxn id="326" idx="1"/>
          </p:cNvCxnSpPr>
          <p:nvPr/>
        </p:nvCxnSpPr>
        <p:spPr>
          <a:xfrm rot="10800000" flipH="1">
            <a:off x="1870425" y="556375"/>
            <a:ext cx="853800" cy="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3" name="Google Shape;3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3759"/>
            <a:ext cx="9144002" cy="2499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3"/>
          <p:cNvSpPr txBox="1"/>
          <p:nvPr/>
        </p:nvSpPr>
        <p:spPr>
          <a:xfrm>
            <a:off x="217725" y="38945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Framework:</a:t>
            </a:r>
            <a:r>
              <a:rPr lang="en" sz="2200">
                <a:solidFill>
                  <a:srgbClr val="005AD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endParaRPr sz="2200">
              <a:solidFill>
                <a:srgbClr val="005A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53"/>
          <p:cNvSpPr txBox="1"/>
          <p:nvPr/>
        </p:nvSpPr>
        <p:spPr>
          <a:xfrm>
            <a:off x="2724225" y="294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CodeAct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6" name="Google Shape;336;p53"/>
          <p:cNvCxnSpPr>
            <a:endCxn id="335" idx="1"/>
          </p:cNvCxnSpPr>
          <p:nvPr/>
        </p:nvCxnSpPr>
        <p:spPr>
          <a:xfrm rot="10800000" flipH="1">
            <a:off x="1870425" y="556375"/>
            <a:ext cx="853800" cy="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/>
        </p:nvSpPr>
        <p:spPr>
          <a:xfrm>
            <a:off x="6019800" y="735202"/>
            <a:ext cx="1143000" cy="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5AD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2" name="Google Shape;342;p54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54"/>
          <p:cNvSpPr txBox="1"/>
          <p:nvPr/>
        </p:nvSpPr>
        <p:spPr>
          <a:xfrm>
            <a:off x="6019800" y="735202"/>
            <a:ext cx="1143000" cy="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5AD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4" name="Google Shape;344;p54"/>
          <p:cNvSpPr txBox="1"/>
          <p:nvPr/>
        </p:nvSpPr>
        <p:spPr>
          <a:xfrm>
            <a:off x="261400" y="40400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5AD6"/>
                </a:solidFill>
                <a:latin typeface="Poppins"/>
                <a:ea typeface="Poppins"/>
                <a:cs typeface="Poppins"/>
                <a:sym typeface="Poppins"/>
              </a:rPr>
              <a:t>¿Cómo funciona? </a:t>
            </a:r>
            <a:endParaRPr sz="2200">
              <a:solidFill>
                <a:srgbClr val="005A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54"/>
          <p:cNvSpPr/>
          <p:nvPr/>
        </p:nvSpPr>
        <p:spPr>
          <a:xfrm>
            <a:off x="7326850" y="385250"/>
            <a:ext cx="10014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START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54"/>
          <p:cNvSpPr/>
          <p:nvPr/>
        </p:nvSpPr>
        <p:spPr>
          <a:xfrm>
            <a:off x="7326850" y="4555850"/>
            <a:ext cx="10014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END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54"/>
          <p:cNvSpPr/>
          <p:nvPr/>
        </p:nvSpPr>
        <p:spPr>
          <a:xfrm>
            <a:off x="4458675" y="1272400"/>
            <a:ext cx="4420500" cy="270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54"/>
          <p:cNvSpPr/>
          <p:nvPr/>
        </p:nvSpPr>
        <p:spPr>
          <a:xfrm>
            <a:off x="7141600" y="1648850"/>
            <a:ext cx="1371900" cy="508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Code generation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54"/>
          <p:cNvSpPr/>
          <p:nvPr/>
        </p:nvSpPr>
        <p:spPr>
          <a:xfrm>
            <a:off x="4620438" y="3292250"/>
            <a:ext cx="1092300" cy="508500"/>
          </a:xfrm>
          <a:prstGeom prst="roundRect">
            <a:avLst>
              <a:gd name="adj" fmla="val 16667"/>
            </a:avLst>
          </a:prstGeom>
          <a:solidFill>
            <a:srgbClr val="62A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Use Tool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0" name="Google Shape;350;p54"/>
          <p:cNvCxnSpPr>
            <a:stCxn id="345" idx="2"/>
            <a:endCxn id="351" idx="0"/>
          </p:cNvCxnSpPr>
          <p:nvPr/>
        </p:nvCxnSpPr>
        <p:spPr>
          <a:xfrm>
            <a:off x="7827550" y="893750"/>
            <a:ext cx="0" cy="7551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p54"/>
          <p:cNvSpPr txBox="1"/>
          <p:nvPr/>
        </p:nvSpPr>
        <p:spPr>
          <a:xfrm>
            <a:off x="2479950" y="3045650"/>
            <a:ext cx="215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run_code</a:t>
            </a:r>
            <a:b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file_mgmt</a:t>
            </a:r>
            <a:endParaRPr sz="1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54"/>
          <p:cNvSpPr txBox="1"/>
          <p:nvPr/>
        </p:nvSpPr>
        <p:spPr>
          <a:xfrm>
            <a:off x="2574800" y="1867950"/>
            <a:ext cx="189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web_search</a:t>
            </a:r>
            <a:endParaRPr sz="1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54"/>
          <p:cNvSpPr txBox="1"/>
          <p:nvPr/>
        </p:nvSpPr>
        <p:spPr>
          <a:xfrm>
            <a:off x="462875" y="2550850"/>
            <a:ext cx="1626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execution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sandbox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(e2b + Docker)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54"/>
          <p:cNvSpPr/>
          <p:nvPr/>
        </p:nvSpPr>
        <p:spPr>
          <a:xfrm>
            <a:off x="4620450" y="2254100"/>
            <a:ext cx="1092300" cy="508500"/>
          </a:xfrm>
          <a:prstGeom prst="roundRect">
            <a:avLst>
              <a:gd name="adj" fmla="val 16667"/>
            </a:avLst>
          </a:prstGeom>
          <a:solidFill>
            <a:srgbClr val="62A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Human check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54"/>
          <p:cNvSpPr/>
          <p:nvPr/>
        </p:nvSpPr>
        <p:spPr>
          <a:xfrm>
            <a:off x="7141600" y="3292250"/>
            <a:ext cx="1371900" cy="508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Answer generation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7" name="Google Shape;357;p54"/>
          <p:cNvCxnSpPr>
            <a:endCxn id="355" idx="3"/>
          </p:cNvCxnSpPr>
          <p:nvPr/>
        </p:nvCxnSpPr>
        <p:spPr>
          <a:xfrm flipH="1">
            <a:off x="5712750" y="2007350"/>
            <a:ext cx="1412700" cy="5010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54"/>
          <p:cNvCxnSpPr>
            <a:stCxn id="348" idx="2"/>
            <a:endCxn id="356" idx="0"/>
          </p:cNvCxnSpPr>
          <p:nvPr/>
        </p:nvCxnSpPr>
        <p:spPr>
          <a:xfrm>
            <a:off x="7827550" y="2157350"/>
            <a:ext cx="0" cy="11349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54"/>
          <p:cNvCxnSpPr/>
          <p:nvPr/>
        </p:nvCxnSpPr>
        <p:spPr>
          <a:xfrm rot="10800000" flipH="1">
            <a:off x="5702425" y="2175250"/>
            <a:ext cx="1529700" cy="11283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54"/>
          <p:cNvCxnSpPr>
            <a:stCxn id="355" idx="2"/>
            <a:endCxn id="349" idx="0"/>
          </p:cNvCxnSpPr>
          <p:nvPr/>
        </p:nvCxnSpPr>
        <p:spPr>
          <a:xfrm>
            <a:off x="5166600" y="2762600"/>
            <a:ext cx="0" cy="5298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54"/>
          <p:cNvCxnSpPr>
            <a:stCxn id="356" idx="2"/>
            <a:endCxn id="346" idx="0"/>
          </p:cNvCxnSpPr>
          <p:nvPr/>
        </p:nvCxnSpPr>
        <p:spPr>
          <a:xfrm>
            <a:off x="7827550" y="3800750"/>
            <a:ext cx="0" cy="7551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54"/>
          <p:cNvCxnSpPr/>
          <p:nvPr/>
        </p:nvCxnSpPr>
        <p:spPr>
          <a:xfrm rot="10800000" flipH="1">
            <a:off x="5717825" y="1768825"/>
            <a:ext cx="1402800" cy="4929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54"/>
          <p:cNvCxnSpPr/>
          <p:nvPr/>
        </p:nvCxnSpPr>
        <p:spPr>
          <a:xfrm rot="10800000">
            <a:off x="5055338" y="1092800"/>
            <a:ext cx="0" cy="11613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dash"/>
            <a:round/>
            <a:headEnd type="triangle" w="med" len="med"/>
            <a:tailEnd type="none" w="med" len="med"/>
          </a:ln>
        </p:spPr>
      </p:cxnSp>
      <p:cxnSp>
        <p:nvCxnSpPr>
          <p:cNvPr id="364" name="Google Shape;364;p54"/>
          <p:cNvCxnSpPr/>
          <p:nvPr/>
        </p:nvCxnSpPr>
        <p:spPr>
          <a:xfrm>
            <a:off x="5227575" y="1067250"/>
            <a:ext cx="0" cy="11844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65" name="Google Shape;365;p54"/>
          <p:cNvSpPr txBox="1"/>
          <p:nvPr/>
        </p:nvSpPr>
        <p:spPr>
          <a:xfrm>
            <a:off x="5227200" y="1519400"/>
            <a:ext cx="310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3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54"/>
          <p:cNvSpPr txBox="1"/>
          <p:nvPr/>
        </p:nvSpPr>
        <p:spPr>
          <a:xfrm>
            <a:off x="4749788" y="1341100"/>
            <a:ext cx="461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endParaRPr sz="13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✍🏻</a:t>
            </a:r>
            <a:endParaRPr sz="13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📢</a:t>
            </a:r>
            <a:endParaRPr sz="13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7" name="Google Shape;367;p54"/>
          <p:cNvCxnSpPr/>
          <p:nvPr/>
        </p:nvCxnSpPr>
        <p:spPr>
          <a:xfrm rot="10800000">
            <a:off x="1834675" y="3476450"/>
            <a:ext cx="27750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54"/>
          <p:cNvCxnSpPr/>
          <p:nvPr/>
        </p:nvCxnSpPr>
        <p:spPr>
          <a:xfrm>
            <a:off x="1885450" y="3679650"/>
            <a:ext cx="27291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9" name="Google Shape;369;p54"/>
          <p:cNvSpPr txBox="1"/>
          <p:nvPr/>
        </p:nvSpPr>
        <p:spPr>
          <a:xfrm>
            <a:off x="2486475" y="3600150"/>
            <a:ext cx="245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prints</a:t>
            </a:r>
            <a:endParaRPr sz="1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Files</a:t>
            </a:r>
            <a:endParaRPr sz="1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54" title="ChatGPT Image Jul 3, 2025, 08_58_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025" y="3038450"/>
            <a:ext cx="1092301" cy="109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4" title="ChatGPT Image Jul 3, 2025, 09_03_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287" y="296675"/>
            <a:ext cx="860626" cy="86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4" title="ChatGPT Image Jul 3, 2025, 09_18_03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825" y="1435850"/>
            <a:ext cx="785101" cy="785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54"/>
          <p:cNvCxnSpPr>
            <a:endCxn id="372" idx="3"/>
          </p:cNvCxnSpPr>
          <p:nvPr/>
        </p:nvCxnSpPr>
        <p:spPr>
          <a:xfrm rot="10800000">
            <a:off x="1744926" y="1828401"/>
            <a:ext cx="2976600" cy="14343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7" name="Google Shape;377;p54"/>
          <p:cNvSpPr txBox="1"/>
          <p:nvPr/>
        </p:nvSpPr>
        <p:spPr>
          <a:xfrm>
            <a:off x="494675" y="1038850"/>
            <a:ext cx="171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GPT 4.1 agent 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(+ WebSearch)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650425" y="3937300"/>
            <a:ext cx="123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 libraries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79" name="Google Shape;379;p54"/>
          <p:cNvCxnSpPr/>
          <p:nvPr/>
        </p:nvCxnSpPr>
        <p:spPr>
          <a:xfrm>
            <a:off x="1763475" y="2063425"/>
            <a:ext cx="2841000" cy="13419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54"/>
          <p:cNvSpPr txBox="1"/>
          <p:nvPr/>
        </p:nvSpPr>
        <p:spPr>
          <a:xfrm>
            <a:off x="2190325" y="25085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answer</a:t>
            </a:r>
            <a:endParaRPr sz="1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54"/>
          <p:cNvSpPr txBox="1"/>
          <p:nvPr/>
        </p:nvSpPr>
        <p:spPr>
          <a:xfrm>
            <a:off x="6076300" y="1741300"/>
            <a:ext cx="310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📢</a:t>
            </a:r>
            <a:endParaRPr/>
          </a:p>
        </p:txBody>
      </p:sp>
      <p:sp>
        <p:nvSpPr>
          <p:cNvPr id="382" name="Google Shape;382;p54"/>
          <p:cNvSpPr txBox="1"/>
          <p:nvPr/>
        </p:nvSpPr>
        <p:spPr>
          <a:xfrm>
            <a:off x="4856400" y="2735000"/>
            <a:ext cx="31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endParaRPr sz="13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✍🏻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213CB7-F664-B9DB-2ACE-EA50C6FB4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21" y="4396104"/>
            <a:ext cx="805628" cy="336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E2F671-CA14-0310-ED9C-4BE55F07AB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7599" y="4403474"/>
            <a:ext cx="446915" cy="336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/>
        </p:nvSpPr>
        <p:spPr>
          <a:xfrm>
            <a:off x="9564425" y="1697500"/>
            <a:ext cx="56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55"/>
          <p:cNvSpPr txBox="1"/>
          <p:nvPr/>
        </p:nvSpPr>
        <p:spPr>
          <a:xfrm>
            <a:off x="353700" y="2317500"/>
            <a:ext cx="87903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5AD6"/>
                </a:solidFill>
                <a:latin typeface="Poppins"/>
                <a:ea typeface="Poppins"/>
                <a:cs typeface="Poppins"/>
                <a:sym typeface="Poppins"/>
              </a:rPr>
              <a:t>Demo</a:t>
            </a:r>
            <a:endParaRPr sz="2200" dirty="0">
              <a:solidFill>
                <a:srgbClr val="005A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“GenAI, consideraciones estratégicas”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0"/>
          <p:cNvSpPr/>
          <p:nvPr/>
        </p:nvSpPr>
        <p:spPr>
          <a:xfrm>
            <a:off x="3760556" y="2338028"/>
            <a:ext cx="1618522" cy="6587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Cual es su valor?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0"/>
          <p:cNvSpPr/>
          <p:nvPr/>
        </p:nvSpPr>
        <p:spPr>
          <a:xfrm>
            <a:off x="3756193" y="3672982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suplementario?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0"/>
          <p:cNvSpPr/>
          <p:nvPr/>
        </p:nvSpPr>
        <p:spPr>
          <a:xfrm>
            <a:off x="3756192" y="1037973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complementario?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60"/>
          <p:cNvSpPr/>
          <p:nvPr/>
        </p:nvSpPr>
        <p:spPr>
          <a:xfrm>
            <a:off x="964130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necesita?</a:t>
            </a:r>
            <a:endParaRPr sz="1100"/>
          </a:p>
        </p:txBody>
      </p:sp>
      <p:sp>
        <p:nvSpPr>
          <p:cNvPr id="427" name="Google Shape;427;p60"/>
          <p:cNvSpPr/>
          <p:nvPr/>
        </p:nvSpPr>
        <p:spPr>
          <a:xfrm>
            <a:off x="6548253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lo uso?</a:t>
            </a:r>
            <a:endParaRPr sz="1100"/>
          </a:p>
        </p:txBody>
      </p:sp>
      <p:cxnSp>
        <p:nvCxnSpPr>
          <p:cNvPr id="428" name="Google Shape;428;p60"/>
          <p:cNvCxnSpPr/>
          <p:nvPr/>
        </p:nvCxnSpPr>
        <p:spPr>
          <a:xfrm rot="10800000" flipH="1">
            <a:off x="2584403" y="2661296"/>
            <a:ext cx="1165685" cy="1657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29" name="Google Shape;429;p60"/>
          <p:cNvCxnSpPr/>
          <p:nvPr/>
        </p:nvCxnSpPr>
        <p:spPr>
          <a:xfrm rot="10800000" flipH="1">
            <a:off x="5378917" y="2676838"/>
            <a:ext cx="1165684" cy="785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30" name="Google Shape;430;p60"/>
          <p:cNvCxnSpPr/>
          <p:nvPr/>
        </p:nvCxnSpPr>
        <p:spPr>
          <a:xfrm>
            <a:off x="4554386" y="1694382"/>
            <a:ext cx="871" cy="63781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31" name="Google Shape;431;p60"/>
          <p:cNvCxnSpPr/>
          <p:nvPr/>
        </p:nvCxnSpPr>
        <p:spPr>
          <a:xfrm rot="10800000">
            <a:off x="4579526" y="2993399"/>
            <a:ext cx="3488" cy="72768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1"/>
          <p:cNvSpPr/>
          <p:nvPr/>
        </p:nvSpPr>
        <p:spPr>
          <a:xfrm>
            <a:off x="3764919" y="627891"/>
            <a:ext cx="1618522" cy="6587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Cual es su valor?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1"/>
          <p:cNvSpPr txBox="1"/>
          <p:nvPr/>
        </p:nvSpPr>
        <p:spPr>
          <a:xfrm>
            <a:off x="2493530" y="1642375"/>
            <a:ext cx="61371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Reducir el costo de:</a:t>
            </a:r>
            <a:endParaRPr sz="14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Entender y generar texto </a:t>
            </a:r>
            <a:r>
              <a:rPr lang="en" sz="1800">
                <a:solidFill>
                  <a:srgbClr val="595959"/>
                </a:solidFill>
              </a:rPr>
              <a:t>lógico en base a un contexto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2"/>
          <p:cNvSpPr/>
          <p:nvPr/>
        </p:nvSpPr>
        <p:spPr>
          <a:xfrm>
            <a:off x="3760556" y="2338028"/>
            <a:ext cx="1618522" cy="6587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Cual es su valor?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2"/>
          <p:cNvSpPr/>
          <p:nvPr/>
        </p:nvSpPr>
        <p:spPr>
          <a:xfrm>
            <a:off x="3756193" y="3672982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suplementario?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2"/>
          <p:cNvSpPr/>
          <p:nvPr/>
        </p:nvSpPr>
        <p:spPr>
          <a:xfrm>
            <a:off x="3756192" y="1037973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complementario?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2"/>
          <p:cNvSpPr/>
          <p:nvPr/>
        </p:nvSpPr>
        <p:spPr>
          <a:xfrm>
            <a:off x="964130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necesita?</a:t>
            </a:r>
            <a:endParaRPr sz="1100"/>
          </a:p>
        </p:txBody>
      </p:sp>
      <p:sp>
        <p:nvSpPr>
          <p:cNvPr id="446" name="Google Shape;446;p62"/>
          <p:cNvSpPr/>
          <p:nvPr/>
        </p:nvSpPr>
        <p:spPr>
          <a:xfrm>
            <a:off x="6548253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lo uso?</a:t>
            </a:r>
            <a:endParaRPr sz="1100"/>
          </a:p>
        </p:txBody>
      </p:sp>
      <p:cxnSp>
        <p:nvCxnSpPr>
          <p:cNvPr id="447" name="Google Shape;447;p62"/>
          <p:cNvCxnSpPr/>
          <p:nvPr/>
        </p:nvCxnSpPr>
        <p:spPr>
          <a:xfrm rot="10800000" flipH="1">
            <a:off x="2584403" y="2661296"/>
            <a:ext cx="1165685" cy="1657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48" name="Google Shape;448;p62"/>
          <p:cNvCxnSpPr/>
          <p:nvPr/>
        </p:nvCxnSpPr>
        <p:spPr>
          <a:xfrm rot="10800000" flipH="1">
            <a:off x="5378917" y="2676838"/>
            <a:ext cx="1165684" cy="785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49" name="Google Shape;449;p62"/>
          <p:cNvCxnSpPr/>
          <p:nvPr/>
        </p:nvCxnSpPr>
        <p:spPr>
          <a:xfrm>
            <a:off x="4554386" y="1694382"/>
            <a:ext cx="871" cy="63781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50" name="Google Shape;450;p62"/>
          <p:cNvCxnSpPr/>
          <p:nvPr/>
        </p:nvCxnSpPr>
        <p:spPr>
          <a:xfrm rot="10800000">
            <a:off x="4579526" y="2993399"/>
            <a:ext cx="3488" cy="72768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/>
          <p:nvPr/>
        </p:nvSpPr>
        <p:spPr>
          <a:xfrm>
            <a:off x="1278238" y="955084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suplementario?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63"/>
          <p:cNvSpPr/>
          <p:nvPr/>
        </p:nvSpPr>
        <p:spPr>
          <a:xfrm>
            <a:off x="5710635" y="955084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complementario?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3"/>
          <p:cNvSpPr txBox="1"/>
          <p:nvPr/>
        </p:nvSpPr>
        <p:spPr>
          <a:xfrm>
            <a:off x="699116" y="1919796"/>
            <a:ext cx="2785368" cy="109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Procesamiento repetitivo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Logicas simples</a:t>
            </a:r>
            <a:endParaRPr sz="1100"/>
          </a:p>
        </p:txBody>
      </p:sp>
      <p:sp>
        <p:nvSpPr>
          <p:cNvPr id="458" name="Google Shape;458;p63"/>
          <p:cNvSpPr txBox="1"/>
          <p:nvPr/>
        </p:nvSpPr>
        <p:spPr>
          <a:xfrm>
            <a:off x="5130183" y="1889834"/>
            <a:ext cx="27855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Procesos creativos</a:t>
            </a:r>
            <a:endParaRPr sz="1100"/>
          </a:p>
          <a:p>
            <a:pPr marL="21590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</a:rPr>
              <a:t>Lógicas</a:t>
            </a: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complejas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3"/>
          <p:cNvSpPr/>
          <p:nvPr/>
        </p:nvSpPr>
        <p:spPr>
          <a:xfrm>
            <a:off x="1412075" y="3466025"/>
            <a:ext cx="5921400" cy="90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+Potencia =&gt; + Suplementariedad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4"/>
          <p:cNvSpPr/>
          <p:nvPr/>
        </p:nvSpPr>
        <p:spPr>
          <a:xfrm>
            <a:off x="3760556" y="2338028"/>
            <a:ext cx="1618522" cy="6587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Cual es su valor?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4"/>
          <p:cNvSpPr/>
          <p:nvPr/>
        </p:nvSpPr>
        <p:spPr>
          <a:xfrm>
            <a:off x="3756193" y="3672982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suplementario?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4"/>
          <p:cNvSpPr/>
          <p:nvPr/>
        </p:nvSpPr>
        <p:spPr>
          <a:xfrm>
            <a:off x="3756192" y="1037973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es complementario?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4"/>
          <p:cNvSpPr/>
          <p:nvPr/>
        </p:nvSpPr>
        <p:spPr>
          <a:xfrm>
            <a:off x="964130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necesita?</a:t>
            </a:r>
            <a:endParaRPr sz="1100"/>
          </a:p>
        </p:txBody>
      </p:sp>
      <p:sp>
        <p:nvSpPr>
          <p:cNvPr id="468" name="Google Shape;468;p64"/>
          <p:cNvSpPr/>
          <p:nvPr/>
        </p:nvSpPr>
        <p:spPr>
          <a:xfrm>
            <a:off x="6548253" y="2342389"/>
            <a:ext cx="1622885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lo uso?</a:t>
            </a:r>
            <a:endParaRPr sz="1100"/>
          </a:p>
        </p:txBody>
      </p:sp>
      <p:cxnSp>
        <p:nvCxnSpPr>
          <p:cNvPr id="469" name="Google Shape;469;p64"/>
          <p:cNvCxnSpPr/>
          <p:nvPr/>
        </p:nvCxnSpPr>
        <p:spPr>
          <a:xfrm rot="10800000" flipH="1">
            <a:off x="2584403" y="2661296"/>
            <a:ext cx="1165685" cy="1657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70" name="Google Shape;470;p64"/>
          <p:cNvCxnSpPr/>
          <p:nvPr/>
        </p:nvCxnSpPr>
        <p:spPr>
          <a:xfrm rot="10800000" flipH="1">
            <a:off x="5378917" y="2676838"/>
            <a:ext cx="1165684" cy="785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71" name="Google Shape;471;p64"/>
          <p:cNvCxnSpPr/>
          <p:nvPr/>
        </p:nvCxnSpPr>
        <p:spPr>
          <a:xfrm>
            <a:off x="4554386" y="1694382"/>
            <a:ext cx="871" cy="63781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72" name="Google Shape;472;p64"/>
          <p:cNvCxnSpPr/>
          <p:nvPr/>
        </p:nvCxnSpPr>
        <p:spPr>
          <a:xfrm rot="10800000">
            <a:off x="4579526" y="2993399"/>
            <a:ext cx="3488" cy="72768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"/>
          <p:cNvSpPr/>
          <p:nvPr/>
        </p:nvSpPr>
        <p:spPr>
          <a:xfrm>
            <a:off x="1713142" y="706415"/>
            <a:ext cx="1622884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necesita?</a:t>
            </a:r>
            <a:endParaRPr sz="1100"/>
          </a:p>
        </p:txBody>
      </p:sp>
      <p:sp>
        <p:nvSpPr>
          <p:cNvPr id="478" name="Google Shape;478;p65"/>
          <p:cNvSpPr/>
          <p:nvPr/>
        </p:nvSpPr>
        <p:spPr>
          <a:xfrm>
            <a:off x="6356299" y="706415"/>
            <a:ext cx="1622884" cy="6631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lo uso?</a:t>
            </a:r>
            <a:endParaRPr sz="1100"/>
          </a:p>
        </p:txBody>
      </p:sp>
      <p:sp>
        <p:nvSpPr>
          <p:cNvPr id="479" name="Google Shape;479;p65"/>
          <p:cNvSpPr txBox="1"/>
          <p:nvPr/>
        </p:nvSpPr>
        <p:spPr>
          <a:xfrm>
            <a:off x="710227" y="1697850"/>
            <a:ext cx="4227300" cy="25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Computo</a:t>
            </a:r>
            <a:endParaRPr sz="1100"/>
          </a:p>
          <a:p>
            <a:pPr marL="215900" marR="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100"/>
          </a:p>
          <a:p>
            <a:pPr marL="215900" marR="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marL="558800" marR="0" lvl="1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muchos, los correcto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</a:rPr>
              <a:t>Alto ratio de información/token.</a:t>
            </a:r>
            <a:endParaRPr sz="1100"/>
          </a:p>
          <a:p>
            <a:pPr marL="558800" marR="0" lvl="1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Alta disponibilidad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Entendibles para humanos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5"/>
          <p:cNvSpPr txBox="1"/>
          <p:nvPr/>
        </p:nvSpPr>
        <p:spPr>
          <a:xfrm>
            <a:off x="5396513" y="1695635"/>
            <a:ext cx="3628800" cy="14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Voz</a:t>
            </a:r>
            <a:endParaRPr sz="1800">
              <a:solidFill>
                <a:srgbClr val="595959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Front</a:t>
            </a:r>
            <a:endParaRPr sz="1800">
              <a:solidFill>
                <a:srgbClr val="595959"/>
              </a:solidFill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</a:pPr>
            <a:r>
              <a:rPr lang="en" sz="1800">
                <a:solidFill>
                  <a:srgbClr val="595959"/>
                </a:solidFill>
              </a:rPr>
              <a:t>Canales de comunicación:</a:t>
            </a:r>
            <a:endParaRPr sz="1800">
              <a:solidFill>
                <a:srgbClr val="595959"/>
              </a:solidFill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" sz="1800">
                <a:solidFill>
                  <a:srgbClr val="595959"/>
                </a:solidFill>
              </a:rPr>
              <a:t>Llegada a clientes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 2: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“Segundo(y medio) año del GenAI, algunas reflexiones”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Las opiniones son no reflejan…</a:t>
            </a:r>
            <a:endParaRPr i="1"/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Frameworks todavía cambian constantemente: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Programa sabiendo que vas a refactorizar pronto</a:t>
            </a:r>
            <a:endParaRPr sz="1608"/>
          </a:p>
          <a:p>
            <a:pPr marL="1371600" lvl="2" indent="-31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8"/>
              <a:t>Modular</a:t>
            </a:r>
            <a:endParaRPr sz="1508"/>
          </a:p>
          <a:p>
            <a:pPr marL="1371600" lvl="2" indent="-31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8"/>
              <a:t>Sin sobre abstraer</a:t>
            </a:r>
            <a:endParaRPr sz="1508"/>
          </a:p>
          <a:p>
            <a:pPr marL="1371600" lvl="2" indent="-31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8"/>
              <a:t>Simplicidad sobre optimalidad</a:t>
            </a:r>
            <a:endParaRPr sz="1508"/>
          </a:p>
          <a:p>
            <a:pPr marL="457200" lvl="0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Copilots (i.e. Cursos, etc.) aumentan la eficiencia (pero en proyectos chicos todavia):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Todavía se marean en codebases grandes, donde entender la arquitectura no es trivial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Ante esto, quebrar sistemas en módulos pequeños (microservicios) apalanca mejor la aceleración de usar copilotos.</a:t>
            </a:r>
            <a:endParaRPr sz="1608"/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No hace más experto a un experto, lo hace más polivalente.</a:t>
            </a:r>
            <a:endParaRPr sz="1608"/>
          </a:p>
          <a:p>
            <a:pPr marL="457200" lvl="0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Tracing es “gratis”, úsenlo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Independiente de la complejidad, el prompt compilado debe pasar el </a:t>
            </a:r>
            <a:r>
              <a:rPr lang="en" sz="1908" i="1">
                <a:solidFill>
                  <a:schemeClr val="dk1"/>
                </a:solidFill>
              </a:rPr>
              <a:t>sniff test</a:t>
            </a:r>
            <a:endParaRPr sz="1908" i="1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A mayor potencia de modelo, mayor simpleza de arquitectura.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</a:rPr>
              <a:t>Si tu error rate es:</a:t>
            </a:r>
            <a:endParaRPr sz="1908">
              <a:solidFill>
                <a:schemeClr val="dk1"/>
              </a:solidFill>
            </a:endParaRPr>
          </a:p>
          <a:p>
            <a:pPr marL="914400" lvl="1" indent="-3315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8655"/>
              <a:buChar char="○"/>
            </a:pPr>
            <a:r>
              <a:rPr lang="en" sz="1608"/>
              <a:t>&gt; 50% no hay horno para bollos, espera a gpt5 o cambia de problema</a:t>
            </a:r>
            <a:endParaRPr sz="1908">
              <a:solidFill>
                <a:schemeClr val="dk1"/>
              </a:solidFill>
            </a:endParaRPr>
          </a:p>
          <a:p>
            <a:pPr marL="914400" marR="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&gt; 30%: Mala arquitectura</a:t>
            </a:r>
            <a:endParaRPr sz="1608"/>
          </a:p>
          <a:p>
            <a:pPr marL="914400" marR="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&gt;10%, &lt;30%: Falta mejora continua</a:t>
            </a:r>
            <a:endParaRPr sz="1608"/>
          </a:p>
          <a:p>
            <a:pPr marL="914400" marR="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8"/>
              <a:t>&lt;10%: Falta mas dataset</a:t>
            </a:r>
            <a:endParaRPr sz="16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/>
          <p:cNvSpPr txBox="1">
            <a:spLocks noGrp="1"/>
          </p:cNvSpPr>
          <p:nvPr>
            <p:ph type="subTitle" idx="4294967295"/>
          </p:nvPr>
        </p:nvSpPr>
        <p:spPr>
          <a:xfrm>
            <a:off x="261374" y="4133753"/>
            <a:ext cx="43107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">
                <a:solidFill>
                  <a:schemeClr val="lt1"/>
                </a:solidFill>
              </a:rPr>
              <a:t>Jose manuel Peña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>
                <a:solidFill>
                  <a:schemeClr val="lt1"/>
                </a:solidFill>
              </a:rPr>
              <a:t>jmp2260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">
                <a:solidFill>
                  <a:schemeClr val="lt1"/>
                </a:solidFill>
              </a:rPr>
              <a:t>columbia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>
                <a:solidFill>
                  <a:schemeClr val="lt1"/>
                </a:solidFill>
              </a:rPr>
              <a:t>edu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63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Capas semánticas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MCP: el USB-C de las integraciones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problema: N sistemas × M agentes = N×M adaptadores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Un protocolo abierto: el servidor declara sus capacidades una vez; cualquier cliente las entiende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Tres bloques, según quién decide usarlos: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Tools (el modelo) · Resources (la aplicación) · Prompts (el usuario)</a:t>
            </a:r>
            <a:endParaRPr sz="1608"/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Los esquemas se generan de los tipos: LLM-friendly por construcción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Transportes: stdio (herramientas locales) y streamable-http (servicios compartidos)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1: dos servidores y un agente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Dos servidores FastMCP mock de Valle Nevado: transacciones y pronóstico de nieve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Salida estructurada (Pydantic), resources por URI, logging y progreso (ctx)</a:t>
            </a:r>
            <a:endParaRPr sz="1608"/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cliente descubre las capacidades sin conocer los servidores (MultiServerMCPClient)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Un agente LangChain 1.x conectado a ambos por el protocolo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El contraste medido: la misma pregunta sin tools (se declara ignorante) y con MCP (datos reales)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SKILL.md: el estándar abierto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Conocimiento procedural empaquetado: cómo se hacen las cosas acá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Frontmatter (name + description, siempre visible) + cuerpo (se carga bajo demanda)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Progressive disclosure = inyección condicional de contexto — no hay magia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Estándar abierto (dic 2025): Claude Code, Codex, Copilot, Cursor, Gemini CLI y decenas más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La description es la pieza crítica: qué hace Y cuándo usarla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2: el mecanismo y la gestión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Un skill-loader en ~30 líneas sobre la API cruda de OpenAI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contraste medido: el parte de nieve con y sin skill (formato oficial verificado)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La cuenta de tokens: con 3 skills el loader pierde; la pendiente gana con ~50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Packmind: playbook central → la misma skill materializada para cada agente del equipo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Sin Packmind: distribuir_skill() casero — la distribución es lo fácil; la gobernanza es el producto</a:t>
            </a:r>
            <a:endParaRPr sz="1608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El LLM no conoce tu empresa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Los esquemas reales: nombres crípticos, joins sin declarar, monedas invisibles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trx_pos.mnt en pesos chilenos; res_agt.imp en pesos argentinos — y nada lo dice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El modelo a ciegas: o ignora tablas o suma pesos con pesos… equivocados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conocimiento tribal no está en el esquema: hay que escribirlo en un lugar consultable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Ese lugar es la capa semántica — y su forma natural es un grafo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3: la capa semántica en Neo4j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neocarta (Neo4j Labs): el esquema como grafo — Database → Schema → Table → Column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La ontología del equipo por escrito: dominios, métricas, monedas explícitas, joins por convención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Capas con procedencia: técnica (introspección), negocio (ontología), LLM (sinónimos)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Las preguntas que el grafo responde: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¿dónde viven los ingresos? ¿en qué moneda? ¿cómo se juntan estas tablas?</a:t>
            </a:r>
            <a:endParaRPr sz="1608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4: el agente SQL semántico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Dos herramientas y un método: leer_cypher + ejecutar_sql (solo lectura, con guardas estructurales)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DESCUBRIR → VERIFICAR → CALCULAR → EXPLICAR: primero entender, después calcular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contraste con juez imparcial: el agente a ciegas fabrica un total que no existe; el informado descubre la moneda en el grafo y convierte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recorrido dibujado: el subgrafo que el agente caminó, paso a paso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6: dibujar a ciegas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test del unicornio (Sparks of AGI, 2023) con los modelos de hoy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TikZ: texto → compilar → imagen; el modelo dibuja sin ver jamás el resultado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3 modelos × 4 dibujos; los fracasos de compilación también son dato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juez visual: un modelo con visión mira cada dibujo y lo puntúa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Texto → código → imagen → juicio visual: el círculo multimodal completo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>
            <a:spLocks noGrp="1"/>
          </p:cNvSpPr>
          <p:nvPr>
            <p:ph type="title"/>
          </p:nvPr>
        </p:nvSpPr>
        <p:spPr>
          <a:xfrm>
            <a:off x="623888" y="76438"/>
            <a:ext cx="7886700" cy="377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Lección 5: el sandbox de Anthropic</a:t>
            </a:r>
          </a:p>
        </p:txBody>
      </p:sp>
      <p:sp>
        <p:nvSpPr>
          <p:cNvPr id="491" name="Google Shape;491;p67"/>
          <p:cNvSpPr txBox="1">
            <a:spLocks noGrp="1"/>
          </p:cNvSpPr>
          <p:nvPr>
            <p:ph type="body" idx="1"/>
          </p:nvPr>
        </p:nvSpPr>
        <p:spPr>
          <a:xfrm>
            <a:off x="276500" y="809725"/>
            <a:ext cx="8472600" cy="395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La tool code_execution: un contenedor gestionado — sin internet, pandas incluido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CSV por Files API, artefactos de vuelta, contenedor persistente entre llamadas</a:t>
            </a:r>
            <a:endParaRPr sz="1908">
              <a:solidFill>
                <a:schemeClr val="dk1"/>
              </a:solidFill>
            </a:endParaRPr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08">
                <a:solidFill>
                  <a:schemeClr val="dk1"/>
                </a:solidFill>
              </a:rPr>
              <a:t>El contraste: tool-calling puro (menú fijo) vs escribir pandas — mediana, correlación, R²</a:t>
            </a:r>
            <a:endParaRPr sz="1908">
              <a:solidFill>
                <a:schemeClr val="dk1"/>
              </a:solidFill>
            </a:endParaRPr>
          </a:p>
          <a:p>
            <a:pPr marL="914400" lvl="1" indent="-31539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608"/>
              <a:t>El de menú fijo declara su techo honestamente; el de código no tiene ese techo</a:t>
            </a:r>
            <a:endParaRPr sz="1608"/>
          </a:p>
          <a:p>
            <a:pPr marL="457200" lvl="0" indent="-33159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b="1" sz="1908">
                <a:solidFill>
                  <a:schemeClr val="dk1"/>
                </a:solidFill>
              </a:rPr>
              <a:t>La regla: el código del modelo jamás corre donde corre tu aplicación</a:t>
            </a:r>
            <a:endParaRPr sz="1908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Macintosh PowerPoint</Application>
  <PresentationFormat>On-screen Show (16:9)</PresentationFormat>
  <Paragraphs>197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Times</vt:lpstr>
      <vt:lpstr>Poppins</vt:lpstr>
      <vt:lpstr>Calibri</vt:lpstr>
      <vt:lpstr>Poppins Medium</vt:lpstr>
      <vt:lpstr>Raleway</vt:lpstr>
      <vt:lpstr>Tema de Office</vt:lpstr>
      <vt:lpstr>Plum</vt:lpstr>
      <vt:lpstr>Diplomado de Extensión en IA Generativa para Organizaciones  Modulo 5, Clase 5: Multimodalidad e integración</vt:lpstr>
      <vt:lpstr>Temario</vt:lpstr>
      <vt:lpstr>2024: el inicio de la multimodalidad</vt:lpstr>
      <vt:lpstr>Que es Multimodalidad?: LLM vs MLLM (o MLM)</vt:lpstr>
      <vt:lpstr>Importancia de la multimodalidad</vt:lpstr>
      <vt:lpstr>Como funciona?</vt:lpstr>
      <vt:lpstr>Como funciona?</vt:lpstr>
      <vt:lpstr>Como funciona?: CLIP   (Contrastive Language-Image Pre-training)</vt:lpstr>
      <vt:lpstr>Como funciona?: CLIP</vt:lpstr>
      <vt:lpstr>Expandiendo Clip: LLaVA</vt:lpstr>
      <vt:lpstr>Evaluando LLMs multimodales:  La prueba del Unicornio</vt:lpstr>
      <vt:lpstr>Caso de uso: Agent mode</vt:lpstr>
      <vt:lpstr>WebVoyager</vt:lpstr>
      <vt:lpstr>Ejemplo:  Pictionary</vt:lpstr>
      <vt:lpstr>https://github.com/jose-mdz/draw-and-guess/tree/main/src/lib  https://draw.geeksplainer.wtf/</vt:lpstr>
      <vt:lpstr>Ejemplo:  Educación</vt:lpstr>
      <vt:lpstr>GPT Visión en educación</vt:lpstr>
      <vt:lpstr>Anexo:  MCPs</vt:lpstr>
      <vt:lpstr>Anexo:  Code 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Anexo:  “GenAI, consideraciones estratégicas”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 2:  “Segundo(y medio) año del GenAI, algunas reflexiones”</vt:lpstr>
      <vt:lpstr>Las opiniones son no reflejan…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José Manuel Peña Mendez</cp:lastModifiedBy>
  <cp:revision>1</cp:revision>
  <dcterms:modified xsi:type="dcterms:W3CDTF">2026-01-14T14:00:15Z</dcterms:modified>
</cp:coreProperties>
</file>