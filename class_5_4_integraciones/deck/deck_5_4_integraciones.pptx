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  <p:sldMasterId id="2147483677" r:id="rId2"/>
  </p:sldMasterIdLst>
  <p:notesMasterIdLst>
    <p:notesMasterId r:id="rId38"/>
  </p:notesMasterIdLst>
  <p:sldIdLst>
    <p:sldId id="256" r:id="rId3"/>
    <p:sldId id="257" r:id="rId4"/>
    <p:sldId id="273" r:id="rId20"/>
    <p:sldId id="296" r:id="rId57"/>
    <p:sldId id="297" r:id="rId58"/>
    <p:sldId id="294" r:id="rId55"/>
    <p:sldId id="298" r:id="rId59"/>
    <p:sldId id="299" r:id="rId60"/>
    <p:sldId id="295" r:id="rId56"/>
    <p:sldId id="305" r:id="rId66"/>
    <p:sldId id="306" r:id="rId67"/>
    <p:sldId id="300" r:id="rId61"/>
    <p:sldId id="301" r:id="rId62"/>
    <p:sldId id="307" r:id="rId68"/>
    <p:sldId id="308" r:id="rId69"/>
    <p:sldId id="302" r:id="rId63"/>
    <p:sldId id="274" r:id="rId21"/>
    <p:sldId id="275" r:id="rId22"/>
    <p:sldId id="276" r:id="rId23"/>
    <p:sldId id="277" r:id="rId24"/>
    <p:sldId id="278" r:id="rId25"/>
    <p:sldId id="279" r:id="rId26"/>
    <p:sldId id="304" r:id="rId65"/>
    <p:sldId id="280" r:id="rId27"/>
    <p:sldId id="266" r:id="rId13"/>
    <p:sldId id="303" r:id="rId64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</p:sldIdLst>
  <p:sldSz cx="9144000" cy="5143500" type="screen16x9"/>
  <p:notesSz cx="6858000" cy="9144000"/>
  <p:embeddedFontLst>
    <p:embeddedFont>
      <p:font typeface="Poppins" pitchFamily="2" charset="77"/>
      <p:regular r:id="rId39"/>
      <p:bold r:id="rId40"/>
      <p:italic r:id="rId41"/>
      <p:boldItalic r:id="rId42"/>
    </p:embeddedFont>
    <p:embeddedFont>
      <p:font typeface="Poppins Medium" panose="00000600000000000000" pitchFamily="2" charset="77"/>
      <p:regular r:id="rId43"/>
      <p:bold r:id="rId44"/>
      <p:italic r:id="rId45"/>
      <p:boldItalic r:id="rId46"/>
    </p:embeddedFont>
    <p:embeddedFont>
      <p:font typeface="Raleway" pitchFamily="2" charset="77"/>
      <p:regular r:id="rId47"/>
      <p:bold r:id="rId48"/>
      <p:italic r:id="rId49"/>
      <p:bold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432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13" Type="http://schemas.openxmlformats.org/officeDocument/2006/relationships/slide" Target="slides/slide25.xml"/><Relationship Id="rId20" Type="http://schemas.openxmlformats.org/officeDocument/2006/relationships/slide" Target="slides/slide3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4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font" Target="fonts/font1.fntdata"/><Relationship Id="rId40" Type="http://schemas.openxmlformats.org/officeDocument/2006/relationships/font" Target="fonts/font2.fntdata"/><Relationship Id="rId41" Type="http://schemas.openxmlformats.org/officeDocument/2006/relationships/font" Target="fonts/font3.fntdata"/><Relationship Id="rId42" Type="http://schemas.openxmlformats.org/officeDocument/2006/relationships/font" Target="fonts/font4.fntdata"/><Relationship Id="rId43" Type="http://schemas.openxmlformats.org/officeDocument/2006/relationships/font" Target="fonts/font5.fntdata"/><Relationship Id="rId44" Type="http://schemas.openxmlformats.org/officeDocument/2006/relationships/font" Target="fonts/font6.fntdata"/><Relationship Id="rId45" Type="http://schemas.openxmlformats.org/officeDocument/2006/relationships/font" Target="fonts/font7.fntdata"/><Relationship Id="rId46" Type="http://schemas.openxmlformats.org/officeDocument/2006/relationships/font" Target="fonts/font8.fntdata"/><Relationship Id="rId47" Type="http://schemas.openxmlformats.org/officeDocument/2006/relationships/font" Target="fonts/font9.fntdata"/><Relationship Id="rId48" Type="http://schemas.openxmlformats.org/officeDocument/2006/relationships/font" Target="fonts/font10.fntdata"/><Relationship Id="rId49" Type="http://schemas.openxmlformats.org/officeDocument/2006/relationships/font" Target="fonts/font11.fntdata"/><Relationship Id="rId50" Type="http://schemas.openxmlformats.org/officeDocument/2006/relationships/font" Target="fonts/font12.fntdata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openxmlformats.org/officeDocument/2006/relationships/slide" Target="slides/slide6.xml"/><Relationship Id="rId56" Type="http://schemas.openxmlformats.org/officeDocument/2006/relationships/slide" Target="slides/slide9.xml"/><Relationship Id="rId57" Type="http://schemas.openxmlformats.org/officeDocument/2006/relationships/slide" Target="slides/slide4.xml"/><Relationship Id="rId58" Type="http://schemas.openxmlformats.org/officeDocument/2006/relationships/slide" Target="slides/slide5.xml"/><Relationship Id="rId59" Type="http://schemas.openxmlformats.org/officeDocument/2006/relationships/slide" Target="slides/slide7.xml"/><Relationship Id="rId60" Type="http://schemas.openxmlformats.org/officeDocument/2006/relationships/slide" Target="slides/slide8.xml"/><Relationship Id="rId61" Type="http://schemas.openxmlformats.org/officeDocument/2006/relationships/slide" Target="slides/slide12.xml"/><Relationship Id="rId62" Type="http://schemas.openxmlformats.org/officeDocument/2006/relationships/slide" Target="slides/slide13.xml"/><Relationship Id="rId63" Type="http://schemas.openxmlformats.org/officeDocument/2006/relationships/slide" Target="slides/slide16.xml"/><Relationship Id="rId64" Type="http://schemas.openxmlformats.org/officeDocument/2006/relationships/slide" Target="slides/slide26.xml"/><Relationship Id="rId65" Type="http://schemas.openxmlformats.org/officeDocument/2006/relationships/slide" Target="slides/slide23.xml"/><Relationship Id="rId66" Type="http://schemas.openxmlformats.org/officeDocument/2006/relationships/slide" Target="slides/slide10.xml"/><Relationship Id="rId67" Type="http://schemas.openxmlformats.org/officeDocument/2006/relationships/slide" Target="slides/slide11.xml"/><Relationship Id="rId68" Type="http://schemas.openxmlformats.org/officeDocument/2006/relationships/slide" Target="slides/slide14.xml"/><Relationship Id="rId6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fb797ca148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g2fb797ca148_0_9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3" name="Google Shape;153;g2fb797ca148_0_9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e28860a8e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2e28860a8e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2fc0828f8c5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2fc0828f8c5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7926ef20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7926ef20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7926ef2065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7926ef2065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7926ef2065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7926ef2065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7926ef2065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37926ef2065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Resumen: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Cambio de uso de listados de herramientas, a correr snippets de codigo, donde las capacidades vienen definidas por las librerias importables en el ambiente de ejecucion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PROS: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Compostabilidad de herramientas (for, loops)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Menos pasos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Error analysis y recovery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El espacio de accion al final es turing copleto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7926ef2065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7926ef2065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En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7926ef2065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7926ef2065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 el fondo, aca lo que vemos es que un set fijo de acciones fijado por herramientas en este loop cerrado tool-&gt; respuesta, sin una memoria endosada no puede iterar por una lista arbitraria, lo hace mas parecido a una maquina de estado finita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Mienstras que ejecutar codigo por definicion si es una maquina turing completa, apalancando la flexibilidad completa de la ejecucion de codigo.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7926ef2065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37926ef2065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7926ef2065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37926ef2065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 les voy a mostrar una demo del agente correingo,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. tiene un front simple tipo chat gpt donde podemos ver la conversacion, y a la derecha podemos hacer el human in the loop para que revisemos lo que esta haciendo el agente y giuiarlo a nuestro gusto.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2fb797ca148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2fb797ca148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2fb7cfddddd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1" name="Google Shape;421;g2fb7cfddddd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fb7cfddddd_1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4" name="Google Shape;434;g2fb7cfddddd_1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2fb7cfddddd_1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0" name="Google Shape;440;g2fb7cfddddd_1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fb7cfddddd_1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3" name="Google Shape;453;g2fb7cfddddd_1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2fb7cfddddd_1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2" name="Google Shape;462;g2fb7cfddddd_1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2fb7cfddddd_1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5" name="Google Shape;475;g2fb7cfddddd_1_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2fb797ca148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2fb797ca148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2859a7423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Google Shape;488;g2859a7423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fc0828f8c5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4" name="Google Shape;494;g2fc0828f8c5_0_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95" name="Google Shape;495;g2fc0828f8c5_0_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35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Diapositiva de título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143000" y="2167386"/>
            <a:ext cx="6858000" cy="10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Calibri"/>
              <a:buNone/>
              <a:defRPr sz="33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13" name="Google Shape;13;p2"/>
          <p:cNvCxnSpPr/>
          <p:nvPr/>
        </p:nvCxnSpPr>
        <p:spPr>
          <a:xfrm>
            <a:off x="3817096" y="3944462"/>
            <a:ext cx="15099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" name="Google Shape;14;p2"/>
          <p:cNvSpPr txBox="1"/>
          <p:nvPr/>
        </p:nvSpPr>
        <p:spPr>
          <a:xfrm>
            <a:off x="1" y="4821596"/>
            <a:ext cx="91440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Departamento de Control de Gestión y Sistemas de Información | Facultad de Economía y Negocios | Universidad de Chile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5343613" y="893286"/>
            <a:ext cx="23601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628650" y="657087"/>
            <a:ext cx="64881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1800"/>
              <a:buFont typeface="Calibri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628650" y="1008529"/>
            <a:ext cx="7886700" cy="36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Google Shape;20;p3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lang="en" sz="900" b="1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content slide">
  <p:cSld name="Main content slid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381000" y="259797"/>
            <a:ext cx="8134500" cy="3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2400"/>
              <a:buFont typeface="Poppins"/>
              <a:buNone/>
              <a:defRPr b="0" i="0">
                <a:latin typeface="Poppins"/>
                <a:ea typeface="Poppins"/>
                <a:cs typeface="Poppins"/>
                <a:sym typeface="Poppi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1"/>
          </p:nvPr>
        </p:nvSpPr>
        <p:spPr>
          <a:xfrm>
            <a:off x="381000" y="595222"/>
            <a:ext cx="8134500" cy="405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b="0" i="0"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b="0" i="0"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0" i="0"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0" i="0"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ldNum" idx="12"/>
          </p:nvPr>
        </p:nvSpPr>
        <p:spPr>
          <a:xfrm>
            <a:off x="381000" y="4654550"/>
            <a:ext cx="2057400" cy="1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 final">
  <p:cSld name="Portada final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" name="Google Shape;28;p5"/>
          <p:cNvSpPr txBox="1"/>
          <p:nvPr/>
        </p:nvSpPr>
        <p:spPr>
          <a:xfrm>
            <a:off x="279918" y="3112435"/>
            <a:ext cx="3862800" cy="11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+56 2 2978 3565 | contacto@uejecutivos.cl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Facultad de Economía y Negocios: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Diagonal Paraguay 257, Piso 6, Santiago.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Campus oriente: Av. Nueva Los Leones 0222, Providencia.</a:t>
            </a:r>
            <a:endParaRPr sz="11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" name="Google Shape;29;p5"/>
          <p:cNvCxnSpPr/>
          <p:nvPr/>
        </p:nvCxnSpPr>
        <p:spPr>
          <a:xfrm>
            <a:off x="346108" y="4259370"/>
            <a:ext cx="37266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623888" y="576263"/>
            <a:ext cx="78867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1800"/>
              <a:buFont typeface="Calibri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1"/>
          </p:nvPr>
        </p:nvSpPr>
        <p:spPr>
          <a:xfrm>
            <a:off x="623888" y="1079816"/>
            <a:ext cx="78867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" name="Google Shape;34;p6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6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lang="en" sz="900" b="1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628650" y="834607"/>
            <a:ext cx="6488100" cy="6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628650" y="1567222"/>
            <a:ext cx="3886200" cy="30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4629150" y="1567222"/>
            <a:ext cx="3886200" cy="30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sldNum" idx="12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" name="Google Shape;41;p7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7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lang="en" sz="900" b="1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8"/>
          <p:cNvSpPr txBox="1">
            <a:spLocks noGrp="1"/>
          </p:cNvSpPr>
          <p:nvPr>
            <p:ph type="title"/>
          </p:nvPr>
        </p:nvSpPr>
        <p:spPr>
          <a:xfrm>
            <a:off x="629841" y="753380"/>
            <a:ext cx="6461100" cy="6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1"/>
          </p:nvPr>
        </p:nvSpPr>
        <p:spPr>
          <a:xfrm>
            <a:off x="629841" y="1483046"/>
            <a:ext cx="38682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2"/>
          </p:nvPr>
        </p:nvSpPr>
        <p:spPr>
          <a:xfrm>
            <a:off x="629841" y="2100864"/>
            <a:ext cx="3868200" cy="25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3"/>
          </p:nvPr>
        </p:nvSpPr>
        <p:spPr>
          <a:xfrm>
            <a:off x="4629150" y="1483046"/>
            <a:ext cx="388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4"/>
          </p:nvPr>
        </p:nvSpPr>
        <p:spPr>
          <a:xfrm>
            <a:off x="4629150" y="2100863"/>
            <a:ext cx="3887400" cy="25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0" name="Google Shape;50;p8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8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lang="en" sz="900" b="1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9"/>
          <p:cNvSpPr txBox="1">
            <a:spLocks noGrp="1"/>
          </p:cNvSpPr>
          <p:nvPr>
            <p:ph type="title"/>
          </p:nvPr>
        </p:nvSpPr>
        <p:spPr>
          <a:xfrm>
            <a:off x="628650" y="834607"/>
            <a:ext cx="6488100" cy="6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" name="Google Shape;55;p9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9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lang="en" sz="900" b="1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>
            <a:spLocks noGrp="1"/>
          </p:cNvSpPr>
          <p:nvPr>
            <p:ph type="sldNum" idx="12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9" name="Google Shape;59;p10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0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lang="en" sz="900" b="1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629841" y="740568"/>
            <a:ext cx="2949300" cy="12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 txBox="1">
            <a:spLocks noGrp="1"/>
          </p:cNvSpPr>
          <p:nvPr>
            <p:ph type="body" idx="1"/>
          </p:nvPr>
        </p:nvSpPr>
        <p:spPr>
          <a:xfrm>
            <a:off x="3887391" y="1015760"/>
            <a:ext cx="4629300" cy="3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2"/>
          </p:nvPr>
        </p:nvSpPr>
        <p:spPr>
          <a:xfrm>
            <a:off x="629841" y="1979762"/>
            <a:ext cx="2949300" cy="242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sldNum" idx="12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" name="Google Shape;66;p11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11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lang="en" sz="900" b="1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629841" y="740568"/>
            <a:ext cx="2949300" cy="10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>
            <a:spLocks noGrp="1"/>
          </p:cNvSpPr>
          <p:nvPr>
            <p:ph type="pic" idx="2"/>
          </p:nvPr>
        </p:nvSpPr>
        <p:spPr>
          <a:xfrm>
            <a:off x="3887391" y="1061049"/>
            <a:ext cx="4629300" cy="33348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2"/>
          <p:cNvSpPr txBox="1">
            <a:spLocks noGrp="1"/>
          </p:cNvSpPr>
          <p:nvPr>
            <p:ph type="body" idx="1"/>
          </p:nvPr>
        </p:nvSpPr>
        <p:spPr>
          <a:xfrm>
            <a:off x="629841" y="1785667"/>
            <a:ext cx="2949300" cy="26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sldNum" idx="12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" name="Google Shape;73;p12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2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lang="en" sz="900" b="1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3"/>
          <p:cNvSpPr txBox="1">
            <a:spLocks noGrp="1"/>
          </p:cNvSpPr>
          <p:nvPr>
            <p:ph type="title"/>
          </p:nvPr>
        </p:nvSpPr>
        <p:spPr>
          <a:xfrm>
            <a:off x="628650" y="834607"/>
            <a:ext cx="6488100" cy="6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body" idx="1"/>
          </p:nvPr>
        </p:nvSpPr>
        <p:spPr>
          <a:xfrm rot="5400000">
            <a:off x="3079800" y="-802700"/>
            <a:ext cx="2984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sldNum" idx="12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13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3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lang="en" sz="900" b="1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4"/>
          <p:cNvSpPr txBox="1">
            <a:spLocks noGrp="1"/>
          </p:cNvSpPr>
          <p:nvPr>
            <p:ph type="title"/>
          </p:nvPr>
        </p:nvSpPr>
        <p:spPr>
          <a:xfrm rot="5400000">
            <a:off x="5746950" y="1864318"/>
            <a:ext cx="35652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4"/>
          <p:cNvSpPr txBox="1">
            <a:spLocks noGrp="1"/>
          </p:cNvSpPr>
          <p:nvPr>
            <p:ph type="body" idx="1"/>
          </p:nvPr>
        </p:nvSpPr>
        <p:spPr>
          <a:xfrm rot="5400000">
            <a:off x="1589325" y="-207372"/>
            <a:ext cx="38793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4"/>
          <p:cNvSpPr txBox="1">
            <a:spLocks noGrp="1"/>
          </p:cNvSpPr>
          <p:nvPr>
            <p:ph type="sldNum" idx="12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5" name="Google Shape;85;p14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4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lang="en" sz="900" b="1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rtl="0">
              <a:spcBef>
                <a:spcPts val="8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2900" rtl="0"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23850" rtl="0">
              <a:spcBef>
                <a:spcPts val="4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175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3" name="Google Shape;93;p1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94" name="Google Shape;9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_1">
  <p:cSld name="SECTION_HEADER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_2">
  <p:cSld name="SECTION_HEADER_2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2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7" name="Google Shape;107;p20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/>
          <p:nvPr/>
        </p:nvSpPr>
        <p:spPr>
          <a:xfrm>
            <a:off x="4636800" y="80700"/>
            <a:ext cx="4426500" cy="498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0" name="Google Shape;110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1" name="Google Shape;111;p21"/>
          <p:cNvSpPr txBox="1">
            <a:spLocks noGrp="1"/>
          </p:cNvSpPr>
          <p:nvPr>
            <p:ph type="title"/>
          </p:nvPr>
        </p:nvSpPr>
        <p:spPr>
          <a:xfrm>
            <a:off x="265500" y="1181700"/>
            <a:ext cx="4045200" cy="15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3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3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3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3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3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3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3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3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3800"/>
            </a:lvl9pPr>
          </a:lstStyle>
          <a:p>
            <a:endParaRPr/>
          </a:p>
        </p:txBody>
      </p:sp>
      <p:sp>
        <p:nvSpPr>
          <p:cNvPr id="112" name="Google Shape;112;p21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9pPr>
          </a:lstStyle>
          <a:p>
            <a:endParaRPr/>
          </a:p>
        </p:txBody>
      </p:sp>
      <p:sp>
        <p:nvSpPr>
          <p:cNvPr id="113" name="Google Shape;113;p21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/>
          <p:nvPr/>
        </p:nvSpPr>
        <p:spPr>
          <a:xfrm>
            <a:off x="80700" y="2651100"/>
            <a:ext cx="8982600" cy="241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None/>
            </a:pPr>
            <a:endParaRPr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3"/>
          <p:cNvSpPr txBox="1">
            <a:spLocks noGrp="1"/>
          </p:cNvSpPr>
          <p:nvPr>
            <p:ph type="ctrTitle"/>
          </p:nvPr>
        </p:nvSpPr>
        <p:spPr>
          <a:xfrm>
            <a:off x="485875" y="264475"/>
            <a:ext cx="8183700" cy="14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200"/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ubTitle" idx="1"/>
          </p:nvPr>
        </p:nvSpPr>
        <p:spPr>
          <a:xfrm>
            <a:off x="485875" y="1738075"/>
            <a:ext cx="8183700" cy="86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/>
          <p:nvPr/>
        </p:nvSpPr>
        <p:spPr>
          <a:xfrm>
            <a:off x="80700" y="2651100"/>
            <a:ext cx="8982600" cy="241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None/>
            </a:pPr>
            <a:endParaRPr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24"/>
          <p:cNvSpPr txBox="1">
            <a:spLocks noGrp="1"/>
          </p:cNvSpPr>
          <p:nvPr>
            <p:ph type="title"/>
          </p:nvPr>
        </p:nvSpPr>
        <p:spPr>
          <a:xfrm>
            <a:off x="485875" y="1714500"/>
            <a:ext cx="8183700" cy="7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9pPr>
          </a:lstStyle>
          <a:p>
            <a:endParaRPr/>
          </a:p>
        </p:txBody>
      </p:sp>
      <p:sp>
        <p:nvSpPr>
          <p:cNvPr id="127" name="Google Shape;127;p2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400"/>
            </a:lvl1pPr>
            <a:lvl2pPr marL="914400" lvl="1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2pPr>
            <a:lvl3pPr marL="1371600" lvl="2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3pPr>
            <a:lvl4pPr marL="1828800" lvl="3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1200"/>
            </a:lvl4pPr>
            <a:lvl5pPr marL="2286000" lvl="4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5pPr>
            <a:lvl6pPr marL="2743200" lvl="5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6pPr>
            <a:lvl7pPr marL="3200400" lvl="6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1200"/>
            </a:lvl7pPr>
            <a:lvl8pPr marL="3657600" lvl="7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8pPr>
            <a:lvl9pPr marL="4114800" lvl="8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9pPr>
          </a:lstStyle>
          <a:p>
            <a:endParaRPr/>
          </a:p>
        </p:txBody>
      </p:sp>
      <p:sp>
        <p:nvSpPr>
          <p:cNvPr id="131" name="Google Shape;131;p2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400"/>
            </a:lvl1pPr>
            <a:lvl2pPr marL="914400" lvl="1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2pPr>
            <a:lvl3pPr marL="1371600" lvl="2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3pPr>
            <a:lvl4pPr marL="1828800" lvl="3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1200"/>
            </a:lvl4pPr>
            <a:lvl5pPr marL="2286000" lvl="4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5pPr>
            <a:lvl6pPr marL="2743200" lvl="5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6pPr>
            <a:lvl7pPr marL="3200400" lvl="6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1200"/>
            </a:lvl7pPr>
            <a:lvl8pPr marL="3657600" lvl="7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8pPr>
            <a:lvl9pPr marL="4114800" lvl="8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9pPr>
          </a:lstStyle>
          <a:p>
            <a:endParaRPr/>
          </a:p>
        </p:txBody>
      </p:sp>
      <p:sp>
        <p:nvSpPr>
          <p:cNvPr id="132" name="Google Shape;132;p25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26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38" name="Google Shape;138;p2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1200"/>
            </a:lvl1pPr>
            <a:lvl2pPr marL="914400" lvl="1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2pPr>
            <a:lvl3pPr marL="1371600" lvl="2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3pPr>
            <a:lvl4pPr marL="1828800" lvl="3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1200"/>
            </a:lvl4pPr>
            <a:lvl5pPr marL="2286000" lvl="4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5pPr>
            <a:lvl6pPr marL="2743200" lvl="5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6pPr>
            <a:lvl7pPr marL="3200400" lvl="6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1200"/>
            </a:lvl7pPr>
            <a:lvl8pPr marL="3657600" lvl="7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○"/>
              <a:defRPr sz="1200"/>
            </a:lvl8pPr>
            <a:lvl9pPr marL="4114800" lvl="8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■"/>
              <a:defRPr sz="1200"/>
            </a:lvl9pPr>
          </a:lstStyle>
          <a:p>
            <a:endParaRPr/>
          </a:p>
        </p:txBody>
      </p:sp>
      <p:sp>
        <p:nvSpPr>
          <p:cNvPr id="139" name="Google Shape;139;p2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00"/>
            </a:lvl1pPr>
          </a:lstStyle>
          <a:p>
            <a:endParaRPr/>
          </a:p>
        </p:txBody>
      </p:sp>
      <p:sp>
        <p:nvSpPr>
          <p:cNvPr id="142" name="Google Shape;142;p28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9"/>
          <p:cNvSpPr/>
          <p:nvPr/>
        </p:nvSpPr>
        <p:spPr>
          <a:xfrm>
            <a:off x="80700" y="2651100"/>
            <a:ext cx="8982600" cy="241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None/>
            </a:pPr>
            <a:endParaRPr sz="19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9"/>
          <p:cNvSpPr txBox="1">
            <a:spLocks noGrp="1"/>
          </p:cNvSpPr>
          <p:nvPr>
            <p:ph type="title" hasCustomPrompt="1"/>
          </p:nvPr>
        </p:nvSpPr>
        <p:spPr>
          <a:xfrm>
            <a:off x="311700" y="743001"/>
            <a:ext cx="8520600" cy="20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Font typeface="Arial"/>
              <a:buNone/>
              <a:defRPr sz="1200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Font typeface="Arial"/>
              <a:buNone/>
              <a:defRPr sz="12000">
                <a:latin typeface="Arial"/>
                <a:ea typeface="Arial"/>
                <a:cs typeface="Arial"/>
                <a:sym typeface="Arial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Font typeface="Arial"/>
              <a:buNone/>
              <a:defRPr sz="12000">
                <a:latin typeface="Arial"/>
                <a:ea typeface="Arial"/>
                <a:cs typeface="Arial"/>
                <a:sym typeface="Arial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Font typeface="Arial"/>
              <a:buNone/>
              <a:defRPr sz="12000">
                <a:latin typeface="Arial"/>
                <a:ea typeface="Arial"/>
                <a:cs typeface="Arial"/>
                <a:sym typeface="Arial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Font typeface="Arial"/>
              <a:buNone/>
              <a:defRPr sz="12000">
                <a:latin typeface="Arial"/>
                <a:ea typeface="Arial"/>
                <a:cs typeface="Arial"/>
                <a:sym typeface="Arial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Font typeface="Arial"/>
              <a:buNone/>
              <a:defRPr sz="12000">
                <a:latin typeface="Arial"/>
                <a:ea typeface="Arial"/>
                <a:cs typeface="Arial"/>
                <a:sym typeface="Arial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Font typeface="Arial"/>
              <a:buNone/>
              <a:defRPr sz="12000">
                <a:latin typeface="Arial"/>
                <a:ea typeface="Arial"/>
                <a:cs typeface="Arial"/>
                <a:sym typeface="Arial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Font typeface="Arial"/>
              <a:buNone/>
              <a:defRPr sz="12000">
                <a:latin typeface="Arial"/>
                <a:ea typeface="Arial"/>
                <a:cs typeface="Arial"/>
                <a:sym typeface="Arial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Font typeface="Arial"/>
              <a:buNone/>
              <a:defRPr sz="12000"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t>xx%</a:t>
            </a:r>
          </a:p>
        </p:txBody>
      </p:sp>
      <p:sp>
        <p:nvSpPr>
          <p:cNvPr id="146" name="Google Shape;146;p29"/>
          <p:cNvSpPr txBox="1">
            <a:spLocks noGrp="1"/>
          </p:cNvSpPr>
          <p:nvPr>
            <p:ph type="body" idx="1"/>
          </p:nvPr>
        </p:nvSpPr>
        <p:spPr>
          <a:xfrm>
            <a:off x="311700" y="2845182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lvl="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29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0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jp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9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628650" y="834607"/>
            <a:ext cx="6488100" cy="6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28650" y="1648450"/>
            <a:ext cx="7886700" cy="29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3686746" y="4981575"/>
            <a:ext cx="17919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" sz="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Calificación: Publico, apto para su distribución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"/>
          <p:cNvSpPr txBox="1"/>
          <p:nvPr/>
        </p:nvSpPr>
        <p:spPr>
          <a:xfrm>
            <a:off x="3686746" y="4981575"/>
            <a:ext cx="17919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" sz="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Calificación: Publico, apto para su distribución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lum">
    <p:bg>
      <p:bgPr>
        <a:solidFill>
          <a:schemeClr val="lt1"/>
        </a:soli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Raleway"/>
              <a:buNone/>
              <a:defRPr sz="23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Raleway"/>
              <a:buNone/>
              <a:defRPr sz="23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Raleway"/>
              <a:buNone/>
              <a:defRPr sz="23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Raleway"/>
              <a:buNone/>
              <a:defRPr sz="23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Raleway"/>
              <a:buNone/>
              <a:defRPr sz="23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Raleway"/>
              <a:buNone/>
              <a:defRPr sz="23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Raleway"/>
              <a:buNone/>
              <a:defRPr sz="23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Raleway"/>
              <a:buNone/>
              <a:defRPr sz="23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Raleway"/>
              <a:buNone/>
              <a:defRPr sz="23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Arial"/>
              <a:buChar char="○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Arial"/>
              <a:buChar char="■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Arial"/>
              <a:buChar char="●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Arial"/>
              <a:buChar char="○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Arial"/>
              <a:buChar char="■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Arial"/>
              <a:buChar char="●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Arial"/>
              <a:buChar char="○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Arial"/>
              <a:buChar char="■"/>
              <a:defRPr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1"/>
          <p:cNvSpPr txBox="1">
            <a:spLocks noGrp="1"/>
          </p:cNvSpPr>
          <p:nvPr>
            <p:ph type="ctrTitle"/>
          </p:nvPr>
        </p:nvSpPr>
        <p:spPr>
          <a:xfrm>
            <a:off x="1143000" y="2571750"/>
            <a:ext cx="6858000" cy="10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Calibri"/>
              <a:buNone/>
            </a:pPr>
            <a:r>
              <a:rPr lang="en" sz="2100" b="0"/>
              <a:t>Diplomado de Extensión en</a:t>
            </a:r>
            <a:br>
              <a:rPr lang="en" sz="2100" b="0"/>
            </a:br>
            <a:r>
              <a:rPr lang="en" sz="2100"/>
              <a:t>IA Generativa para Organizaciones</a:t>
            </a:r>
            <a:br>
              <a:rPr lang="en" sz="2100"/>
            </a:br>
            <a:br>
              <a:rPr lang="en" sz="2700"/>
            </a:br>
            <a:r>
              <a:rPr lang="en" sz="2700"/>
              <a:t>Modulo 5, Clase 4:</a:t>
            </a:r>
            <a:endParaRPr sz="2700"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Calibri"/>
              <a:buNone/>
            </a:pPr>
            <a:r>
              <a:rPr lang="en" sz="2700"/>
              <a:t>Integraciones</a:t>
            </a:r>
            <a:endParaRPr sz="2700"/>
          </a:p>
        </p:txBody>
      </p:sp>
      <p:sp>
        <p:nvSpPr>
          <p:cNvPr id="156" name="Google Shape;156;p31"/>
          <p:cNvSpPr txBox="1">
            <a:spLocks noGrp="1"/>
          </p:cNvSpPr>
          <p:nvPr>
            <p:ph type="subTitle" idx="4294967295"/>
          </p:nvPr>
        </p:nvSpPr>
        <p:spPr>
          <a:xfrm>
            <a:off x="261374" y="4133753"/>
            <a:ext cx="4310700" cy="58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r>
              <a:rPr lang="en" sz="21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Profesor: </a:t>
            </a:r>
            <a:r>
              <a:rPr lang="en">
                <a:solidFill>
                  <a:schemeClr val="lt1"/>
                </a:solidFill>
              </a:rPr>
              <a:t>Jose manuel Peña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r>
              <a:rPr lang="en" sz="21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Email: </a:t>
            </a:r>
            <a:r>
              <a:rPr lang="en">
                <a:solidFill>
                  <a:schemeClr val="lt1"/>
                </a:solidFill>
              </a:rPr>
              <a:t>jmp2260</a:t>
            </a:r>
            <a:r>
              <a:rPr lang="en" sz="21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@</a:t>
            </a:r>
            <a:r>
              <a:rPr lang="en">
                <a:solidFill>
                  <a:schemeClr val="lt1"/>
                </a:solidFill>
              </a:rPr>
              <a:t>columbia</a:t>
            </a:r>
            <a:r>
              <a:rPr lang="en" sz="21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">
                <a:solidFill>
                  <a:schemeClr val="lt1"/>
                </a:solidFill>
              </a:rPr>
              <a:t>edu</a:t>
            </a:r>
            <a:endParaRPr sz="21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63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sz="21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2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Temario</a:t>
            </a:r>
            <a:endParaRPr/>
          </a:p>
        </p:txBody>
      </p:sp>
      <p:sp>
        <p:nvSpPr>
          <p:cNvPr id="162" name="Google Shape;162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Conectar el LLM con todo lo que no es el LLM — midiendo el contraste con y sin cada integración:</a:t>
            </a:r>
            <a:endParaRPr sz="1908">
              <a:solidFill>
                <a:schemeClr val="dk1"/>
              </a:solidFill>
            </a:endParaRPr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MCP: herramientas y servicios por protocolo (L1)</a:t>
            </a:r>
            <a:endParaRPr sz="1608"/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Skills: conocimiento operativo empaquetado y su gestión (L2)</a:t>
            </a:r>
            <a:endParaRPr sz="1608"/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Capas semánticas: ontologías y grafos sobre los datos de la empresa (L3)</a:t>
            </a:r>
            <a:endParaRPr sz="1608"/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El agente SQL semántico — capstone (L4)</a:t>
            </a:r>
            <a:endParaRPr sz="1608"/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CodeAct: ejecución de código en sandbox (L5)</a:t>
            </a:r>
            <a:endParaRPr sz="1608"/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Test de multimodalidad: dibujar a ciegas (L6)</a:t>
            </a:r>
            <a:endParaRPr sz="1608"/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Anexos: consideraciones estratégicas y reflexiones</a:t>
            </a:r>
            <a:endParaRPr sz="1908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MCP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7"/>
          <p:cNvSpPr txBox="1">
            <a:spLocks noGrp="1"/>
          </p:cNvSpPr>
          <p:nvPr>
            <p:ph type="title"/>
          </p:nvPr>
        </p:nvSpPr>
        <p:spPr>
          <a:xfrm>
            <a:off x="623888" y="76438"/>
            <a:ext cx="7886700" cy="3771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MCP: el USB-C de las integraciones</a:t>
            </a:r>
          </a:p>
        </p:txBody>
      </p:sp>
      <p:sp>
        <p:nvSpPr>
          <p:cNvPr id="491" name="Google Shape;491;p67"/>
          <p:cNvSpPr txBox="1">
            <a:spLocks noGrp="1"/>
          </p:cNvSpPr>
          <p:nvPr>
            <p:ph type="body" idx="1"/>
          </p:nvPr>
        </p:nvSpPr>
        <p:spPr>
          <a:xfrm>
            <a:off x="276500" y="809725"/>
            <a:ext cx="8472600" cy="3959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El problema: N sistemas × M agentes = N×M adaptadores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Un protocolo abierto: el servidor declara sus capacidades una vez; cualquier cliente las entiende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Tres bloques, según quién decide usarlos:</a:t>
            </a:r>
            <a:endParaRPr sz="1908">
              <a:solidFill>
                <a:schemeClr val="dk1"/>
              </a:solidFill>
            </a:endParaRPr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Tools (el modelo) · Resources (la aplicación) · Prompts (el usuario)</a:t>
            </a:r>
            <a:endParaRPr sz="1608"/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Los esquemas se generan de los tipos: LLM-friendly por construcción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Transportes: stdio (herramientas locales) y streamable-http (servicios compartidos)</a:t>
            </a:r>
            <a:endParaRPr sz="1908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7"/>
          <p:cNvSpPr txBox="1">
            <a:spLocks noGrp="1"/>
          </p:cNvSpPr>
          <p:nvPr>
            <p:ph type="title"/>
          </p:nvPr>
        </p:nvSpPr>
        <p:spPr>
          <a:xfrm>
            <a:off x="623888" y="76438"/>
            <a:ext cx="7886700" cy="3771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Lección 1: dos servidores y un agente</a:t>
            </a:r>
          </a:p>
        </p:txBody>
      </p:sp>
      <p:sp>
        <p:nvSpPr>
          <p:cNvPr id="491" name="Google Shape;491;p67"/>
          <p:cNvSpPr txBox="1">
            <a:spLocks noGrp="1"/>
          </p:cNvSpPr>
          <p:nvPr>
            <p:ph type="body" idx="1"/>
          </p:nvPr>
        </p:nvSpPr>
        <p:spPr>
          <a:xfrm>
            <a:off x="276500" y="809725"/>
            <a:ext cx="8472600" cy="3959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Dos servidores FastMCP mock de Valle Nevado: transacciones y pronóstico de nieve</a:t>
            </a:r>
            <a:endParaRPr sz="1908">
              <a:solidFill>
                <a:schemeClr val="dk1"/>
              </a:solidFill>
            </a:endParaRPr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Salida estructurada (Pydantic), resources por URI, logging y progreso (ctx)</a:t>
            </a:r>
            <a:endParaRPr sz="1608"/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El cliente descubre las capacidades sin conocer los servidores (MultiServerMCPClient)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Un agente LangChain 1.x conectado a ambos por el protocolo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b="1" sz="1908">
                <a:solidFill>
                  <a:schemeClr val="dk1"/>
                </a:solidFill>
              </a:rPr>
              <a:t>El contraste medido: la misma pregunta sin tools (se declara ignorante) y con MCP (datos reales)</a:t>
            </a:r>
            <a:endParaRPr sz="1908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Skills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7"/>
          <p:cNvSpPr txBox="1">
            <a:spLocks noGrp="1"/>
          </p:cNvSpPr>
          <p:nvPr>
            <p:ph type="title"/>
          </p:nvPr>
        </p:nvSpPr>
        <p:spPr>
          <a:xfrm>
            <a:off x="623888" y="76438"/>
            <a:ext cx="7886700" cy="3771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SKILL.md: el estándar abierto</a:t>
            </a:r>
          </a:p>
        </p:txBody>
      </p:sp>
      <p:sp>
        <p:nvSpPr>
          <p:cNvPr id="491" name="Google Shape;491;p67"/>
          <p:cNvSpPr txBox="1">
            <a:spLocks noGrp="1"/>
          </p:cNvSpPr>
          <p:nvPr>
            <p:ph type="body" idx="1"/>
          </p:nvPr>
        </p:nvSpPr>
        <p:spPr>
          <a:xfrm>
            <a:off x="276500" y="809725"/>
            <a:ext cx="8472600" cy="3959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Conocimiento procedural empaquetado: cómo se hacen las cosas acá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Frontmatter (name + description, siempre visible) + cuerpo (se carga bajo demanda)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Progressive disclosure = inyección condicional de contexto — no hay magia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Estándar abierto (dic 2025): Claude Code, Codex, Copilot, Cursor, Gemini CLI y decenas más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b="1" sz="1908">
                <a:solidFill>
                  <a:schemeClr val="dk1"/>
                </a:solidFill>
              </a:rPr>
              <a:t>La description es la pieza crítica: qué hace Y cuándo usarla</a:t>
            </a:r>
            <a:endParaRPr sz="1908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7"/>
          <p:cNvSpPr txBox="1">
            <a:spLocks noGrp="1"/>
          </p:cNvSpPr>
          <p:nvPr>
            <p:ph type="title"/>
          </p:nvPr>
        </p:nvSpPr>
        <p:spPr>
          <a:xfrm>
            <a:off x="623888" y="76438"/>
            <a:ext cx="7886700" cy="3771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Lección 2: el mecanismo y la gestión</a:t>
            </a:r>
          </a:p>
        </p:txBody>
      </p:sp>
      <p:sp>
        <p:nvSpPr>
          <p:cNvPr id="491" name="Google Shape;491;p67"/>
          <p:cNvSpPr txBox="1">
            <a:spLocks noGrp="1"/>
          </p:cNvSpPr>
          <p:nvPr>
            <p:ph type="body" idx="1"/>
          </p:nvPr>
        </p:nvSpPr>
        <p:spPr>
          <a:xfrm>
            <a:off x="276500" y="809725"/>
            <a:ext cx="8472600" cy="3959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Un skill-loader en ~30 líneas sobre la API cruda de OpenAI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El contraste medido: el parte de nieve con y sin skill (formato oficial verificado)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La cuenta de tokens: con 3 skills el loader pierde; la pendiente gana con ~50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Packmind: playbook central → la misma skill materializada para cada agente del equipo</a:t>
            </a:r>
            <a:endParaRPr sz="1908">
              <a:solidFill>
                <a:schemeClr val="dk1"/>
              </a:solidFill>
            </a:endParaRPr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Sin Packmind: distribuir_skill() casero — la distribución es lo fácil; la gobernanza es el producto</a:t>
            </a:r>
            <a:endParaRPr sz="1608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Capas semánticas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7"/>
          <p:cNvSpPr txBox="1">
            <a:spLocks noGrp="1"/>
          </p:cNvSpPr>
          <p:nvPr>
            <p:ph type="title"/>
          </p:nvPr>
        </p:nvSpPr>
        <p:spPr>
          <a:xfrm>
            <a:off x="623888" y="76438"/>
            <a:ext cx="7886700" cy="3771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¿Qué es una ontología?</a:t>
            </a:r>
          </a:p>
        </p:txBody>
      </p:sp>
      <p:sp>
        <p:nvSpPr>
          <p:cNvPr id="491" name="Google Shape;491;p67"/>
          <p:cNvSpPr txBox="1">
            <a:spLocks noGrp="1"/>
          </p:cNvSpPr>
          <p:nvPr>
            <p:ph type="body" idx="1"/>
          </p:nvPr>
        </p:nvSpPr>
        <p:spPr>
          <a:xfrm>
            <a:off x="276500" y="809725"/>
            <a:ext cx="8472600" cy="3959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“Una especificación formal de una conceptualización compartida” (Gruber, 1993): qué existe, qué significa y cómo se relaciona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Dos linajes que hoy convergen:</a:t>
            </a:r>
            <a:endParaRPr sz="1908">
              <a:solidFill>
                <a:schemeClr val="dk1"/>
              </a:solidFill>
            </a:endParaRPr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El agente (linaje neuronal, McCarthy → Minsky): probabilístico — propone lo probable</a:t>
            </a:r>
            <a:endParaRPr sz="1608"/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La ontología (linaje simbólico, Aristóteles → Gruber): formal — declara lo permitido</a:t>
            </a:r>
            <a:endParaRPr sz="1608"/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b="1" sz="1908">
                <a:solidFill>
                  <a:schemeClr val="dk1"/>
                </a:solidFill>
              </a:rPr>
              <a:t>“El agente propone; la ontología permite” — el guardarraíl que atrapa lo que el LLM no puede: monedas mezcladas, joins inválidos, estados imposibles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En la práctica es un grafo: entidades = nodos, relaciones = aristas (Cliente −COMPRÓ→ Pedido −CONTIENE→ Producto)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No se parte de cero: Schema.org, FIBO (finanzas), Wikidata…</a:t>
            </a:r>
            <a:endParaRPr sz="1908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7"/>
          <p:cNvSpPr txBox="1">
            <a:spLocks noGrp="1"/>
          </p:cNvSpPr>
          <p:nvPr>
            <p:ph type="title"/>
          </p:nvPr>
        </p:nvSpPr>
        <p:spPr>
          <a:xfrm>
            <a:off x="623888" y="76438"/>
            <a:ext cx="7886700" cy="3771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La capa semántica: tres pilares</a:t>
            </a:r>
          </a:p>
        </p:txBody>
      </p:sp>
      <p:sp>
        <p:nvSpPr>
          <p:cNvPr id="491" name="Google Shape;491;p67"/>
          <p:cNvSpPr txBox="1">
            <a:spLocks noGrp="1"/>
          </p:cNvSpPr>
          <p:nvPr>
            <p:ph type="body" idx="1"/>
          </p:nvPr>
        </p:nvSpPr>
        <p:spPr>
          <a:xfrm>
            <a:off x="276500" y="809725"/>
            <a:ext cx="8472600" cy="3959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Un único lugar gobernado que mapea los conceptos del negocio a los datos (DRY: cambias una vez, se propaga a todo)</a:t>
            </a:r>
            <a:endParaRPr sz="1908">
              <a:solidFill>
                <a:schemeClr val="dk1"/>
              </a:solidFill>
            </a:endParaRPr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Ontología de negocio — qué hace la organización, en el idioma de la gente</a:t>
            </a:r>
            <a:endParaRPr sz="1608"/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Ontología técnica — dónde viven los datos: esquemas, columnas, joins</a:t>
            </a:r>
            <a:endParaRPr sz="1608"/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Trazas de ejecución — qué decidieron los agentes: la próxima corrida aprende de la anterior</a:t>
            </a:r>
            <a:endParaRPr sz="1608"/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Agentes delgados sobre una capa compartida que se vuelve más inteligente: el aprendizaje es colectivo, no por agente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b="1" sz="1908">
                <a:solidFill>
                  <a:schemeClr val="dk1"/>
                </a:solidFill>
              </a:rPr>
              <a:t>“Tu modelo de datos es tu foso”: el entendimiento de tus procesos es lo defendible — ningún modelo nuevo lo trae gratis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Lo que el agente no puede adivinar: qué es una fila, qué joins son seguros, qué significa cada métrica, qué depende de qué</a:t>
            </a:r>
            <a:endParaRPr sz="1908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7"/>
          <p:cNvSpPr txBox="1">
            <a:spLocks noGrp="1"/>
          </p:cNvSpPr>
          <p:nvPr>
            <p:ph type="title"/>
          </p:nvPr>
        </p:nvSpPr>
        <p:spPr>
          <a:xfrm>
            <a:off x="623888" y="76438"/>
            <a:ext cx="7886700" cy="3771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El LLM no conoce tu empresa</a:t>
            </a:r>
          </a:p>
        </p:txBody>
      </p:sp>
      <p:sp>
        <p:nvSpPr>
          <p:cNvPr id="491" name="Google Shape;491;p67"/>
          <p:cNvSpPr txBox="1">
            <a:spLocks noGrp="1"/>
          </p:cNvSpPr>
          <p:nvPr>
            <p:ph type="body" idx="1"/>
          </p:nvPr>
        </p:nvSpPr>
        <p:spPr>
          <a:xfrm>
            <a:off x="276500" y="809725"/>
            <a:ext cx="8472600" cy="3959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Los esquemas reales: nombres crípticos, joins sin declarar, monedas invisibles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trx_pos.mnt en pesos chilenos; res_agt.imp en pesos argentinos — y nada lo dice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b="1" sz="1908">
                <a:solidFill>
                  <a:schemeClr val="dk1"/>
                </a:solidFill>
              </a:rPr>
              <a:t>El modelo a ciegas: o ignora tablas o suma pesos con pesos… equivocados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El conocimiento tribal no está en el esquema: hay que escribirlo en un lugar consultable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Ese lugar es la capa semántica — y su forma natural es un grafo</a:t>
            </a:r>
            <a:endParaRPr sz="1908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7"/>
          <p:cNvSpPr txBox="1">
            <a:spLocks noGrp="1"/>
          </p:cNvSpPr>
          <p:nvPr>
            <p:ph type="title"/>
          </p:nvPr>
        </p:nvSpPr>
        <p:spPr>
          <a:xfrm>
            <a:off x="623888" y="76438"/>
            <a:ext cx="7886700" cy="3771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Lección 3: la capa semántica en Neo4j</a:t>
            </a:r>
          </a:p>
        </p:txBody>
      </p:sp>
      <p:sp>
        <p:nvSpPr>
          <p:cNvPr id="491" name="Google Shape;491;p67"/>
          <p:cNvSpPr txBox="1">
            <a:spLocks noGrp="1"/>
          </p:cNvSpPr>
          <p:nvPr>
            <p:ph type="body" idx="1"/>
          </p:nvPr>
        </p:nvSpPr>
        <p:spPr>
          <a:xfrm>
            <a:off x="276500" y="809725"/>
            <a:ext cx="8472600" cy="3959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neocarta (Neo4j Labs): el esquema como grafo — Database → Schema → Table → Column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La ontología del equipo por escrito: dominios, métricas, monedas explícitas, joins por convención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Capas con procedencia: técnica (introspección), negocio (ontología), LLM (sinónimos)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Las preguntas que el grafo responde:</a:t>
            </a:r>
            <a:endParaRPr sz="1908">
              <a:solidFill>
                <a:schemeClr val="dk1"/>
              </a:solidFill>
            </a:endParaRPr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¿dónde viven los ingresos? ¿en qué moneda? ¿cómo se juntan estas tablas?</a:t>
            </a:r>
            <a:endParaRPr sz="1608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7"/>
          <p:cNvSpPr txBox="1">
            <a:spLocks noGrp="1"/>
          </p:cNvSpPr>
          <p:nvPr>
            <p:ph type="title"/>
          </p:nvPr>
        </p:nvSpPr>
        <p:spPr>
          <a:xfrm>
            <a:off x="623888" y="76438"/>
            <a:ext cx="7886700" cy="3771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La capa semántica de la clase, en Neo4j</a:t>
            </a:r>
          </a:p>
        </p:txBody>
      </p:sp>
      <p:pic>
        <p:nvPicPr>
          <p:cNvPr id="491" name="Picture 490" descr="grafo_completo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196" y="1051560"/>
            <a:ext cx="3815608" cy="37261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7"/>
          <p:cNvSpPr txBox="1">
            <a:spLocks noGrp="1"/>
          </p:cNvSpPr>
          <p:nvPr>
            <p:ph type="title"/>
          </p:nvPr>
        </p:nvSpPr>
        <p:spPr>
          <a:xfrm>
            <a:off x="623888" y="76438"/>
            <a:ext cx="7886700" cy="3771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La trampa CLP/ARS, consultable</a:t>
            </a:r>
          </a:p>
        </p:txBody>
      </p:sp>
      <p:pic>
        <p:nvPicPr>
          <p:cNvPr id="491" name="Picture 490" descr="grafo_trampa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1208" y="1051560"/>
            <a:ext cx="2681583" cy="37261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7"/>
          <p:cNvSpPr txBox="1">
            <a:spLocks noGrp="1"/>
          </p:cNvSpPr>
          <p:nvPr>
            <p:ph type="title"/>
          </p:nvPr>
        </p:nvSpPr>
        <p:spPr>
          <a:xfrm>
            <a:off x="623888" y="76438"/>
            <a:ext cx="7886700" cy="3771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Lección 4: el agente SQL semántico</a:t>
            </a:r>
          </a:p>
        </p:txBody>
      </p:sp>
      <p:sp>
        <p:nvSpPr>
          <p:cNvPr id="491" name="Google Shape;491;p67"/>
          <p:cNvSpPr txBox="1">
            <a:spLocks noGrp="1"/>
          </p:cNvSpPr>
          <p:nvPr>
            <p:ph type="body" idx="1"/>
          </p:nvPr>
        </p:nvSpPr>
        <p:spPr>
          <a:xfrm>
            <a:off x="276500" y="809725"/>
            <a:ext cx="8472600" cy="3959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Dos herramientas y un método: leer_cypher + ejecutar_sql (solo lectura, con guardas estructurales)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b="1" sz="1908">
                <a:solidFill>
                  <a:schemeClr val="dk1"/>
                </a:solidFill>
              </a:rPr>
              <a:t>DESCUBRIR → VERIFICAR → CALCULAR → EXPLICAR: primero entender, después calcular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El contraste con juez imparcial: el agente a ciegas fabrica un total que no existe; el informado descubre la moneda en el grafo y convierte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El recorrido dibujado: el subgrafo que el agente caminó, paso a paso</a:t>
            </a:r>
            <a:endParaRPr sz="1908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CodeAct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0"/>
          <p:cNvSpPr txBox="1"/>
          <p:nvPr/>
        </p:nvSpPr>
        <p:spPr>
          <a:xfrm>
            <a:off x="5715000" y="582802"/>
            <a:ext cx="1143000" cy="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700">
              <a:solidFill>
                <a:srgbClr val="005AD6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06" name="Google Shape;306;p50"/>
          <p:cNvSpPr txBox="1"/>
          <p:nvPr/>
        </p:nvSpPr>
        <p:spPr>
          <a:xfrm>
            <a:off x="9564425" y="1697500"/>
            <a:ext cx="5653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7" name="Google Shape;307;p50"/>
          <p:cNvSpPr txBox="1"/>
          <p:nvPr/>
        </p:nvSpPr>
        <p:spPr>
          <a:xfrm>
            <a:off x="62550" y="145700"/>
            <a:ext cx="8790300" cy="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ReAct </a:t>
            </a:r>
            <a:r>
              <a:rPr lang="en" sz="2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insuficiente</a:t>
            </a:r>
            <a:endParaRPr sz="22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8" name="Google Shape;308;p50"/>
          <p:cNvSpPr txBox="1"/>
          <p:nvPr/>
        </p:nvSpPr>
        <p:spPr>
          <a:xfrm>
            <a:off x="176850" y="978900"/>
            <a:ext cx="8790300" cy="39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Poppins"/>
              <a:buChar char="●"/>
            </a:pPr>
            <a:r>
              <a:rPr lang="en" sz="17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Una lista de tools es insuficiente para manipulaciones</a:t>
            </a:r>
            <a:endParaRPr sz="1700" i="1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9144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Poppins"/>
              <a:buChar char="●"/>
            </a:pPr>
            <a:r>
              <a:rPr lang="en" sz="17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Estado subyacente pesado para transcribir como json calls (carencia de memoria flexible)</a:t>
            </a:r>
            <a:endParaRPr sz="17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 i="1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Poppins"/>
              <a:buChar char="●"/>
            </a:pPr>
            <a:r>
              <a:rPr lang="en" sz="17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Flow control acotado (no loops, ifs, etc)</a:t>
            </a:r>
            <a:endParaRPr sz="17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Poppins"/>
              <a:buChar char="●"/>
            </a:pPr>
            <a:r>
              <a:rPr lang="en" sz="17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json-&gt;result-&gt;json traen errores </a:t>
            </a:r>
            <a:r>
              <a:rPr lang="en" sz="1700" i="1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irresolubles</a:t>
            </a:r>
            <a:endParaRPr sz="1700" i="1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 i="1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Poppins"/>
              <a:buChar char="●"/>
            </a:pPr>
            <a:r>
              <a:rPr lang="en" sz="17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ReAct no es turing completo </a:t>
            </a:r>
            <a:r>
              <a:rPr lang="en" sz="1700" i="1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casi siempre</a:t>
            </a:r>
            <a:endParaRPr sz="17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51"/>
          <p:cNvSpPr txBox="1"/>
          <p:nvPr/>
        </p:nvSpPr>
        <p:spPr>
          <a:xfrm>
            <a:off x="9564425" y="1697500"/>
            <a:ext cx="5653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4" name="Google Shape;314;p51"/>
          <p:cNvSpPr txBox="1"/>
          <p:nvPr/>
        </p:nvSpPr>
        <p:spPr>
          <a:xfrm>
            <a:off x="217725" y="389450"/>
            <a:ext cx="8790300" cy="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Framework:</a:t>
            </a:r>
            <a:r>
              <a:rPr lang="en" sz="2200">
                <a:solidFill>
                  <a:srgbClr val="005AD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" sz="2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ReAct</a:t>
            </a:r>
            <a:endParaRPr sz="2200">
              <a:solidFill>
                <a:srgbClr val="005AD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5" name="Google Shape;315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9224" y="1398375"/>
            <a:ext cx="6505549" cy="3745126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51"/>
          <p:cNvSpPr txBox="1"/>
          <p:nvPr/>
        </p:nvSpPr>
        <p:spPr>
          <a:xfrm>
            <a:off x="3072000" y="948063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https://arxiv.org/pdf/2402.01030</a:t>
            </a:r>
            <a:endParaRPr/>
          </a:p>
        </p:txBody>
      </p:sp>
      <p:sp>
        <p:nvSpPr>
          <p:cNvPr id="317" name="Google Shape;317;p51"/>
          <p:cNvSpPr txBox="1"/>
          <p:nvPr/>
        </p:nvSpPr>
        <p:spPr>
          <a:xfrm>
            <a:off x="2724225" y="294775"/>
            <a:ext cx="3000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CodeAct</a:t>
            </a:r>
            <a:endParaRPr sz="22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318" name="Google Shape;318;p51"/>
          <p:cNvCxnSpPr>
            <a:endCxn id="317" idx="1"/>
          </p:cNvCxnSpPr>
          <p:nvPr/>
        </p:nvCxnSpPr>
        <p:spPr>
          <a:xfrm rot="10800000" flipH="1">
            <a:off x="1870425" y="556375"/>
            <a:ext cx="853800" cy="7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2"/>
          <p:cNvSpPr txBox="1"/>
          <p:nvPr/>
        </p:nvSpPr>
        <p:spPr>
          <a:xfrm>
            <a:off x="9564425" y="1697500"/>
            <a:ext cx="5653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24" name="Google Shape;324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975" y="1178450"/>
            <a:ext cx="8746051" cy="3711524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52"/>
          <p:cNvSpPr txBox="1"/>
          <p:nvPr/>
        </p:nvSpPr>
        <p:spPr>
          <a:xfrm>
            <a:off x="217725" y="389450"/>
            <a:ext cx="8790300" cy="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Framework:</a:t>
            </a:r>
            <a:r>
              <a:rPr lang="en" sz="2200">
                <a:solidFill>
                  <a:srgbClr val="005AD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" sz="2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ReAct</a:t>
            </a:r>
            <a:endParaRPr sz="2200">
              <a:solidFill>
                <a:srgbClr val="005AD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6" name="Google Shape;326;p52"/>
          <p:cNvSpPr txBox="1"/>
          <p:nvPr/>
        </p:nvSpPr>
        <p:spPr>
          <a:xfrm>
            <a:off x="2724225" y="294775"/>
            <a:ext cx="3000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CodeAct</a:t>
            </a:r>
            <a:endParaRPr sz="22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327" name="Google Shape;327;p52"/>
          <p:cNvCxnSpPr>
            <a:endCxn id="326" idx="1"/>
          </p:cNvCxnSpPr>
          <p:nvPr/>
        </p:nvCxnSpPr>
        <p:spPr>
          <a:xfrm rot="10800000" flipH="1">
            <a:off x="1870425" y="556375"/>
            <a:ext cx="853800" cy="7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53"/>
          <p:cNvSpPr txBox="1"/>
          <p:nvPr/>
        </p:nvSpPr>
        <p:spPr>
          <a:xfrm>
            <a:off x="9564425" y="1697500"/>
            <a:ext cx="5653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33" name="Google Shape;333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583759"/>
            <a:ext cx="9144002" cy="2499732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53"/>
          <p:cNvSpPr txBox="1"/>
          <p:nvPr/>
        </p:nvSpPr>
        <p:spPr>
          <a:xfrm>
            <a:off x="217725" y="389450"/>
            <a:ext cx="8790300" cy="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Framework:</a:t>
            </a:r>
            <a:r>
              <a:rPr lang="en" sz="2200">
                <a:solidFill>
                  <a:srgbClr val="005AD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" sz="2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ReAct</a:t>
            </a:r>
            <a:endParaRPr sz="2200">
              <a:solidFill>
                <a:srgbClr val="005AD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5" name="Google Shape;335;p53"/>
          <p:cNvSpPr txBox="1"/>
          <p:nvPr/>
        </p:nvSpPr>
        <p:spPr>
          <a:xfrm>
            <a:off x="2724225" y="294775"/>
            <a:ext cx="3000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CodeAct</a:t>
            </a:r>
            <a:endParaRPr sz="22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336" name="Google Shape;336;p53"/>
          <p:cNvCxnSpPr>
            <a:endCxn id="335" idx="1"/>
          </p:cNvCxnSpPr>
          <p:nvPr/>
        </p:nvCxnSpPr>
        <p:spPr>
          <a:xfrm rot="10800000" flipH="1">
            <a:off x="1870425" y="556375"/>
            <a:ext cx="853800" cy="7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54"/>
          <p:cNvSpPr txBox="1"/>
          <p:nvPr/>
        </p:nvSpPr>
        <p:spPr>
          <a:xfrm>
            <a:off x="6019800" y="735202"/>
            <a:ext cx="1143000" cy="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700">
              <a:solidFill>
                <a:srgbClr val="005AD6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42" name="Google Shape;342;p54"/>
          <p:cNvSpPr txBox="1"/>
          <p:nvPr/>
        </p:nvSpPr>
        <p:spPr>
          <a:xfrm>
            <a:off x="9564425" y="1697500"/>
            <a:ext cx="5653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3" name="Google Shape;343;p54"/>
          <p:cNvSpPr txBox="1"/>
          <p:nvPr/>
        </p:nvSpPr>
        <p:spPr>
          <a:xfrm>
            <a:off x="6019800" y="735202"/>
            <a:ext cx="1143000" cy="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700">
              <a:solidFill>
                <a:srgbClr val="005AD6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44" name="Google Shape;344;p54"/>
          <p:cNvSpPr txBox="1"/>
          <p:nvPr/>
        </p:nvSpPr>
        <p:spPr>
          <a:xfrm>
            <a:off x="261400" y="404000"/>
            <a:ext cx="8790300" cy="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005AD6"/>
                </a:solidFill>
                <a:latin typeface="Poppins"/>
                <a:ea typeface="Poppins"/>
                <a:cs typeface="Poppins"/>
                <a:sym typeface="Poppins"/>
              </a:rPr>
              <a:t>¿Cómo funciona? </a:t>
            </a:r>
            <a:endParaRPr sz="2200">
              <a:solidFill>
                <a:srgbClr val="005AD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5" name="Google Shape;345;p54"/>
          <p:cNvSpPr/>
          <p:nvPr/>
        </p:nvSpPr>
        <p:spPr>
          <a:xfrm>
            <a:off x="7326850" y="385250"/>
            <a:ext cx="1001400" cy="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Poppins"/>
                <a:ea typeface="Poppins"/>
                <a:cs typeface="Poppins"/>
                <a:sym typeface="Poppins"/>
              </a:rPr>
              <a:t>START</a:t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6" name="Google Shape;346;p54"/>
          <p:cNvSpPr/>
          <p:nvPr/>
        </p:nvSpPr>
        <p:spPr>
          <a:xfrm>
            <a:off x="7326850" y="4555850"/>
            <a:ext cx="1001400" cy="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Poppins"/>
                <a:ea typeface="Poppins"/>
                <a:cs typeface="Poppins"/>
                <a:sym typeface="Poppins"/>
              </a:rPr>
              <a:t>END</a:t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7" name="Google Shape;347;p54"/>
          <p:cNvSpPr/>
          <p:nvPr/>
        </p:nvSpPr>
        <p:spPr>
          <a:xfrm>
            <a:off x="4458675" y="1272400"/>
            <a:ext cx="4420500" cy="2704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8" name="Google Shape;348;p54"/>
          <p:cNvSpPr/>
          <p:nvPr/>
        </p:nvSpPr>
        <p:spPr>
          <a:xfrm>
            <a:off x="7141600" y="1648850"/>
            <a:ext cx="1371900" cy="50850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Code generation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9" name="Google Shape;349;p54"/>
          <p:cNvSpPr/>
          <p:nvPr/>
        </p:nvSpPr>
        <p:spPr>
          <a:xfrm>
            <a:off x="4620438" y="3292250"/>
            <a:ext cx="1092300" cy="508500"/>
          </a:xfrm>
          <a:prstGeom prst="roundRect">
            <a:avLst>
              <a:gd name="adj" fmla="val 16667"/>
            </a:avLst>
          </a:prstGeom>
          <a:solidFill>
            <a:srgbClr val="62A4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Use Tool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350" name="Google Shape;350;p54"/>
          <p:cNvCxnSpPr>
            <a:stCxn id="345" idx="2"/>
            <a:endCxn id="351" idx="0"/>
          </p:cNvCxnSpPr>
          <p:nvPr/>
        </p:nvCxnSpPr>
        <p:spPr>
          <a:xfrm>
            <a:off x="7827550" y="893750"/>
            <a:ext cx="0" cy="7551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52" name="Google Shape;352;p54"/>
          <p:cNvSpPr txBox="1"/>
          <p:nvPr/>
        </p:nvSpPr>
        <p:spPr>
          <a:xfrm>
            <a:off x="2479950" y="3045650"/>
            <a:ext cx="2156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66666"/>
                </a:solidFill>
                <a:latin typeface="Poppins"/>
                <a:ea typeface="Poppins"/>
                <a:cs typeface="Poppins"/>
                <a:sym typeface="Poppins"/>
              </a:rPr>
              <a:t>run_code</a:t>
            </a:r>
            <a:br>
              <a:rPr lang="en" sz="1000">
                <a:solidFill>
                  <a:srgbClr val="666666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" sz="1000">
                <a:solidFill>
                  <a:srgbClr val="666666"/>
                </a:solidFill>
                <a:latin typeface="Poppins"/>
                <a:ea typeface="Poppins"/>
                <a:cs typeface="Poppins"/>
                <a:sym typeface="Poppins"/>
              </a:rPr>
              <a:t>file_mgmt</a:t>
            </a:r>
            <a:endParaRPr sz="1000">
              <a:solidFill>
                <a:srgbClr val="66666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3" name="Google Shape;353;p54"/>
          <p:cNvSpPr txBox="1"/>
          <p:nvPr/>
        </p:nvSpPr>
        <p:spPr>
          <a:xfrm>
            <a:off x="2574800" y="1867950"/>
            <a:ext cx="18960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66666"/>
                </a:solidFill>
                <a:latin typeface="Poppins"/>
                <a:ea typeface="Poppins"/>
                <a:cs typeface="Poppins"/>
                <a:sym typeface="Poppins"/>
              </a:rPr>
              <a:t>web_search</a:t>
            </a:r>
            <a:endParaRPr sz="1000">
              <a:solidFill>
                <a:srgbClr val="66666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4" name="Google Shape;354;p54"/>
          <p:cNvSpPr txBox="1"/>
          <p:nvPr/>
        </p:nvSpPr>
        <p:spPr>
          <a:xfrm>
            <a:off x="462875" y="2550850"/>
            <a:ext cx="1626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Code execution </a:t>
            </a:r>
            <a:endParaRPr sz="10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sandbox </a:t>
            </a:r>
            <a:endParaRPr sz="10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(e2b + Docker)</a:t>
            </a:r>
            <a:endParaRPr sz="10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5" name="Google Shape;355;p54"/>
          <p:cNvSpPr/>
          <p:nvPr/>
        </p:nvSpPr>
        <p:spPr>
          <a:xfrm>
            <a:off x="4620450" y="2254100"/>
            <a:ext cx="1092300" cy="508500"/>
          </a:xfrm>
          <a:prstGeom prst="roundRect">
            <a:avLst>
              <a:gd name="adj" fmla="val 16667"/>
            </a:avLst>
          </a:prstGeom>
          <a:solidFill>
            <a:srgbClr val="62A4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Human check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6" name="Google Shape;356;p54"/>
          <p:cNvSpPr/>
          <p:nvPr/>
        </p:nvSpPr>
        <p:spPr>
          <a:xfrm>
            <a:off x="7141600" y="3292250"/>
            <a:ext cx="1371900" cy="50850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Answer generation</a:t>
            </a:r>
            <a:endParaRPr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357" name="Google Shape;357;p54"/>
          <p:cNvCxnSpPr>
            <a:endCxn id="355" idx="3"/>
          </p:cNvCxnSpPr>
          <p:nvPr/>
        </p:nvCxnSpPr>
        <p:spPr>
          <a:xfrm flipH="1">
            <a:off x="5712750" y="2007350"/>
            <a:ext cx="1412700" cy="501000"/>
          </a:xfrm>
          <a:prstGeom prst="straightConnector1">
            <a:avLst/>
          </a:prstGeom>
          <a:noFill/>
          <a:ln w="19050" cap="flat" cmpd="sng">
            <a:solidFill>
              <a:srgbClr val="999999"/>
            </a:solidFill>
            <a:prstDash val="dash"/>
            <a:round/>
            <a:headEnd type="none" w="med" len="med"/>
            <a:tailEnd type="triangle" w="med" len="med"/>
          </a:ln>
        </p:spPr>
      </p:cxnSp>
      <p:cxnSp>
        <p:nvCxnSpPr>
          <p:cNvPr id="358" name="Google Shape;358;p54"/>
          <p:cNvCxnSpPr>
            <a:stCxn id="348" idx="2"/>
            <a:endCxn id="356" idx="0"/>
          </p:cNvCxnSpPr>
          <p:nvPr/>
        </p:nvCxnSpPr>
        <p:spPr>
          <a:xfrm>
            <a:off x="7827550" y="2157350"/>
            <a:ext cx="0" cy="1134900"/>
          </a:xfrm>
          <a:prstGeom prst="straightConnector1">
            <a:avLst/>
          </a:prstGeom>
          <a:noFill/>
          <a:ln w="19050" cap="flat" cmpd="sng">
            <a:solidFill>
              <a:srgbClr val="999999"/>
            </a:solidFill>
            <a:prstDash val="dash"/>
            <a:round/>
            <a:headEnd type="none" w="med" len="med"/>
            <a:tailEnd type="triangle" w="med" len="med"/>
          </a:ln>
        </p:spPr>
      </p:cxnSp>
      <p:cxnSp>
        <p:nvCxnSpPr>
          <p:cNvPr id="359" name="Google Shape;359;p54"/>
          <p:cNvCxnSpPr/>
          <p:nvPr/>
        </p:nvCxnSpPr>
        <p:spPr>
          <a:xfrm rot="10800000" flipH="1">
            <a:off x="5702425" y="2175250"/>
            <a:ext cx="1529700" cy="1128300"/>
          </a:xfrm>
          <a:prstGeom prst="straightConnector1">
            <a:avLst/>
          </a:prstGeom>
          <a:noFill/>
          <a:ln w="19050" cap="flat" cmpd="sng">
            <a:solidFill>
              <a:srgbClr val="99999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60" name="Google Shape;360;p54"/>
          <p:cNvCxnSpPr>
            <a:stCxn id="355" idx="2"/>
            <a:endCxn id="349" idx="0"/>
          </p:cNvCxnSpPr>
          <p:nvPr/>
        </p:nvCxnSpPr>
        <p:spPr>
          <a:xfrm>
            <a:off x="5166600" y="2762600"/>
            <a:ext cx="0" cy="529800"/>
          </a:xfrm>
          <a:prstGeom prst="straightConnector1">
            <a:avLst/>
          </a:prstGeom>
          <a:noFill/>
          <a:ln w="19050" cap="flat" cmpd="sng">
            <a:solidFill>
              <a:srgbClr val="99999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61" name="Google Shape;361;p54"/>
          <p:cNvCxnSpPr>
            <a:stCxn id="356" idx="2"/>
            <a:endCxn id="346" idx="0"/>
          </p:cNvCxnSpPr>
          <p:nvPr/>
        </p:nvCxnSpPr>
        <p:spPr>
          <a:xfrm>
            <a:off x="7827550" y="3800750"/>
            <a:ext cx="0" cy="755100"/>
          </a:xfrm>
          <a:prstGeom prst="straightConnector1">
            <a:avLst/>
          </a:prstGeom>
          <a:noFill/>
          <a:ln w="19050" cap="flat" cmpd="sng">
            <a:solidFill>
              <a:srgbClr val="99999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62" name="Google Shape;362;p54"/>
          <p:cNvCxnSpPr/>
          <p:nvPr/>
        </p:nvCxnSpPr>
        <p:spPr>
          <a:xfrm rot="10800000" flipH="1">
            <a:off x="5717825" y="1768825"/>
            <a:ext cx="1402800" cy="492900"/>
          </a:xfrm>
          <a:prstGeom prst="straightConnector1">
            <a:avLst/>
          </a:prstGeom>
          <a:noFill/>
          <a:ln w="19050" cap="flat" cmpd="sng">
            <a:solidFill>
              <a:srgbClr val="999999"/>
            </a:solidFill>
            <a:prstDash val="dash"/>
            <a:round/>
            <a:headEnd type="none" w="med" len="med"/>
            <a:tailEnd type="triangle" w="med" len="med"/>
          </a:ln>
        </p:spPr>
      </p:cxnSp>
      <p:cxnSp>
        <p:nvCxnSpPr>
          <p:cNvPr id="363" name="Google Shape;363;p54"/>
          <p:cNvCxnSpPr/>
          <p:nvPr/>
        </p:nvCxnSpPr>
        <p:spPr>
          <a:xfrm rot="10800000">
            <a:off x="5055338" y="1092800"/>
            <a:ext cx="0" cy="1161300"/>
          </a:xfrm>
          <a:prstGeom prst="straightConnector1">
            <a:avLst/>
          </a:prstGeom>
          <a:noFill/>
          <a:ln w="19050" cap="flat" cmpd="sng">
            <a:solidFill>
              <a:srgbClr val="999999"/>
            </a:solidFill>
            <a:prstDash val="dash"/>
            <a:round/>
            <a:headEnd type="triangle" w="med" len="med"/>
            <a:tailEnd type="none" w="med" len="med"/>
          </a:ln>
        </p:spPr>
      </p:cxnSp>
      <p:cxnSp>
        <p:nvCxnSpPr>
          <p:cNvPr id="364" name="Google Shape;364;p54"/>
          <p:cNvCxnSpPr/>
          <p:nvPr/>
        </p:nvCxnSpPr>
        <p:spPr>
          <a:xfrm>
            <a:off x="5227575" y="1067250"/>
            <a:ext cx="0" cy="1184400"/>
          </a:xfrm>
          <a:prstGeom prst="straightConnector1">
            <a:avLst/>
          </a:prstGeom>
          <a:noFill/>
          <a:ln w="19050" cap="flat" cmpd="sng">
            <a:solidFill>
              <a:srgbClr val="999999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365" name="Google Shape;365;p54"/>
          <p:cNvSpPr txBox="1"/>
          <p:nvPr/>
        </p:nvSpPr>
        <p:spPr>
          <a:xfrm>
            <a:off x="5227200" y="1519400"/>
            <a:ext cx="310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666666"/>
                </a:solidFill>
                <a:latin typeface="Poppins"/>
                <a:ea typeface="Poppins"/>
                <a:cs typeface="Poppins"/>
                <a:sym typeface="Poppins"/>
              </a:rPr>
              <a:t>?</a:t>
            </a:r>
            <a:endParaRPr sz="1300">
              <a:solidFill>
                <a:srgbClr val="66666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6" name="Google Shape;366;p54"/>
          <p:cNvSpPr txBox="1"/>
          <p:nvPr/>
        </p:nvSpPr>
        <p:spPr>
          <a:xfrm>
            <a:off x="4749788" y="1341100"/>
            <a:ext cx="4614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✅</a:t>
            </a:r>
            <a:endParaRPr sz="13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✍🏻</a:t>
            </a:r>
            <a:endParaRPr sz="13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📢</a:t>
            </a:r>
            <a:endParaRPr sz="13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367" name="Google Shape;367;p54"/>
          <p:cNvCxnSpPr/>
          <p:nvPr/>
        </p:nvCxnSpPr>
        <p:spPr>
          <a:xfrm rot="10800000">
            <a:off x="1834675" y="3476450"/>
            <a:ext cx="2775000" cy="0"/>
          </a:xfrm>
          <a:prstGeom prst="straightConnector1">
            <a:avLst/>
          </a:prstGeom>
          <a:noFill/>
          <a:ln w="19050" cap="flat" cmpd="sng">
            <a:solidFill>
              <a:srgbClr val="999999"/>
            </a:solidFill>
            <a:prstDash val="dash"/>
            <a:round/>
            <a:headEnd type="none" w="med" len="med"/>
            <a:tailEnd type="triangle" w="med" len="med"/>
          </a:ln>
        </p:spPr>
      </p:cxnSp>
      <p:cxnSp>
        <p:nvCxnSpPr>
          <p:cNvPr id="368" name="Google Shape;368;p54"/>
          <p:cNvCxnSpPr/>
          <p:nvPr/>
        </p:nvCxnSpPr>
        <p:spPr>
          <a:xfrm>
            <a:off x="1885450" y="3679650"/>
            <a:ext cx="2729100" cy="0"/>
          </a:xfrm>
          <a:prstGeom prst="straightConnector1">
            <a:avLst/>
          </a:prstGeom>
          <a:noFill/>
          <a:ln w="19050" cap="flat" cmpd="sng">
            <a:solidFill>
              <a:srgbClr val="99999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69" name="Google Shape;369;p54"/>
          <p:cNvSpPr txBox="1"/>
          <p:nvPr/>
        </p:nvSpPr>
        <p:spPr>
          <a:xfrm>
            <a:off x="2486475" y="3600150"/>
            <a:ext cx="2450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66666"/>
                </a:solidFill>
                <a:latin typeface="Poppins"/>
                <a:ea typeface="Poppins"/>
                <a:cs typeface="Poppins"/>
                <a:sym typeface="Poppins"/>
              </a:rPr>
              <a:t>prints</a:t>
            </a:r>
            <a:endParaRPr sz="1000">
              <a:solidFill>
                <a:srgbClr val="666666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66666"/>
                </a:solidFill>
                <a:latin typeface="Poppins"/>
                <a:ea typeface="Poppins"/>
                <a:cs typeface="Poppins"/>
                <a:sym typeface="Poppins"/>
              </a:rPr>
              <a:t>Files</a:t>
            </a:r>
            <a:endParaRPr sz="1000">
              <a:solidFill>
                <a:srgbClr val="66666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70" name="Google Shape;370;p54" title="ChatGPT Image Jul 3, 2025, 08_58_35 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0025" y="3038450"/>
            <a:ext cx="1092301" cy="1092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54" title="ChatGPT Image Jul 3, 2025, 09_03_13 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36287" y="296675"/>
            <a:ext cx="860626" cy="86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54" title="ChatGPT Image Jul 3, 2025, 09_18_03 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59825" y="1435850"/>
            <a:ext cx="785101" cy="7851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76" name="Google Shape;376;p54"/>
          <p:cNvCxnSpPr>
            <a:endCxn id="372" idx="3"/>
          </p:cNvCxnSpPr>
          <p:nvPr/>
        </p:nvCxnSpPr>
        <p:spPr>
          <a:xfrm rot="10800000">
            <a:off x="1744926" y="1828401"/>
            <a:ext cx="2976600" cy="1434300"/>
          </a:xfrm>
          <a:prstGeom prst="straightConnector1">
            <a:avLst/>
          </a:prstGeom>
          <a:noFill/>
          <a:ln w="19050" cap="flat" cmpd="sng">
            <a:solidFill>
              <a:srgbClr val="99999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77" name="Google Shape;377;p54"/>
          <p:cNvSpPr txBox="1"/>
          <p:nvPr/>
        </p:nvSpPr>
        <p:spPr>
          <a:xfrm>
            <a:off x="494675" y="1038850"/>
            <a:ext cx="1715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GPT 4.1 agent </a:t>
            </a:r>
            <a:br>
              <a:rPr lang="en"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"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(+ WebSearch)</a:t>
            </a:r>
            <a:endParaRPr sz="10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78" name="Google Shape;378;p54"/>
          <p:cNvSpPr txBox="1"/>
          <p:nvPr/>
        </p:nvSpPr>
        <p:spPr>
          <a:xfrm>
            <a:off x="650425" y="3937300"/>
            <a:ext cx="12351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+</a:t>
            </a:r>
            <a:endParaRPr sz="10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Custom libraries</a:t>
            </a:r>
            <a:endParaRPr>
              <a:solidFill>
                <a:schemeClr val="dk1"/>
              </a:solidFill>
            </a:endParaRPr>
          </a:p>
        </p:txBody>
      </p:sp>
      <p:cxnSp>
        <p:nvCxnSpPr>
          <p:cNvPr id="379" name="Google Shape;379;p54"/>
          <p:cNvCxnSpPr/>
          <p:nvPr/>
        </p:nvCxnSpPr>
        <p:spPr>
          <a:xfrm>
            <a:off x="1763475" y="2063425"/>
            <a:ext cx="2841000" cy="1341900"/>
          </a:xfrm>
          <a:prstGeom prst="straightConnector1">
            <a:avLst/>
          </a:prstGeom>
          <a:noFill/>
          <a:ln w="19050" cap="flat" cmpd="sng">
            <a:solidFill>
              <a:srgbClr val="99999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0" name="Google Shape;380;p54"/>
          <p:cNvSpPr txBox="1"/>
          <p:nvPr/>
        </p:nvSpPr>
        <p:spPr>
          <a:xfrm>
            <a:off x="2190325" y="2508500"/>
            <a:ext cx="1092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66666"/>
                </a:solidFill>
                <a:latin typeface="Poppins"/>
                <a:ea typeface="Poppins"/>
                <a:cs typeface="Poppins"/>
                <a:sym typeface="Poppins"/>
              </a:rPr>
              <a:t>answer</a:t>
            </a:r>
            <a:endParaRPr sz="1000">
              <a:solidFill>
                <a:srgbClr val="66666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81" name="Google Shape;381;p54"/>
          <p:cNvSpPr txBox="1"/>
          <p:nvPr/>
        </p:nvSpPr>
        <p:spPr>
          <a:xfrm>
            <a:off x="6076300" y="1741300"/>
            <a:ext cx="310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📢</a:t>
            </a:r>
            <a:endParaRPr/>
          </a:p>
        </p:txBody>
      </p:sp>
      <p:sp>
        <p:nvSpPr>
          <p:cNvPr id="382" name="Google Shape;382;p54"/>
          <p:cNvSpPr txBox="1"/>
          <p:nvPr/>
        </p:nvSpPr>
        <p:spPr>
          <a:xfrm>
            <a:off x="4856400" y="2735000"/>
            <a:ext cx="31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✅</a:t>
            </a:r>
            <a:endParaRPr sz="13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✍🏻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213CB7-F664-B9DB-2ACE-EA50C6FB4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821" y="4396104"/>
            <a:ext cx="805628" cy="33602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3E2F671-CA14-0310-ED9C-4BE55F07AB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57599" y="4403474"/>
            <a:ext cx="446915" cy="3360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7"/>
          <p:cNvSpPr txBox="1">
            <a:spLocks noGrp="1"/>
          </p:cNvSpPr>
          <p:nvPr>
            <p:ph type="title"/>
          </p:nvPr>
        </p:nvSpPr>
        <p:spPr>
          <a:xfrm>
            <a:off x="623888" y="76438"/>
            <a:ext cx="7886700" cy="3771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Lección 5: el sandbox de Anthropic</a:t>
            </a:r>
          </a:p>
        </p:txBody>
      </p:sp>
      <p:sp>
        <p:nvSpPr>
          <p:cNvPr id="491" name="Google Shape;491;p67"/>
          <p:cNvSpPr txBox="1">
            <a:spLocks noGrp="1"/>
          </p:cNvSpPr>
          <p:nvPr>
            <p:ph type="body" idx="1"/>
          </p:nvPr>
        </p:nvSpPr>
        <p:spPr>
          <a:xfrm>
            <a:off x="276500" y="809725"/>
            <a:ext cx="8472600" cy="3959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La tool code_execution: un contenedor gestionado — sin internet, pandas incluido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CSV por Files API, artefactos de vuelta, contenedor persistente entre llamadas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El contraste: tool-calling puro (menú fijo) vs escribir pandas — mediana, correlación, R²</a:t>
            </a:r>
            <a:endParaRPr sz="1908">
              <a:solidFill>
                <a:schemeClr val="dk1"/>
              </a:solidFill>
            </a:endParaRPr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s" sz="1608"/>
              <a:t>El de menú fijo declara su techo honestamente; el de código no tiene ese techo</a:t>
            </a:r>
            <a:endParaRPr sz="1608"/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b="1" sz="1908">
                <a:solidFill>
                  <a:schemeClr val="dk1"/>
                </a:solidFill>
              </a:rPr>
              <a:t>La regla: el código del modelo jamás corre donde corre tu aplicación</a:t>
            </a:r>
            <a:endParaRPr sz="1908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55"/>
          <p:cNvSpPr txBox="1"/>
          <p:nvPr/>
        </p:nvSpPr>
        <p:spPr>
          <a:xfrm>
            <a:off x="9564425" y="1697500"/>
            <a:ext cx="5653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88" name="Google Shape;388;p55"/>
          <p:cNvSpPr txBox="1"/>
          <p:nvPr/>
        </p:nvSpPr>
        <p:spPr>
          <a:xfrm>
            <a:off x="353700" y="2317500"/>
            <a:ext cx="8790300" cy="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>
                <a:solidFill>
                  <a:srgbClr val="005AD6"/>
                </a:solidFill>
                <a:latin typeface="Poppins"/>
                <a:ea typeface="Poppins"/>
                <a:cs typeface="Poppins"/>
                <a:sym typeface="Poppins"/>
              </a:rPr>
              <a:t>Demo</a:t>
            </a:r>
            <a:endParaRPr sz="2200" dirty="0">
              <a:solidFill>
                <a:srgbClr val="005AD6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Evaluando LLMs multimodales: 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 prueba del Unicornio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7"/>
          <p:cNvSpPr txBox="1">
            <a:spLocks noGrp="1"/>
          </p:cNvSpPr>
          <p:nvPr>
            <p:ph type="title"/>
          </p:nvPr>
        </p:nvSpPr>
        <p:spPr>
          <a:xfrm>
            <a:off x="623888" y="76438"/>
            <a:ext cx="7886700" cy="3771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Lección 6: dibujar a ciegas</a:t>
            </a:r>
          </a:p>
        </p:txBody>
      </p:sp>
      <p:sp>
        <p:nvSpPr>
          <p:cNvPr id="491" name="Google Shape;491;p67"/>
          <p:cNvSpPr txBox="1">
            <a:spLocks noGrp="1"/>
          </p:cNvSpPr>
          <p:nvPr>
            <p:ph type="body" idx="1"/>
          </p:nvPr>
        </p:nvSpPr>
        <p:spPr>
          <a:xfrm>
            <a:off x="276500" y="809725"/>
            <a:ext cx="8472600" cy="3959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El test del unicornio (Sparks of AGI, 2023) con los modelos de hoy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TikZ: texto → compilar → imagen; el modelo dibuja sin ver jamás el resultado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3 modelos × 4 dibujos; los fracasos de compilación también son dato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sz="1908">
                <a:solidFill>
                  <a:schemeClr val="dk1"/>
                </a:solidFill>
              </a:rPr>
              <a:t>El juez visual: un modelo con visión mira cada dibujo y lo puntúa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s" b="1" sz="1908">
                <a:solidFill>
                  <a:schemeClr val="dk1"/>
                </a:solidFill>
              </a:rPr>
              <a:t>Texto → código → imagen → juicio visual: el círculo multimodal completo</a:t>
            </a:r>
            <a:endParaRPr sz="1908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5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Anexo: 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“GenAI, consideraciones estratégicas”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60"/>
          <p:cNvSpPr/>
          <p:nvPr/>
        </p:nvSpPr>
        <p:spPr>
          <a:xfrm>
            <a:off x="3760556" y="2338028"/>
            <a:ext cx="1618522" cy="658751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 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LLMs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Cual es su valor?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60"/>
          <p:cNvSpPr/>
          <p:nvPr/>
        </p:nvSpPr>
        <p:spPr>
          <a:xfrm>
            <a:off x="3756193" y="3672982"/>
            <a:ext cx="1622885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Donde es suplementario?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60"/>
          <p:cNvSpPr/>
          <p:nvPr/>
        </p:nvSpPr>
        <p:spPr>
          <a:xfrm>
            <a:off x="3756192" y="1037973"/>
            <a:ext cx="1622885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Donde es complementario?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60"/>
          <p:cNvSpPr/>
          <p:nvPr/>
        </p:nvSpPr>
        <p:spPr>
          <a:xfrm>
            <a:off x="964130" y="2342389"/>
            <a:ext cx="1622885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 necesita?</a:t>
            </a:r>
            <a:endParaRPr sz="1100"/>
          </a:p>
        </p:txBody>
      </p:sp>
      <p:sp>
        <p:nvSpPr>
          <p:cNvPr id="427" name="Google Shape;427;p60"/>
          <p:cNvSpPr/>
          <p:nvPr/>
        </p:nvSpPr>
        <p:spPr>
          <a:xfrm>
            <a:off x="6548253" y="2342389"/>
            <a:ext cx="1622885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Donde lo uso?</a:t>
            </a:r>
            <a:endParaRPr sz="1100"/>
          </a:p>
        </p:txBody>
      </p:sp>
      <p:cxnSp>
        <p:nvCxnSpPr>
          <p:cNvPr id="428" name="Google Shape;428;p60"/>
          <p:cNvCxnSpPr/>
          <p:nvPr/>
        </p:nvCxnSpPr>
        <p:spPr>
          <a:xfrm rot="10800000" flipH="1">
            <a:off x="2584403" y="2661296"/>
            <a:ext cx="1165685" cy="16577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  <p:cxnSp>
        <p:nvCxnSpPr>
          <p:cNvPr id="429" name="Google Shape;429;p60"/>
          <p:cNvCxnSpPr/>
          <p:nvPr/>
        </p:nvCxnSpPr>
        <p:spPr>
          <a:xfrm rot="10800000" flipH="1">
            <a:off x="5378917" y="2676838"/>
            <a:ext cx="1165684" cy="7852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  <p:cxnSp>
        <p:nvCxnSpPr>
          <p:cNvPr id="430" name="Google Shape;430;p60"/>
          <p:cNvCxnSpPr/>
          <p:nvPr/>
        </p:nvCxnSpPr>
        <p:spPr>
          <a:xfrm>
            <a:off x="4554386" y="1694382"/>
            <a:ext cx="871" cy="63781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  <p:cxnSp>
        <p:nvCxnSpPr>
          <p:cNvPr id="431" name="Google Shape;431;p60"/>
          <p:cNvCxnSpPr/>
          <p:nvPr/>
        </p:nvCxnSpPr>
        <p:spPr>
          <a:xfrm rot="10800000">
            <a:off x="4579526" y="2993399"/>
            <a:ext cx="3488" cy="72768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61"/>
          <p:cNvSpPr/>
          <p:nvPr/>
        </p:nvSpPr>
        <p:spPr>
          <a:xfrm>
            <a:off x="3764919" y="627891"/>
            <a:ext cx="1618522" cy="658751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 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LLMs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Cual es su valor?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61"/>
          <p:cNvSpPr txBox="1"/>
          <p:nvPr/>
        </p:nvSpPr>
        <p:spPr>
          <a:xfrm>
            <a:off x="2493530" y="1642375"/>
            <a:ext cx="6137100" cy="9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Reducir el costo de:</a:t>
            </a:r>
            <a:endParaRPr sz="1400" b="1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5900" marR="0" lvl="0" indent="-215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Entender y generar texto </a:t>
            </a:r>
            <a:r>
              <a:rPr lang="en" sz="1800">
                <a:solidFill>
                  <a:srgbClr val="595959"/>
                </a:solidFill>
              </a:rPr>
              <a:t>lógico en base a un contexto</a:t>
            </a:r>
            <a:endParaRPr sz="11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62"/>
          <p:cNvSpPr/>
          <p:nvPr/>
        </p:nvSpPr>
        <p:spPr>
          <a:xfrm>
            <a:off x="3760556" y="2338028"/>
            <a:ext cx="1618522" cy="658751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 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LLMs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Cual es su valor?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62"/>
          <p:cNvSpPr/>
          <p:nvPr/>
        </p:nvSpPr>
        <p:spPr>
          <a:xfrm>
            <a:off x="3756193" y="3672982"/>
            <a:ext cx="1622885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Donde es suplementario?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62"/>
          <p:cNvSpPr/>
          <p:nvPr/>
        </p:nvSpPr>
        <p:spPr>
          <a:xfrm>
            <a:off x="3756192" y="1037973"/>
            <a:ext cx="1622885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Donde es complementario?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62"/>
          <p:cNvSpPr/>
          <p:nvPr/>
        </p:nvSpPr>
        <p:spPr>
          <a:xfrm>
            <a:off x="964130" y="2342389"/>
            <a:ext cx="1622885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 necesita?</a:t>
            </a:r>
            <a:endParaRPr sz="1100"/>
          </a:p>
        </p:txBody>
      </p:sp>
      <p:sp>
        <p:nvSpPr>
          <p:cNvPr id="446" name="Google Shape;446;p62"/>
          <p:cNvSpPr/>
          <p:nvPr/>
        </p:nvSpPr>
        <p:spPr>
          <a:xfrm>
            <a:off x="6548253" y="2342389"/>
            <a:ext cx="1622885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Donde lo uso?</a:t>
            </a:r>
            <a:endParaRPr sz="1100"/>
          </a:p>
        </p:txBody>
      </p:sp>
      <p:cxnSp>
        <p:nvCxnSpPr>
          <p:cNvPr id="447" name="Google Shape;447;p62"/>
          <p:cNvCxnSpPr/>
          <p:nvPr/>
        </p:nvCxnSpPr>
        <p:spPr>
          <a:xfrm rot="10800000" flipH="1">
            <a:off x="2584403" y="2661296"/>
            <a:ext cx="1165685" cy="16577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  <p:cxnSp>
        <p:nvCxnSpPr>
          <p:cNvPr id="448" name="Google Shape;448;p62"/>
          <p:cNvCxnSpPr/>
          <p:nvPr/>
        </p:nvCxnSpPr>
        <p:spPr>
          <a:xfrm rot="10800000" flipH="1">
            <a:off x="5378917" y="2676838"/>
            <a:ext cx="1165684" cy="7852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  <p:cxnSp>
        <p:nvCxnSpPr>
          <p:cNvPr id="449" name="Google Shape;449;p62"/>
          <p:cNvCxnSpPr/>
          <p:nvPr/>
        </p:nvCxnSpPr>
        <p:spPr>
          <a:xfrm>
            <a:off x="4554386" y="1694382"/>
            <a:ext cx="871" cy="63781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  <p:cxnSp>
        <p:nvCxnSpPr>
          <p:cNvPr id="450" name="Google Shape;450;p62"/>
          <p:cNvCxnSpPr/>
          <p:nvPr/>
        </p:nvCxnSpPr>
        <p:spPr>
          <a:xfrm rot="10800000">
            <a:off x="4579526" y="2993399"/>
            <a:ext cx="3488" cy="72768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63"/>
          <p:cNvSpPr/>
          <p:nvPr/>
        </p:nvSpPr>
        <p:spPr>
          <a:xfrm>
            <a:off x="1278238" y="955084"/>
            <a:ext cx="1622885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Donde es suplementario?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63"/>
          <p:cNvSpPr/>
          <p:nvPr/>
        </p:nvSpPr>
        <p:spPr>
          <a:xfrm>
            <a:off x="5710635" y="955084"/>
            <a:ext cx="1622885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Donde es complementario?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63"/>
          <p:cNvSpPr txBox="1"/>
          <p:nvPr/>
        </p:nvSpPr>
        <p:spPr>
          <a:xfrm>
            <a:off x="699116" y="1919796"/>
            <a:ext cx="2785368" cy="109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215900" marR="0" lvl="0" indent="-2159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Procesamiento repetitivo</a:t>
            </a:r>
            <a:endParaRPr sz="14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5900" marR="0" lvl="0" indent="-215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Logicas simples</a:t>
            </a:r>
            <a:endParaRPr sz="1100"/>
          </a:p>
        </p:txBody>
      </p:sp>
      <p:sp>
        <p:nvSpPr>
          <p:cNvPr id="458" name="Google Shape;458;p63"/>
          <p:cNvSpPr txBox="1"/>
          <p:nvPr/>
        </p:nvSpPr>
        <p:spPr>
          <a:xfrm>
            <a:off x="5130183" y="1889834"/>
            <a:ext cx="2785500" cy="9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215900" marR="0" lvl="0" indent="-2159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Procesos creativos</a:t>
            </a:r>
            <a:endParaRPr sz="110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5900" marR="0" lvl="0" indent="-215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rgbClr val="595959"/>
                </a:solidFill>
              </a:rPr>
              <a:t>Lógicas</a:t>
            </a:r>
            <a:r>
              <a:rPr lang="en" sz="18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complejas</a:t>
            </a:r>
            <a:endParaRPr sz="18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63"/>
          <p:cNvSpPr/>
          <p:nvPr/>
        </p:nvSpPr>
        <p:spPr>
          <a:xfrm>
            <a:off x="1412075" y="3466025"/>
            <a:ext cx="5921400" cy="9003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+Potencia =&gt; + Suplementariedad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64"/>
          <p:cNvSpPr/>
          <p:nvPr/>
        </p:nvSpPr>
        <p:spPr>
          <a:xfrm>
            <a:off x="3760556" y="2338028"/>
            <a:ext cx="1618522" cy="658751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 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LLMs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Cual es su valor?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64"/>
          <p:cNvSpPr/>
          <p:nvPr/>
        </p:nvSpPr>
        <p:spPr>
          <a:xfrm>
            <a:off x="3756193" y="3672982"/>
            <a:ext cx="1622885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Donde es suplementario?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64"/>
          <p:cNvSpPr/>
          <p:nvPr/>
        </p:nvSpPr>
        <p:spPr>
          <a:xfrm>
            <a:off x="3756192" y="1037973"/>
            <a:ext cx="1622885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Donde es complementario?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64"/>
          <p:cNvSpPr/>
          <p:nvPr/>
        </p:nvSpPr>
        <p:spPr>
          <a:xfrm>
            <a:off x="964130" y="2342389"/>
            <a:ext cx="1622885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 necesita?</a:t>
            </a:r>
            <a:endParaRPr sz="1100"/>
          </a:p>
        </p:txBody>
      </p:sp>
      <p:sp>
        <p:nvSpPr>
          <p:cNvPr id="468" name="Google Shape;468;p64"/>
          <p:cNvSpPr/>
          <p:nvPr/>
        </p:nvSpPr>
        <p:spPr>
          <a:xfrm>
            <a:off x="6548253" y="2342389"/>
            <a:ext cx="1622885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Donde lo uso?</a:t>
            </a:r>
            <a:endParaRPr sz="1100"/>
          </a:p>
        </p:txBody>
      </p:sp>
      <p:cxnSp>
        <p:nvCxnSpPr>
          <p:cNvPr id="469" name="Google Shape;469;p64"/>
          <p:cNvCxnSpPr/>
          <p:nvPr/>
        </p:nvCxnSpPr>
        <p:spPr>
          <a:xfrm rot="10800000" flipH="1">
            <a:off x="2584403" y="2661296"/>
            <a:ext cx="1165685" cy="16577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  <p:cxnSp>
        <p:nvCxnSpPr>
          <p:cNvPr id="470" name="Google Shape;470;p64"/>
          <p:cNvCxnSpPr/>
          <p:nvPr/>
        </p:nvCxnSpPr>
        <p:spPr>
          <a:xfrm rot="10800000" flipH="1">
            <a:off x="5378917" y="2676838"/>
            <a:ext cx="1165684" cy="7852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  <p:cxnSp>
        <p:nvCxnSpPr>
          <p:cNvPr id="471" name="Google Shape;471;p64"/>
          <p:cNvCxnSpPr/>
          <p:nvPr/>
        </p:nvCxnSpPr>
        <p:spPr>
          <a:xfrm>
            <a:off x="4554386" y="1694382"/>
            <a:ext cx="871" cy="63781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  <p:cxnSp>
        <p:nvCxnSpPr>
          <p:cNvPr id="472" name="Google Shape;472;p64"/>
          <p:cNvCxnSpPr/>
          <p:nvPr/>
        </p:nvCxnSpPr>
        <p:spPr>
          <a:xfrm rot="10800000">
            <a:off x="4579526" y="2993399"/>
            <a:ext cx="3488" cy="72768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65"/>
          <p:cNvSpPr/>
          <p:nvPr/>
        </p:nvSpPr>
        <p:spPr>
          <a:xfrm>
            <a:off x="1713142" y="706415"/>
            <a:ext cx="1622884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 necesita?</a:t>
            </a:r>
            <a:endParaRPr sz="1100"/>
          </a:p>
        </p:txBody>
      </p:sp>
      <p:sp>
        <p:nvSpPr>
          <p:cNvPr id="478" name="Google Shape;478;p65"/>
          <p:cNvSpPr/>
          <p:nvPr/>
        </p:nvSpPr>
        <p:spPr>
          <a:xfrm>
            <a:off x="6356299" y="706415"/>
            <a:ext cx="1622884" cy="66311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25400" cap="flat" cmpd="sng">
            <a:solidFill>
              <a:srgbClr val="15151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Donde lo uso?</a:t>
            </a:r>
            <a:endParaRPr sz="1100"/>
          </a:p>
        </p:txBody>
      </p:sp>
      <p:sp>
        <p:nvSpPr>
          <p:cNvPr id="479" name="Google Shape;479;p65"/>
          <p:cNvSpPr txBox="1"/>
          <p:nvPr/>
        </p:nvSpPr>
        <p:spPr>
          <a:xfrm>
            <a:off x="710227" y="1697850"/>
            <a:ext cx="4227300" cy="25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215900" marR="0" lvl="0" indent="-2159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Computo</a:t>
            </a:r>
            <a:endParaRPr sz="1100"/>
          </a:p>
          <a:p>
            <a:pPr marL="215900" marR="0" lvl="0" indent="-215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Backend</a:t>
            </a:r>
            <a:endParaRPr sz="1100"/>
          </a:p>
          <a:p>
            <a:pPr marL="215900" marR="0" lvl="0" indent="-215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</a:pPr>
            <a:r>
              <a:rPr lang="en" sz="1800" b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Datos</a:t>
            </a:r>
            <a:r>
              <a:rPr lang="en" sz="18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sz="1100"/>
          </a:p>
          <a:p>
            <a:pPr marL="558800" marR="0" lvl="1" indent="-2159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</a:pPr>
            <a:r>
              <a:rPr lang="en" sz="18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No muchos, los correcto</a:t>
            </a:r>
            <a:endParaRPr sz="18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558800" marR="0" lvl="1" indent="-2159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rgbClr val="595959"/>
                </a:solidFill>
              </a:rPr>
              <a:t>Alto ratio de información/token.</a:t>
            </a:r>
            <a:endParaRPr sz="1100"/>
          </a:p>
          <a:p>
            <a:pPr marL="558800" marR="0" lvl="1" indent="-2159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</a:pPr>
            <a:r>
              <a:rPr lang="en" sz="18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Alta disponibilidad</a:t>
            </a:r>
            <a:endParaRPr sz="18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558800" marR="0" lvl="1" indent="-2159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</a:pPr>
            <a:r>
              <a:rPr lang="en" sz="1800" b="0" i="0" u="none" strike="noStrike" cap="non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Entendibles para humanos</a:t>
            </a:r>
            <a:endParaRPr sz="18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65"/>
          <p:cNvSpPr txBox="1"/>
          <p:nvPr/>
        </p:nvSpPr>
        <p:spPr>
          <a:xfrm>
            <a:off x="5396513" y="1695635"/>
            <a:ext cx="3628800" cy="14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215900" marR="0" lvl="0" indent="-2159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Interfaces</a:t>
            </a:r>
            <a:endParaRPr sz="18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marR="0" lvl="1" indent="-3429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○"/>
            </a:pPr>
            <a:r>
              <a:rPr lang="en" sz="1800">
                <a:solidFill>
                  <a:srgbClr val="595959"/>
                </a:solidFill>
              </a:rPr>
              <a:t>Voz</a:t>
            </a:r>
            <a:endParaRPr sz="1800">
              <a:solidFill>
                <a:srgbClr val="595959"/>
              </a:solidFill>
            </a:endParaRPr>
          </a:p>
          <a:p>
            <a:pPr marL="914400" marR="0" lvl="1" indent="-342900" algn="l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○"/>
            </a:pPr>
            <a:r>
              <a:rPr lang="en" sz="1800">
                <a:solidFill>
                  <a:srgbClr val="595959"/>
                </a:solidFill>
              </a:rPr>
              <a:t>Front</a:t>
            </a:r>
            <a:endParaRPr sz="1800">
              <a:solidFill>
                <a:srgbClr val="595959"/>
              </a:solidFill>
            </a:endParaRPr>
          </a:p>
          <a:p>
            <a:pPr marL="2159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</a:pPr>
            <a:r>
              <a:rPr lang="en" sz="1800">
                <a:solidFill>
                  <a:srgbClr val="595959"/>
                </a:solidFill>
              </a:rPr>
              <a:t>Canales de comunicación:</a:t>
            </a:r>
            <a:endParaRPr sz="1800">
              <a:solidFill>
                <a:srgbClr val="595959"/>
              </a:solidFill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○"/>
            </a:pPr>
            <a:r>
              <a:rPr lang="en" sz="1800">
                <a:solidFill>
                  <a:srgbClr val="595959"/>
                </a:solidFill>
              </a:rPr>
              <a:t>Llegada a clientes</a:t>
            </a:r>
            <a:endParaRPr sz="1800">
              <a:solidFill>
                <a:srgbClr val="595959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6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Anexo 2: 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“Segundo(y medio) año del GenAI, algunas reflexiones”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7"/>
          <p:cNvSpPr txBox="1">
            <a:spLocks noGrp="1"/>
          </p:cNvSpPr>
          <p:nvPr>
            <p:ph type="title"/>
          </p:nvPr>
        </p:nvSpPr>
        <p:spPr>
          <a:xfrm>
            <a:off x="623888" y="76438"/>
            <a:ext cx="7886700" cy="377100"/>
          </a:xfrm>
          <a:prstGeom prst="rect">
            <a:avLst/>
          </a:prstGeom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Las opiniones son no reflejan…</a:t>
            </a:r>
            <a:endParaRPr i="1"/>
          </a:p>
        </p:txBody>
      </p:sp>
      <p:sp>
        <p:nvSpPr>
          <p:cNvPr id="491" name="Google Shape;491;p67"/>
          <p:cNvSpPr txBox="1">
            <a:spLocks noGrp="1"/>
          </p:cNvSpPr>
          <p:nvPr>
            <p:ph type="body" idx="1"/>
          </p:nvPr>
        </p:nvSpPr>
        <p:spPr>
          <a:xfrm>
            <a:off x="276500" y="809725"/>
            <a:ext cx="8472600" cy="39597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457200" lvl="0" indent="-33159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908">
                <a:solidFill>
                  <a:schemeClr val="dk1"/>
                </a:solidFill>
              </a:rPr>
              <a:t>Frameworks todavía cambian constantemente:</a:t>
            </a:r>
            <a:endParaRPr sz="1908">
              <a:solidFill>
                <a:schemeClr val="dk1"/>
              </a:solidFill>
            </a:endParaRPr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608"/>
              <a:t>Programa sabiendo que vas a refactorizar pronto</a:t>
            </a:r>
            <a:endParaRPr sz="1608"/>
          </a:p>
          <a:p>
            <a:pPr marL="1371600" lvl="2" indent="-310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n" sz="1508"/>
              <a:t>Modular</a:t>
            </a:r>
            <a:endParaRPr sz="1508"/>
          </a:p>
          <a:p>
            <a:pPr marL="1371600" lvl="2" indent="-310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n" sz="1508"/>
              <a:t>Sin sobre abstraer</a:t>
            </a:r>
            <a:endParaRPr sz="1508"/>
          </a:p>
          <a:p>
            <a:pPr marL="1371600" lvl="2" indent="-310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n" sz="1508"/>
              <a:t>Simplicidad sobre optimalidad</a:t>
            </a:r>
            <a:endParaRPr sz="1508"/>
          </a:p>
          <a:p>
            <a:pPr marL="457200" lvl="0" indent="-33159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908">
                <a:solidFill>
                  <a:schemeClr val="dk1"/>
                </a:solidFill>
              </a:rPr>
              <a:t>Copilots (i.e. Cursos, etc.) aumentan la eficiencia (pero en proyectos chicos todavia):</a:t>
            </a:r>
            <a:endParaRPr sz="1908">
              <a:solidFill>
                <a:schemeClr val="dk1"/>
              </a:solidFill>
            </a:endParaRPr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608"/>
              <a:t>Todavía se marean en codebases grandes, donde entender la arquitectura no es trivial</a:t>
            </a:r>
            <a:endParaRPr sz="1608"/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608"/>
              <a:t>Ante esto, quebrar sistemas en módulos pequeños (microservicios) apalanca mejor la aceleración de usar copilotos.</a:t>
            </a:r>
            <a:endParaRPr sz="1608"/>
          </a:p>
          <a:p>
            <a:pPr marL="91440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608"/>
              <a:t>No hace más experto a un experto, lo hace más polivalente.</a:t>
            </a:r>
            <a:endParaRPr sz="1608"/>
          </a:p>
          <a:p>
            <a:pPr marL="457200" lvl="0" indent="-33159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908">
                <a:solidFill>
                  <a:schemeClr val="dk1"/>
                </a:solidFill>
              </a:rPr>
              <a:t>Tracing es “gratis”, úsenlo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908">
                <a:solidFill>
                  <a:schemeClr val="dk1"/>
                </a:solidFill>
              </a:rPr>
              <a:t>Independiente de la complejidad, el prompt compilado debe pasar el </a:t>
            </a:r>
            <a:r>
              <a:rPr lang="en" sz="1908" i="1">
                <a:solidFill>
                  <a:schemeClr val="dk1"/>
                </a:solidFill>
              </a:rPr>
              <a:t>sniff test</a:t>
            </a:r>
            <a:endParaRPr sz="1908" i="1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908">
                <a:solidFill>
                  <a:schemeClr val="dk1"/>
                </a:solidFill>
              </a:rPr>
              <a:t>A mayor potencia de modelo, mayor simpleza de arquitectura.</a:t>
            </a:r>
            <a:endParaRPr sz="1908">
              <a:solidFill>
                <a:schemeClr val="dk1"/>
              </a:solidFill>
            </a:endParaRPr>
          </a:p>
          <a:p>
            <a:pPr marL="457200" lvl="0" indent="-33159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en" sz="1908">
                <a:solidFill>
                  <a:schemeClr val="dk1"/>
                </a:solidFill>
              </a:rPr>
              <a:t>Si tu error rate es:</a:t>
            </a:r>
            <a:endParaRPr sz="1908">
              <a:solidFill>
                <a:schemeClr val="dk1"/>
              </a:solidFill>
            </a:endParaRPr>
          </a:p>
          <a:p>
            <a:pPr marL="914400" lvl="1" indent="-33159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18655"/>
              <a:buChar char="○"/>
            </a:pPr>
            <a:r>
              <a:rPr lang="en" sz="1608"/>
              <a:t>&gt; 50% no hay horno para bollos, espera a gpt5 o cambia de problema</a:t>
            </a:r>
            <a:endParaRPr sz="1908">
              <a:solidFill>
                <a:schemeClr val="dk1"/>
              </a:solidFill>
            </a:endParaRPr>
          </a:p>
          <a:p>
            <a:pPr marL="914400" marR="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608"/>
              <a:t>&gt; 30%: Mala arquitectura</a:t>
            </a:r>
            <a:endParaRPr sz="1608"/>
          </a:p>
          <a:p>
            <a:pPr marL="914400" marR="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608"/>
              <a:t>&gt;10%, &lt;30%: Falta mejora continua</a:t>
            </a:r>
            <a:endParaRPr sz="1608"/>
          </a:p>
          <a:p>
            <a:pPr marL="914400" marR="0" lvl="1" indent="-31539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608"/>
              <a:t>&lt;10%: Falta mas dataset</a:t>
            </a:r>
            <a:endParaRPr sz="1608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68"/>
          <p:cNvSpPr txBox="1">
            <a:spLocks noGrp="1"/>
          </p:cNvSpPr>
          <p:nvPr>
            <p:ph type="subTitle" idx="4294967295"/>
          </p:nvPr>
        </p:nvSpPr>
        <p:spPr>
          <a:xfrm>
            <a:off x="261374" y="4133753"/>
            <a:ext cx="4310700" cy="58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r>
              <a:rPr lang="en" sz="21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Profesor: </a:t>
            </a:r>
            <a:r>
              <a:rPr lang="en">
                <a:solidFill>
                  <a:schemeClr val="lt1"/>
                </a:solidFill>
              </a:rPr>
              <a:t>Jose manuel Peña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r>
              <a:rPr lang="en" sz="21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Email: </a:t>
            </a:r>
            <a:r>
              <a:rPr lang="en">
                <a:solidFill>
                  <a:schemeClr val="lt1"/>
                </a:solidFill>
              </a:rPr>
              <a:t>jmp2260</a:t>
            </a:r>
            <a:r>
              <a:rPr lang="en" sz="21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@</a:t>
            </a:r>
            <a:r>
              <a:rPr lang="en">
                <a:solidFill>
                  <a:schemeClr val="lt1"/>
                </a:solidFill>
              </a:rPr>
              <a:t>columbia</a:t>
            </a:r>
            <a:r>
              <a:rPr lang="en" sz="21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">
                <a:solidFill>
                  <a:schemeClr val="lt1"/>
                </a:solidFill>
              </a:rPr>
              <a:t>edu</a:t>
            </a:r>
            <a:endParaRPr sz="21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63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sz="21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lum">
  <a:themeElements>
    <a:clrScheme name="Plum">
      <a:dk1>
        <a:srgbClr val="611BB8"/>
      </a:dk1>
      <a:lt1>
        <a:srgbClr val="FFFFFF"/>
      </a:lt1>
      <a:dk2>
        <a:srgbClr val="000000"/>
      </a:dk2>
      <a:lt2>
        <a:srgbClr val="7F7F7F"/>
      </a:lt2>
      <a:accent1>
        <a:srgbClr val="333333"/>
      </a:accent1>
      <a:accent2>
        <a:srgbClr val="5E2B97"/>
      </a:accent2>
      <a:accent3>
        <a:srgbClr val="7E57C2"/>
      </a:accent3>
      <a:accent4>
        <a:srgbClr val="C77025"/>
      </a:accent4>
      <a:accent5>
        <a:srgbClr val="009688"/>
      </a:accent5>
      <a:accent6>
        <a:srgbClr val="FFD600"/>
      </a:accent6>
      <a:hlink>
        <a:srgbClr val="009688"/>
      </a:hlink>
      <a:folHlink>
        <a:srgbClr val="00968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895</Words>
  <Application>Microsoft Macintosh PowerPoint</Application>
  <PresentationFormat>On-screen Show (16:9)</PresentationFormat>
  <Paragraphs>197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Arial</vt:lpstr>
      <vt:lpstr>Times</vt:lpstr>
      <vt:lpstr>Poppins</vt:lpstr>
      <vt:lpstr>Calibri</vt:lpstr>
      <vt:lpstr>Poppins Medium</vt:lpstr>
      <vt:lpstr>Raleway</vt:lpstr>
      <vt:lpstr>Tema de Office</vt:lpstr>
      <vt:lpstr>Plum</vt:lpstr>
      <vt:lpstr>Diplomado de Extensión en IA Generativa para Organizaciones  Modulo 5, Clase 5: Multimodalidad e integración</vt:lpstr>
      <vt:lpstr>Temario</vt:lpstr>
      <vt:lpstr>2024: el inicio de la multimodalidad</vt:lpstr>
      <vt:lpstr>Que es Multimodalidad?: LLM vs MLLM (o MLM)</vt:lpstr>
      <vt:lpstr>Importancia de la multimodalidad</vt:lpstr>
      <vt:lpstr>Como funciona?</vt:lpstr>
      <vt:lpstr>Como funciona?</vt:lpstr>
      <vt:lpstr>Como funciona?: CLIP   (Contrastive Language-Image Pre-training)</vt:lpstr>
      <vt:lpstr>Como funciona?: CLIP</vt:lpstr>
      <vt:lpstr>Expandiendo Clip: LLaVA</vt:lpstr>
      <vt:lpstr>Evaluando LLMs multimodales:  La prueba del Unicornio</vt:lpstr>
      <vt:lpstr>Caso de uso: Agent mode</vt:lpstr>
      <vt:lpstr>WebVoyager</vt:lpstr>
      <vt:lpstr>Ejemplo:  Pictionary</vt:lpstr>
      <vt:lpstr>https://github.com/jose-mdz/draw-and-guess/tree/main/src/lib  https://draw.geeksplainer.wtf/</vt:lpstr>
      <vt:lpstr>Ejemplo:  Educación</vt:lpstr>
      <vt:lpstr>GPT Visión en educación</vt:lpstr>
      <vt:lpstr>Anexo:  MCPs</vt:lpstr>
      <vt:lpstr>Anexo:  Code Act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Anexo:  “GenAI, consideraciones estratégicas”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Anexo 2:  “Segundo(y medio) año del GenAI, algunas reflexiones”</vt:lpstr>
      <vt:lpstr>Las opiniones son no reflejan…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José Manuel Peña Mendez</cp:lastModifiedBy>
  <cp:revision>1</cp:revision>
  <dcterms:modified xsi:type="dcterms:W3CDTF">2026-01-14T14:00:15Z</dcterms:modified>
</cp:coreProperties>
</file>