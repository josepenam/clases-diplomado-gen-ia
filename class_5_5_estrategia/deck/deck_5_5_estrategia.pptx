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305" r:id="rId2"/>
    <p:sldId id="257" r:id="rId3"/>
    <p:sldId id="258" r:id="rId4"/>
    <p:sldId id="259" r:id="rId5"/>
    <p:sldId id="260" r:id="rId6"/>
    <p:sldId id="262" r:id="rId7"/>
    <p:sldId id="263" r:id="rId8"/>
    <p:sldId id="261"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8" r:id="rId22"/>
    <p:sldId id="279" r:id="rId23"/>
    <p:sldId id="280" r:id="rId24"/>
    <p:sldId id="281" r:id="rId25"/>
    <p:sldId id="282" r:id="rId26"/>
    <p:sldId id="283" r:id="rId27"/>
    <p:sldId id="284" r:id="rId28"/>
    <p:sldId id="285" r:id="rId29"/>
    <p:sldId id="286" r:id="rId30"/>
    <p:sldId id="288" r:id="rId31"/>
    <p:sldId id="289" r:id="rId32"/>
    <p:sldId id="296" r:id="rId33"/>
    <p:sldId id="294" r:id="rId34"/>
    <p:sldId id="297" r:id="rId35"/>
    <p:sldId id="298" r:id="rId36"/>
    <p:sldId id="299" r:id="rId37"/>
    <p:sldId id="292" r:id="rId38"/>
    <p:sldId id="300" r:id="rId39"/>
    <p:sldId id="301" r:id="rId40"/>
    <p:sldId id="302" r:id="rId41"/>
    <p:sldId id="303" r:id="rId42"/>
    <p:sldId id="264" r:id="rId43"/>
    <p:sldId id="306" r:id="rId4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varScale="1">
        <p:scale>
          <a:sx n="106" d="100"/>
          <a:sy n="10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2382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f5ffa278ef_0_2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g2f5ffa278ef_0_2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2f5ffa278ef_0_2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preguntas. Ninguna es técnica. Si las contestas bien, la arquitectura sale casi sola; si las contestas mal, ninguna arquitectura te salva.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mapa vuelve tres veces. Es la única estructura del deck: cada vez que aparece, señala en qué rama estamos. Ninguna de las cinco preguntas se responde con un benchmark.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la única pregunta que la mayoría se salta.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Eso es todo. No «inteligencia», no «razonamiento»: reducción del costo marginal de una operación específica. Todo lo que sigue es una consecuencia de esa frase. Si un caso de uso no se puede escribir así, probablemente no es un caso de uso de LLM.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Volvemos al mapa: ahora las dos ramas verticales — dónde reemplaza la tarea y dónde amplifica a quien la hace.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Suplementario = reemplaza la tarea. Complementario = amplifica a quien la hace. La línea de abajo es la que importa: cada salto de modelo mueve trabajo desde la columna derecha a la izquierda. Lo que hoy diseñas como copiloto, en dos versiones más puede correr solo — así que diseña la frontera como un parámetro, no como una constante.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97 % del uso observado cae en tareas teóricamente factibles; 68 % en plenamente factibles y solo 3 % en no factibles. En cómputo y matemáticas la capacidad teórica es 94 % pero la cobertura observada 33 %. 30 % de los trabajadores tiene exposición observable cero. — Dos lecturas opuestas y las dos correctas. Optimista: el modelo se usa casi siempre donde efectivamente puede. Pesimista: la capacidad teórica va muy por delante del uso real, incluso en la ocupación más expuesta del planeta. Ese delta de 94 a 33 no es un problema de modelo: es de contexto, de datos y de organización — exactamente el argumento del resto de la clase.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Última vuelta al mapa: las dos ramas horizontales — los insumos y los puntos de despliegue.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«Entendibles para humanos» es el criterio más subestimado de la lista: si una persona no puede auditar el contexto que le pasas al modelo, tampoco vas a poder depurar el resultado. Y «alto ratio de información por token» es la versión económica de lo mismo: no se trata de meter más, se trata de que cada token cargue información.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Cambiamos de registro: del marco a la evidencia. Y antes de la primera cifra, la advertencia sobre de dónde salen.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 es pedantería metodológica: es la diferencia entre usar una encuesta como brújula y usarla como censo. La mitad de estos informes los publica quien vende la infraestructura, y aun así son la mejor evidencia disponible — hay que leerlos con eso puesto. Dato de color: el informe de servicios financieros dice «al 65 %, más de dos tercios de los encuestados». 65 no es más de dos tercios. Uso los números; no las frases.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uso activo — financieros 45→65 %, salud 63→70 %, retail 42→58 %. Empresas grandes (1.000+): 76 %. Sigue habiendo 11 % que no usa ni piensa usar. — El dato importante no es el 65: es el 24. Los pilotos se están drenando hacia producción en vez de multiplicarse. Cuando la etapa de evaluación se reduce a la mitad mientras el uso activo sube veinte puntos, el embudo está avanzando, no llenándose. Si tu organización sigue abriendo pilotos al mismo ritmo que hace dos años, está una ola atrás.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(áreas de foco FS 2023/24/25): analítica de datos 56/57/68 · GenAI y LLMs 40/52/61 · IA agéntica —/—/42 · analítica predictiva —/47/42 · ETL 42/41/35. — Dos movimientos en direcciones opuestas. El trabajo de datos sube once puntos en un año; el de plomería de datos baja. No es que la plomería dejó de importar: se está automatizando o externalizando, y la atención se corrió hacia arriba en la pila. La IA agéntica aparece en el ranking el primer año que se pregunta por ella, ya en el tercer lugar.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usa o evalúa agentes — 42 % financieros, 47 % salud, 47 % retail. Ya desplegados: 21/22/20 % — 1 de cada 5 en todas. En retail la adopción agéntica es mayor en empresas chicas (54 %) que grandes (40 %). — Que tres industrias con regulaciones, márgenes y culturas completamente distintas lleguen al mismo 20 % desplegado dice que el cuello de botella no es sectorial: es la misma barrera en todas partes — contexto, datos, gobierno. Y el dato de las empresas chicas de retail rompe la intuición de que esto es un juego de escala: los agentes son un multiplicador de capacidad para quien no tiene gente, lo que corta en las dos direcciones competitivas.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(flujos con agentes, FS): gestión de conocimiento 56 % · procesos internos 52 % · soporte al cliente 43 % · orquestación de tareas 38 % · cumplimiento y riesgo 35 %. — Miren el patrón, no las cifras: todo es trabajo documental de bajo radio de daño. Nadie empezó por decisiones de inversión ni por el cliente sin supervisión. Y el cumplimiento en el quinto lugar es la sorpresa agradable — el área que uno esperaría más reticente es donde el trabajo es más estructurado y auditable, o sea el mejor terreno posible para un agente.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slide más importante del acto. La tentación es elegir el número que te conviene: el 80 % si vas a pedir presupuesto, el 95 % si te quieres oponer. Ninguna de las dos es honesta. Un dueño de caso de uso que ve su proceso mejorar reporta retorno con razón; un CFO que busca la mejora en el EBIT consolidado no la encuentra, también con razón — porque está diluida en doce iniciativas de las cuales ninguna mueve la aguja sola (12 casos de uso distintos sacaron ≥10 % cada uno en «mayor ROI»). Conclusión práctica: no construyas el business case sobre un moonshot, e instrumenta la medición al nivel donde vas a tener que defenderla.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suficiencia de datos de entrenamiento en FS 49 % (2023) → 31 → 16 %. Datos (privacidad, soberanía, dispersión): 33 → 40 %. Talento en retail: 31 → 46 %, hoy la barrera n.º 1. En salud depende del tamaño: presupuesto 40 % en chicas vs. 20 % en grandes; gobierno de datos 39 % y regulación 37 % en grandes. — El problema de volumen de datos se resolvió. Lo reemplazaron dos cosas que no se compran con presupuesto: gobierno de datos y personas. Y el dato clave: la falta de expertos la reportan 39 % de quienes todavía evalúan y solo 24 % de quienes ya operan. La brecha de talento se siente más grande antes de escalar que después — no es que los maduros contrataron mejor, es que aprendieron haciendo. Esperar a tener el equipo perfecto es la forma más segura de no tenerlo nunca.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(FS, solo nube / híbrido / solo on-premise): 2023 36/30/34 · 2024 57/26/16 · 2025 42/47/12. El híbrido pasó de 26 % a 47 % y superó a la nube pura por primera vez. 41 % lo justifica por costo; residencia de datos y cumplimiento es la prioridad n.º 2 de inferencia (36 %). — El péndulo. En 2024 todo iba a la nube; en 2025 el híbrido la superó. Y ojo con la razón: no es principalmente regulatoria, es económica — optimizar costos por tipo de carga. Para una administradora regulada, la lectura es directa: «todo en la nube para siempre» ya es la posición minoritaria del sector, y tener una historia de dónde corre cada carga es parte de la estrategia, no un detalle de infraestructura.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aumentará el presupuesto de IA en 2026 — 83 % financieros (≈100 % aumenta o mantiene), 85 % salud, 90 % retail. Más de 10 %: 44 % financieros (+14 puntos), ~45 % salud, 58 % retail. — Prácticamente nadie recorta: el argumento de «hay que invertir en IA» ya está ganado y ya no es interesante. Lo interesante es la inversión de prioridades: por primera vez se gasta más en hacer funcionar bien lo que ya existe (26 % → 41 %) que en buscar la próxima idea (34 %). Es la señal de madurez más clara de todo el informe — y la más incómoda, porque optimizar exige admitir qué no funcionó. La pregunta de 2026 no es si invertir: es qué apagar.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diagnóstico de la industria al método: cómo se decide qué automatizar.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Casi todos los proyectos de automatización que fracasan empiezan preguntando «¿qué cargo podemos reemplazar?». Es la pregunta equivocada por dos razones: un cargo es un paquete heterogéneo de veinte tareas de las cuales tres son automatizables, y además plantea la conversación como una amenaza, lo que garantiza que nadie te dé información buena en el levantamiento. La unidad de análisis correcta es la tarea. El reempaquetado es la parte que no se puede delegar a un consultor.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nivel 1 es donde está casi todo el mundo y donde el ROI es real pero invisible: no aparece en ningún estado financiero. El salto de valor está en el 2, que es mucho menos glamoroso de lo que suena — la mayoría de las horas que se liberan en una organización se liberan con scripts, no con agentes. Y la advertencia del RPA no es ideológica: un flujo grabado contra una pantalla se rompe cuando la pantalla cambia, y no lo puedes revisar en un diff.</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seis preguntas son el aporte real, más que la matriz. Sirven para dos cosas: puntuar, y descubrir en la conversación que nadie sabe describir el proceso paso a paso — que ya es un hallazgo. La pregunta 4 es la que más veces cambia la respuesta: una tarea trivial de automatizar cuyo error cuesta caro no pertenece al cuadrante fácil, pertenece al de «con supervisión humana». Las tareas del gráfico son ilustrativas.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versión pública y auditable de la matriz del slide anterior. La diferencia es que ellos midieron el uso real en un millón de conversaciones en vez de estimarlo en un taller. Dos cosas de la metodología merecen atención: la aumentación cuenta la mitad, lo que es una decisión defendible pero es una decisión; y mide el uso de un modelo, así que es un piso, no un total.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datos/analizar/registrar 23,6 % · clientes/servicios/mercadería 16,6 % · información/obtener/registrar 15,9 % · preparar/reportes/presupuestos 14,8 % · limpiar/equipos/áreas 0,0 %. Programadores 75 % de cobertura; digitadores 67 %. 49 % de los empleos ya tiene IA en al menos un cuarto de sus tareas. — Este gráfico es la clase entera en una imagen. Las cuatro familias de arriba son datos, clientes, información y reportes — exactamente la descripción del trabajo de una administradora de fondos. Las de abajo son máquinas, herramientas y superficies. No hay ninguna industria en el eje: son verbos. Por eso la unidad de análisis es la tarea y no el cargo ni el sector.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Ábranlo y busquen los verbos de su propio trabajo. Es el ejercicio más útil de la clase y toma dos minutos: escriban «reconcile», «portfolio», «claims», «compliance» y miren el puntaje. Lo interesante no es el número: es descubrir cuántas de sus tareas ni siquiera aparecen en la taxonomía, que es una pista de dónde está su foso.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incluyo porque la pregunta va a aparecer y porque la respuesta honesta es más interesante que las dos consignas habituales. No hay una ola de despidos en los datos. Sí hay una puerta de entrada que se está angostando, y eso es un problema distinto y más difícil: si las tareas de nivel junior son las primeras en automatizarse, ¿cómo se forma el senior de 2032? Es una pregunta de diseño organizacional, no de tecnología.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método al insumo que lo hace posible.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literalmente el recorrido de las clases 5.1 a 5.4: modelos abiertos, multimodalidad, voz, y después MCP, skills y capas semánticas. En tres años el mecanismo cambió por completo tres veces. Si aprendieron el mecanismo, se les vence. Si aprendieron el problema que el mecanismo resuelve, no.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cinco palabras sobreviven a cualquier cambio de framework, y son la expansión directa del «datos: no muchos, los correctos» del acto 1. Fíjense que ninguna es una propiedad del modelo: las cinco son propiedades de tu arquitectura de datos. Ahí está el trabajo, y ahí está el foso.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Contenido del AI Engineer World's Fair 2026 (San Francisco, 29 de junio al 2 de julio): 500+ sesiones. Charlas públicas de Anthropic, Microsoft, McKinsey, Gates Foundation, Neo4j, Berkeley, Salesforce y LangChain. Las cifras las autoinforma cada expositor.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caching de contexto hasta 10× menos gasto · ruteo de modelos evita multiplicar el costo por 8 · contexto y codebase limpios: 8–30 % menos consumo · en retail la prioridad n.º 1 de inferencia es TCO (41 %). Gobierno: gateway central, atribución por equipo y unidad de negocio, análisis por cohortes en vez de topes planos. — Es la misma película que la nube hace diez años, con el mismo final: primero nadie mide, después alguien se asusta con la factura, después llega el gateway y la atribución. Se puede saltar a la última parte. Pero cuidado con el reflejo de recortar: un tope plano por persona es la peor política posible, porque castiga justo al que está sacando valor. Atribuye y compara cohortes. No midas gasto bruto, mide ROI: si el retorno equivale a varios FTE, gastar más en tokens es la decisión correcta.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directo con la clase 5.4. Y es la respuesta a la pregunta que siempre aparece: «¿para qué invertir si el próximo modelo lo hace gratis?». El próximo modelo no va a saber cómo tu organización define «cliente activo», ni qué join es seguro entre dos sistemas que se compraron en años distintos. Eso es tácito, y hacerlo explícito es la única inversión en IA que no se deprecia con el próximo release.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Rúbrica de Salesforce. Es útil porque la pregunta que todos hacen —«¿MCP o skill?»— está mal planteada: no compiten, resuelven problemas distintos. La tercera pregunta es la que más se olvida: un MCP con cuarenta herramientas se come el presupuesto de contexto antes de que el agente haga nada, y ahí una skill que carga bajo demanda gana por goleada.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del tracing primero parece obvio y casi nadie lo hace, porque no se ve en la demo. Y el dato de los modelos abiertos como jueces cambia la economía de la evaluación: si juzgar sale cien veces más barato que generar, puedes evaluar todo en vez de muestrear. Sobre lo último: el equipo de Figma contó que hizo seis semanas de trabajo en un día, y la parte que se salta al citarlo es que la planificación detallada vino antes.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(AI Engineer World's Fair 2026, presentadas por Microsoft — autoinformadas, tómenlas como orden de magnitud): 72 % ya corre agentes en producción; 20 % tiene gobernanza madura — brecha de 52 puntos. 22 % usa IA en la sombra en ambientes productivos. 36 % de las skills de marketplace traen vulnerabilidades de inyección de prompt. Costo promedio del error de un agente en el S&amp;P 500: USD 4,4 millones. Proyección citada: 1.300 millones de agentes para 2028. — Aun descontando la fuente, la brecha es la historia: la adopción corre muy por delante del control. El 22 % de IA en la sombra en producción es el número que a mí me quitaría el sueño, porque significa que la superficie de riesgo no está ni inventariada.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organizaciones con un Chief AI Officer — 11 % (2022) → 76 % (2026). Tres focos del rol: científico (explorar y construir), arquitecto (estrategia y respuesta ante el directorio), coach (evangelizar y habilitar). Métricas serias: fluidez en IA de la fuerza de trabajo, nivel de adopción (tareas → flujos → agentes), participación de ingresos de productos con IA. — El salto de 11 a 76 en cuatro años dice menos sobre organigramas que sobre quién responde cuando algo sale mal. Los tres focos casi nunca conviven en una persona, y el que más se descuida es el de coach — justo el que determina si la inversión se usa. Y la escala de la segunda métrica — tareas, flujos, agentes — es el mismo camino de los tres niveles del acto 3.</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personal: lo que tres años de construir con esto enseñan.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última es contraintuitiva y es la que más plata ahorra: cada vez que sale un modelo mejor, la tentación es agregarle capacidades a la arquitectura, cuando lo correcto casi siempre es quitar andamiaje que existía para compensar al modelo anterior. Y «más polivalente, no más experto» es la respuesta honesta a la pregunta de si esto reemplaza a los seniors: no los reemplaza, les amplía el radio.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slide más útil del deck y el que más discusiones ahorra. Cuando algo falla al 40 %, todo el mundo quiere tocar el prompt — y el prompt no es el problema, la descomposición del problema lo es. Cuando falla al 5 %, todo el mundo quiere rediseñar la arquitectura, y lo que falta son casos. Mídanlo antes de opinar. Y el peldaño de arriba es un permiso explícito para rendirse: si están sobre 50 %, no es disciplina, es el problema equivocado para hoy.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Viene de la charla de Buk. Es la formalización de la línea anterior: la delegación no depende del modelo en abstracto, depende del cociente. Un modelo mediano sobre una tarea bien acotada delega más que un modelo tope sobre una tarea difusa. El corolario operativo: casi siempre es más barato bajar el denominador que subir el numerador — descomponer la tarea rinde más que cambiar de modelo.</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7903357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33238fccf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33238fccf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2286000" y="4334772"/>
            <a:ext cx="13716000" cy="20688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lt1"/>
              </a:buClr>
              <a:buSzPts val="3300"/>
              <a:buFont typeface="Calibri"/>
              <a:buNone/>
              <a:defRPr sz="6600" b="1">
                <a:solidFill>
                  <a:schemeClr val="lt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3" name="Google Shape;13;p2"/>
          <p:cNvCxnSpPr/>
          <p:nvPr/>
        </p:nvCxnSpPr>
        <p:spPr>
          <a:xfrm>
            <a:off x="7634192" y="7888924"/>
            <a:ext cx="3019800" cy="0"/>
          </a:xfrm>
          <a:prstGeom prst="straightConnector1">
            <a:avLst/>
          </a:prstGeom>
          <a:noFill/>
          <a:ln w="9525" cap="flat" cmpd="sng">
            <a:solidFill>
              <a:schemeClr val="lt1"/>
            </a:solidFill>
            <a:prstDash val="solid"/>
            <a:miter lim="800000"/>
            <a:headEnd type="none" w="sm" len="sm"/>
            <a:tailEnd type="none" w="sm" len="sm"/>
          </a:ln>
        </p:spPr>
      </p:cxnSp>
      <p:sp>
        <p:nvSpPr>
          <p:cNvPr id="14" name="Google Shape;14;p2"/>
          <p:cNvSpPr txBox="1"/>
          <p:nvPr/>
        </p:nvSpPr>
        <p:spPr>
          <a:xfrm>
            <a:off x="2" y="9643193"/>
            <a:ext cx="18288000" cy="415438"/>
          </a:xfrm>
          <a:prstGeom prst="rect">
            <a:avLst/>
          </a:prstGeom>
          <a:noFill/>
          <a:ln>
            <a:noFill/>
          </a:ln>
        </p:spPr>
        <p:txBody>
          <a:bodyPr spcFirstLastPara="1" wrap="square" lIns="137150" tIns="68550" rIns="137150" bIns="6855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 sz="1800" b="0" i="0" u="none" strike="noStrike" cap="none">
                <a:solidFill>
                  <a:schemeClr val="lt1"/>
                </a:solidFill>
                <a:latin typeface="Calibri"/>
                <a:ea typeface="Calibri"/>
                <a:cs typeface="Calibri"/>
                <a:sym typeface="Calibri"/>
              </a:rPr>
              <a:t>Departamento de Control de Gestión y Sistemas de Información | Facultad de Economía y Negocios | Universidad de Chile</a:t>
            </a:r>
            <a:endParaRPr sz="2200" b="0" i="0" u="none" strike="noStrike" cap="none">
              <a:solidFill>
                <a:srgbClr val="000000"/>
              </a:solidFill>
              <a:latin typeface="Arial"/>
              <a:ea typeface="Arial"/>
              <a:cs typeface="Arial"/>
              <a:sym typeface="Arial"/>
            </a:endParaRPr>
          </a:p>
        </p:txBody>
      </p:sp>
      <p:sp>
        <p:nvSpPr>
          <p:cNvPr id="15" name="Google Shape;15;p2"/>
          <p:cNvSpPr txBox="1"/>
          <p:nvPr/>
        </p:nvSpPr>
        <p:spPr>
          <a:xfrm>
            <a:off x="10687226" y="1786488"/>
            <a:ext cx="4720200" cy="507771"/>
          </a:xfrm>
          <a:prstGeom prst="rect">
            <a:avLst/>
          </a:prstGeom>
          <a:noFill/>
          <a:ln>
            <a:noFill/>
          </a:ln>
        </p:spPr>
        <p:txBody>
          <a:bodyPr spcFirstLastPara="1" wrap="square" lIns="137150" tIns="68550" rIns="137150" bIns="68550" anchor="ctr" anchorCtr="0">
            <a:spAutoFit/>
          </a:bodyPr>
          <a:lstStyle/>
          <a:p>
            <a:pPr marL="0" marR="0" lvl="0" indent="0" algn="l" rtl="0">
              <a:lnSpc>
                <a:spcPct val="100000"/>
              </a:lnSpc>
              <a:spcBef>
                <a:spcPts val="0"/>
              </a:spcBef>
              <a:spcAft>
                <a:spcPts val="0"/>
              </a:spcAft>
              <a:buClr>
                <a:srgbClr val="000000"/>
              </a:buClr>
              <a:buSzPts val="1200"/>
              <a:buFont typeface="Arial"/>
              <a:buNone/>
            </a:pPr>
            <a:r>
              <a:rPr lang="en" sz="2400" b="0" i="0" u="none" strike="noStrike" cap="none">
                <a:solidFill>
                  <a:schemeClr val="lt1"/>
                </a:solidFill>
                <a:latin typeface="Calibri"/>
                <a:ea typeface="Calibri"/>
                <a:cs typeface="Calibri"/>
                <a:sym typeface="Calibri"/>
              </a:rPr>
              <a:t>Educación Ejecutiva | UEJECUTIVOS</a:t>
            </a:r>
            <a:endParaRPr sz="2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840495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ortada final">
  <p:cSld name="Portada final">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5"/>
          <p:cNvSpPr txBox="1">
            <a:spLocks noGrp="1"/>
          </p:cNvSpPr>
          <p:nvPr>
            <p:ph type="sldNum" idx="12"/>
          </p:nvPr>
        </p:nvSpPr>
        <p:spPr>
          <a:xfrm>
            <a:off x="12915900" y="9679916"/>
            <a:ext cx="4114800" cy="40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8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28" name="Google Shape;28;p5"/>
          <p:cNvSpPr txBox="1"/>
          <p:nvPr/>
        </p:nvSpPr>
        <p:spPr>
          <a:xfrm>
            <a:off x="559836" y="6225001"/>
            <a:ext cx="7725600" cy="2200542"/>
          </a:xfrm>
          <a:prstGeom prst="rect">
            <a:avLst/>
          </a:prstGeom>
          <a:noFill/>
          <a:ln>
            <a:noFill/>
          </a:ln>
        </p:spPr>
        <p:txBody>
          <a:bodyPr spcFirstLastPara="1" wrap="square" lIns="137150" tIns="68550" rIns="137150" bIns="68550" anchor="ctr" anchorCtr="0">
            <a:spAutoFit/>
          </a:bodyPr>
          <a:lstStyle/>
          <a:p>
            <a:pPr marL="0" marR="0" lvl="0" indent="0" algn="l" rtl="0">
              <a:lnSpc>
                <a:spcPct val="100000"/>
              </a:lnSpc>
              <a:spcBef>
                <a:spcPts val="0"/>
              </a:spcBef>
              <a:spcAft>
                <a:spcPts val="0"/>
              </a:spcAft>
              <a:buClr>
                <a:srgbClr val="000000"/>
              </a:buClr>
              <a:buSzPts val="1200"/>
              <a:buFont typeface="Arial"/>
              <a:buNone/>
            </a:pPr>
            <a:r>
              <a:rPr lang="en" sz="2400" b="1" i="0" u="none" strike="noStrike" cap="none">
                <a:solidFill>
                  <a:schemeClr val="lt1"/>
                </a:solidFill>
                <a:latin typeface="Calibri"/>
                <a:ea typeface="Calibri"/>
                <a:cs typeface="Calibri"/>
                <a:sym typeface="Calibri"/>
              </a:rPr>
              <a:t>uejecutivos.cl</a:t>
            </a: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2200" b="0" i="0" u="none" strike="noStrike" cap="none">
                <a:solidFill>
                  <a:schemeClr val="lt1"/>
                </a:solidFill>
                <a:latin typeface="Calibri"/>
                <a:ea typeface="Calibri"/>
                <a:cs typeface="Calibri"/>
                <a:sym typeface="Calibri"/>
              </a:rPr>
              <a:t>+56 2 2978 3565 | contacto@uejecutivos.cl</a:t>
            </a: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2200" b="0" i="0" u="none" strike="noStrike" cap="none">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 sz="2200" b="1" i="0" u="none" strike="noStrike" cap="none">
                <a:solidFill>
                  <a:schemeClr val="lt1"/>
                </a:solidFill>
                <a:latin typeface="Calibri"/>
                <a:ea typeface="Calibri"/>
                <a:cs typeface="Calibri"/>
                <a:sym typeface="Calibri"/>
              </a:rPr>
              <a:t>Facultad de Economía y Negocios: </a:t>
            </a: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2200" b="0" i="0" u="none" strike="noStrike" cap="none">
                <a:solidFill>
                  <a:schemeClr val="lt1"/>
                </a:solidFill>
                <a:latin typeface="Calibri"/>
                <a:ea typeface="Calibri"/>
                <a:cs typeface="Calibri"/>
                <a:sym typeface="Calibri"/>
              </a:rPr>
              <a:t>Diagonal Paraguay 257, Piso 6, Santiago.</a:t>
            </a: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2200" b="0" i="0" u="none" strike="noStrike" cap="none">
                <a:solidFill>
                  <a:schemeClr val="lt1"/>
                </a:solidFill>
                <a:latin typeface="Calibri"/>
                <a:ea typeface="Calibri"/>
                <a:cs typeface="Calibri"/>
                <a:sym typeface="Calibri"/>
              </a:rPr>
              <a:t>Campus oriente: Av. Nueva Los Leones 0222, Providencia.</a:t>
            </a:r>
            <a:endParaRPr sz="2200" b="0" i="0" u="none" strike="noStrike" cap="none">
              <a:solidFill>
                <a:schemeClr val="lt1"/>
              </a:solidFill>
              <a:latin typeface="Calibri"/>
              <a:ea typeface="Calibri"/>
              <a:cs typeface="Calibri"/>
              <a:sym typeface="Calibri"/>
            </a:endParaRPr>
          </a:p>
        </p:txBody>
      </p:sp>
      <p:cxnSp>
        <p:nvCxnSpPr>
          <p:cNvPr id="29" name="Google Shape;29;p5"/>
          <p:cNvCxnSpPr/>
          <p:nvPr/>
        </p:nvCxnSpPr>
        <p:spPr>
          <a:xfrm>
            <a:off x="692216" y="8518740"/>
            <a:ext cx="7453200" cy="0"/>
          </a:xfrm>
          <a:prstGeom prst="straightConnector1">
            <a:avLst/>
          </a:prstGeom>
          <a:noFill/>
          <a:ln w="9525" cap="flat" cmpd="sng">
            <a:solidFill>
              <a:schemeClr val="lt1"/>
            </a:solidFill>
            <a:prstDash val="solid"/>
            <a:miter lim="800000"/>
            <a:headEnd type="none" w="sm" len="sm"/>
            <a:tailEnd type="none" w="sm" len="sm"/>
          </a:ln>
        </p:spPr>
      </p:cxnSp>
    </p:spTree>
    <p:extLst>
      <p:ext uri="{BB962C8B-B14F-4D97-AF65-F5344CB8AC3E}">
        <p14:creationId xmlns:p14="http://schemas.microsoft.com/office/powerpoint/2010/main" val="20401476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a2361692-2168-46a6-8096-e345cb3f71c9.claudeusercontent.com/v1/design/projects/a2361692-2168-46a6-8096-e345cb3f71c9/serve/uploads/class_5_5_estrategia/deck/analisis_automatizacion.html"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1.svg"/><Relationship Id="rId4" Type="http://schemas.openxmlformats.org/officeDocument/2006/relationships/image" Target="../media/image20.sv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ctrTitle"/>
          </p:nvPr>
        </p:nvSpPr>
        <p:spPr>
          <a:xfrm>
            <a:off x="2286000" y="5143500"/>
            <a:ext cx="13716000" cy="2068800"/>
          </a:xfrm>
          <a:prstGeom prst="rect">
            <a:avLst/>
          </a:prstGeom>
          <a:noFill/>
          <a:ln>
            <a:noFill/>
          </a:ln>
        </p:spPr>
        <p:txBody>
          <a:bodyPr spcFirstLastPara="1" wrap="square" lIns="137150" tIns="68550" rIns="137150" bIns="68550" anchor="b" anchorCtr="0">
            <a:noAutofit/>
          </a:bodyPr>
          <a:lstStyle/>
          <a:p>
            <a:pPr>
              <a:buSzPts val="2100"/>
            </a:pPr>
            <a:r>
              <a:rPr lang="en" sz="4200" b="0" dirty="0" err="1"/>
              <a:t>Diplomado</a:t>
            </a:r>
            <a:r>
              <a:rPr lang="en" sz="4200" b="0" dirty="0"/>
              <a:t> de </a:t>
            </a:r>
            <a:r>
              <a:rPr lang="en" sz="4200" b="0" dirty="0" err="1"/>
              <a:t>Extensión</a:t>
            </a:r>
            <a:r>
              <a:rPr lang="en" sz="4200" b="0" dirty="0"/>
              <a:t> </a:t>
            </a:r>
            <a:r>
              <a:rPr lang="en" sz="4200" b="0" dirty="0" err="1"/>
              <a:t>en</a:t>
            </a:r>
            <a:br>
              <a:rPr lang="en" sz="4200" b="0" dirty="0"/>
            </a:br>
            <a:r>
              <a:rPr lang="en" sz="4200" dirty="0"/>
              <a:t>IA </a:t>
            </a:r>
            <a:r>
              <a:rPr lang="en" sz="4200" dirty="0" err="1"/>
              <a:t>Generativa</a:t>
            </a:r>
            <a:r>
              <a:rPr lang="en" sz="4200" dirty="0"/>
              <a:t> para Organizaciones</a:t>
            </a:r>
            <a:br>
              <a:rPr lang="en" sz="4200" dirty="0"/>
            </a:br>
            <a:br>
              <a:rPr lang="en" sz="5400" dirty="0"/>
            </a:br>
            <a:r>
              <a:rPr lang="en" sz="5400" dirty="0"/>
              <a:t>Modulo 5, Clase 5:</a:t>
            </a:r>
            <a:endParaRPr sz="5400" dirty="0"/>
          </a:p>
          <a:p>
            <a:pPr>
              <a:buSzPts val="2100"/>
            </a:pPr>
            <a:r>
              <a:rPr lang="en" sz="5400" dirty="0" err="1"/>
              <a:t>Estrategía</a:t>
            </a:r>
            <a:r>
              <a:rPr lang="en" sz="5400" dirty="0"/>
              <a:t> y </a:t>
            </a:r>
            <a:r>
              <a:rPr lang="en" sz="5400" dirty="0" err="1"/>
              <a:t>cierre</a:t>
            </a:r>
            <a:endParaRPr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3F7F"/>
        </a:solidFill>
        <a:effectLst/>
      </p:bgPr>
    </p:bg>
    <p:spTree>
      <p:nvGrpSpPr>
        <p:cNvPr id="1" name=""/>
        <p:cNvGrpSpPr/>
        <p:nvPr/>
      </p:nvGrpSpPr>
      <p:grpSpPr>
        <a:xfrm>
          <a:off x="0" y="0"/>
          <a:ext cx="0" cy="0"/>
          <a:chOff x="0" y="0"/>
          <a:chExt cx="0" cy="0"/>
        </a:xfrm>
      </p:grpSpPr>
      <p:sp>
        <p:nvSpPr>
          <p:cNvPr id="2" name="Text 0"/>
          <p:cNvSpPr/>
          <p:nvPr/>
        </p:nvSpPr>
        <p:spPr>
          <a:xfrm>
            <a:off x="13894862" y="4191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FFFFFF"/>
                </a:solidFill>
                <a:latin typeface="Arial" pitchFamily="34" charset="0"/>
                <a:ea typeface="Arial" pitchFamily="34" charset="-122"/>
                <a:cs typeface="Arial" pitchFamily="34" charset="-120"/>
              </a:rPr>
              <a:t>FEN · Universidad de Chile</a:t>
            </a:r>
            <a:endParaRPr lang="en-US" sz="1800" dirty="0"/>
          </a:p>
        </p:txBody>
      </p:sp>
      <p:sp>
        <p:nvSpPr>
          <p:cNvPr id="3" name="Text 1"/>
          <p:cNvSpPr/>
          <p:nvPr/>
        </p:nvSpPr>
        <p:spPr>
          <a:xfrm>
            <a:off x="13894862" y="7276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FFFFFF">
                    <a:alpha val="55000"/>
                  </a:srgbClr>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1129375" y="4956870"/>
            <a:ext cx="16029102" cy="1001911"/>
          </a:xfrm>
          <a:prstGeom prst="rect">
            <a:avLst/>
          </a:prstGeom>
          <a:noFill/>
          <a:ln/>
        </p:spPr>
        <p:txBody>
          <a:bodyPr wrap="square" lIns="25400" tIns="25400" rIns="25400" bIns="25400" rtlCol="0" anchor="t">
            <a:normAutofit lnSpcReduction="10000"/>
          </a:bodyPr>
          <a:lstStyle/>
          <a:p>
            <a:pPr marL="0" indent="0" algn="ctr">
              <a:lnSpc>
                <a:spcPct val="99216"/>
              </a:lnSpc>
              <a:buNone/>
            </a:pPr>
            <a:r>
              <a:rPr lang="en-US" sz="6600" b="1" dirty="0">
                <a:solidFill>
                  <a:srgbClr val="FFFFFF"/>
                </a:solidFill>
                <a:latin typeface="Arial" pitchFamily="34" charset="0"/>
                <a:ea typeface="Arial" pitchFamily="34" charset="-122"/>
                <a:cs typeface="Arial" pitchFamily="34" charset="-120"/>
              </a:rPr>
              <a:t>“GenAI, consideraciones estratégicas”</a:t>
            </a:r>
            <a:endParaRPr lang="en-US" sz="6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Cinco preguntas</a:t>
            </a:r>
            <a:endParaRPr lang="en-US" sz="4200" dirty="0"/>
          </a:p>
        </p:txBody>
      </p:sp>
      <p:sp>
        <p:nvSpPr>
          <p:cNvPr id="7" name="Shape 5"/>
          <p:cNvSpPr/>
          <p:nvPr/>
        </p:nvSpPr>
        <p:spPr>
          <a:xfrm>
            <a:off x="9129713" y="2886075"/>
            <a:ext cx="28575" cy="5867400"/>
          </a:xfrm>
          <a:prstGeom prst="rect">
            <a:avLst/>
          </a:prstGeom>
          <a:solidFill>
            <a:srgbClr val="C7CEDC"/>
          </a:solidFill>
          <a:ln/>
        </p:spPr>
        <p:txBody>
          <a:bodyPr/>
          <a:lstStyle/>
          <a:p>
            <a:endParaRPr lang="es-ES_tradnl"/>
          </a:p>
        </p:txBody>
      </p:sp>
      <p:sp>
        <p:nvSpPr>
          <p:cNvPr id="8" name="Shape 6"/>
          <p:cNvSpPr/>
          <p:nvPr/>
        </p:nvSpPr>
        <p:spPr>
          <a:xfrm>
            <a:off x="4068961" y="5805488"/>
            <a:ext cx="10149780" cy="28575"/>
          </a:xfrm>
          <a:prstGeom prst="rect">
            <a:avLst/>
          </a:prstGeom>
          <a:solidFill>
            <a:srgbClr val="C7CEDC"/>
          </a:solidFill>
          <a:ln/>
        </p:spPr>
        <p:txBody>
          <a:bodyPr/>
          <a:lstStyle/>
          <a:p>
            <a:endParaRPr lang="es-ES_tradnl"/>
          </a:p>
        </p:txBody>
      </p:sp>
      <p:sp>
        <p:nvSpPr>
          <p:cNvPr id="9" name="Shape 7"/>
          <p:cNvSpPr/>
          <p:nvPr/>
        </p:nvSpPr>
        <p:spPr>
          <a:xfrm>
            <a:off x="6862167" y="2471738"/>
            <a:ext cx="4563666" cy="828675"/>
          </a:xfrm>
          <a:prstGeom prst="roundRect">
            <a:avLst>
              <a:gd name="adj" fmla="val 20690"/>
            </a:avLst>
          </a:prstGeom>
          <a:solidFill>
            <a:srgbClr val="1C3F7F"/>
          </a:solidFill>
          <a:ln/>
          <a:effectLst>
            <a:outerShdw blurRad="266700" dist="95250" dir="5400000" algn="bl" rotWithShape="0">
              <a:srgbClr val="1C3F7F">
                <a:alpha val="22000"/>
              </a:srgbClr>
            </a:outerShdw>
          </a:effectLst>
        </p:spPr>
        <p:txBody>
          <a:bodyPr/>
          <a:lstStyle/>
          <a:p>
            <a:endParaRPr lang="es-ES_tradnl"/>
          </a:p>
        </p:txBody>
      </p:sp>
      <p:sp>
        <p:nvSpPr>
          <p:cNvPr id="10" name="Text 8"/>
          <p:cNvSpPr/>
          <p:nvPr/>
        </p:nvSpPr>
        <p:spPr>
          <a:xfrm>
            <a:off x="7160425" y="2676525"/>
            <a:ext cx="3938576"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es complementario?</a:t>
            </a:r>
            <a:endParaRPr lang="en-US" sz="2250" dirty="0"/>
          </a:p>
        </p:txBody>
      </p:sp>
      <p:sp>
        <p:nvSpPr>
          <p:cNvPr id="11" name="Shape 9"/>
          <p:cNvSpPr/>
          <p:nvPr/>
        </p:nvSpPr>
        <p:spPr>
          <a:xfrm>
            <a:off x="2663279" y="5405438"/>
            <a:ext cx="2811363" cy="828675"/>
          </a:xfrm>
          <a:prstGeom prst="roundRect">
            <a:avLst>
              <a:gd name="adj" fmla="val 20690"/>
            </a:avLst>
          </a:prstGeom>
          <a:solidFill>
            <a:srgbClr val="1C3F7F"/>
          </a:solidFill>
          <a:ln/>
          <a:effectLst>
            <a:outerShdw blurRad="266700" dist="95250" dir="5400000" algn="bl" rotWithShape="0">
              <a:srgbClr val="1C3F7F">
                <a:alpha val="22000"/>
              </a:srgbClr>
            </a:outerShdw>
          </a:effectLst>
        </p:spPr>
        <p:txBody>
          <a:bodyPr/>
          <a:lstStyle/>
          <a:p>
            <a:endParaRPr lang="es-ES_tradnl"/>
          </a:p>
        </p:txBody>
      </p:sp>
      <p:sp>
        <p:nvSpPr>
          <p:cNvPr id="12" name="Text 10"/>
          <p:cNvSpPr/>
          <p:nvPr/>
        </p:nvSpPr>
        <p:spPr>
          <a:xfrm>
            <a:off x="2979033" y="5619498"/>
            <a:ext cx="2133704"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¿Qué necesita?</a:t>
            </a:r>
            <a:endParaRPr lang="en-US" sz="2250" dirty="0"/>
          </a:p>
        </p:txBody>
      </p:sp>
      <p:sp>
        <p:nvSpPr>
          <p:cNvPr id="13" name="Shape 11"/>
          <p:cNvSpPr/>
          <p:nvPr/>
        </p:nvSpPr>
        <p:spPr>
          <a:xfrm>
            <a:off x="6727329" y="5324475"/>
            <a:ext cx="4833342" cy="990600"/>
          </a:xfrm>
          <a:prstGeom prst="roundRect">
            <a:avLst>
              <a:gd name="adj" fmla="val 17308"/>
            </a:avLst>
          </a:prstGeom>
          <a:solidFill>
            <a:srgbClr val="1C3F7F"/>
          </a:solidFill>
          <a:ln/>
          <a:effectLst>
            <a:outerShdw blurRad="323850" dist="114300" dir="5400000" algn="bl" rotWithShape="0">
              <a:srgbClr val="1C3F7F">
                <a:alpha val="30000"/>
              </a:srgbClr>
            </a:outerShdw>
          </a:effectLst>
        </p:spPr>
        <p:txBody>
          <a:bodyPr/>
          <a:lstStyle/>
          <a:p>
            <a:endParaRPr lang="es-ES_tradnl"/>
          </a:p>
        </p:txBody>
      </p:sp>
      <p:sp>
        <p:nvSpPr>
          <p:cNvPr id="14" name="Text 12"/>
          <p:cNvSpPr/>
          <p:nvPr/>
        </p:nvSpPr>
        <p:spPr>
          <a:xfrm>
            <a:off x="7097742" y="5619498"/>
            <a:ext cx="4063942" cy="419100"/>
          </a:xfrm>
          <a:prstGeom prst="rect">
            <a:avLst/>
          </a:prstGeom>
          <a:noFill/>
          <a:ln/>
        </p:spPr>
        <p:txBody>
          <a:bodyPr wrap="square" lIns="25400" tIns="25400" rIns="25400" bIns="25400" rtlCol="0" anchor="t">
            <a:normAutofit fontScale="92500"/>
          </a:bodyPr>
          <a:lstStyle/>
          <a:p>
            <a:pPr marL="0" indent="0" algn="ctr">
              <a:buNone/>
            </a:pPr>
            <a:r>
              <a:rPr lang="en-US" sz="2550" b="1" dirty="0">
                <a:solidFill>
                  <a:srgbClr val="FFFFFF"/>
                </a:solidFill>
                <a:latin typeface="Arial" pitchFamily="34" charset="0"/>
                <a:ea typeface="Arial" pitchFamily="34" charset="-122"/>
                <a:cs typeface="Arial" pitchFamily="34" charset="-120"/>
              </a:rPr>
              <a:t>LLMs — ¿Cuál es su valor?</a:t>
            </a:r>
            <a:endParaRPr lang="en-US" sz="2550" dirty="0"/>
          </a:p>
        </p:txBody>
      </p:sp>
      <p:sp>
        <p:nvSpPr>
          <p:cNvPr id="15" name="Shape 13"/>
          <p:cNvSpPr/>
          <p:nvPr/>
        </p:nvSpPr>
        <p:spPr>
          <a:xfrm>
            <a:off x="13232085" y="5238750"/>
            <a:ext cx="1973610" cy="1162050"/>
          </a:xfrm>
          <a:prstGeom prst="roundRect">
            <a:avLst>
              <a:gd name="adj" fmla="val 14754"/>
            </a:avLst>
          </a:prstGeom>
          <a:solidFill>
            <a:srgbClr val="1C3F7F"/>
          </a:solidFill>
          <a:ln/>
          <a:effectLst>
            <a:outerShdw blurRad="266700" dist="95250" dir="5400000" algn="bl" rotWithShape="0">
              <a:srgbClr val="1C3F7F">
                <a:alpha val="22000"/>
              </a:srgbClr>
            </a:outerShdw>
          </a:effectLst>
        </p:spPr>
        <p:txBody>
          <a:bodyPr/>
          <a:lstStyle/>
          <a:p>
            <a:endParaRPr lang="es-ES_tradnl"/>
          </a:p>
        </p:txBody>
      </p:sp>
      <p:sp>
        <p:nvSpPr>
          <p:cNvPr id="16" name="Text 14"/>
          <p:cNvSpPr/>
          <p:nvPr/>
        </p:nvSpPr>
        <p:spPr>
          <a:xfrm>
            <a:off x="13574985" y="5486400"/>
            <a:ext cx="1287810" cy="70485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lo uso?</a:t>
            </a:r>
            <a:endParaRPr lang="en-US" sz="2250" dirty="0"/>
          </a:p>
        </p:txBody>
      </p:sp>
      <p:sp>
        <p:nvSpPr>
          <p:cNvPr id="17" name="Shape 15"/>
          <p:cNvSpPr/>
          <p:nvPr/>
        </p:nvSpPr>
        <p:spPr>
          <a:xfrm>
            <a:off x="6991276" y="8339137"/>
            <a:ext cx="4305449" cy="828675"/>
          </a:xfrm>
          <a:prstGeom prst="roundRect">
            <a:avLst>
              <a:gd name="adj" fmla="val 20690"/>
            </a:avLst>
          </a:prstGeom>
          <a:solidFill>
            <a:srgbClr val="1C3F7F"/>
          </a:solidFill>
          <a:ln/>
          <a:effectLst>
            <a:outerShdw blurRad="266700" dist="95250" dir="5400000" algn="bl" rotWithShape="0">
              <a:srgbClr val="1C3F7F">
                <a:alpha val="22000"/>
              </a:srgbClr>
            </a:outerShdw>
          </a:effectLst>
        </p:spPr>
        <p:txBody>
          <a:bodyPr/>
          <a:lstStyle/>
          <a:p>
            <a:endParaRPr lang="es-ES_tradnl"/>
          </a:p>
        </p:txBody>
      </p:sp>
      <p:sp>
        <p:nvSpPr>
          <p:cNvPr id="18" name="Text 16"/>
          <p:cNvSpPr/>
          <p:nvPr/>
        </p:nvSpPr>
        <p:spPr>
          <a:xfrm>
            <a:off x="7293407" y="8530389"/>
            <a:ext cx="3672612"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es suplementario?</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¿Cuál es su valor?</a:t>
            </a:r>
            <a:endParaRPr lang="en-US" sz="4200" dirty="0"/>
          </a:p>
        </p:txBody>
      </p:sp>
      <p:sp>
        <p:nvSpPr>
          <p:cNvPr id="7" name="Shape 5"/>
          <p:cNvSpPr/>
          <p:nvPr/>
        </p:nvSpPr>
        <p:spPr>
          <a:xfrm>
            <a:off x="9129713" y="2886075"/>
            <a:ext cx="28575" cy="5867400"/>
          </a:xfrm>
          <a:prstGeom prst="rect">
            <a:avLst/>
          </a:prstGeom>
          <a:solidFill>
            <a:srgbClr val="C7CEDC"/>
          </a:solidFill>
          <a:ln/>
        </p:spPr>
        <p:txBody>
          <a:bodyPr/>
          <a:lstStyle/>
          <a:p>
            <a:endParaRPr lang="es-ES_tradnl"/>
          </a:p>
        </p:txBody>
      </p:sp>
      <p:sp>
        <p:nvSpPr>
          <p:cNvPr id="8" name="Shape 6"/>
          <p:cNvSpPr/>
          <p:nvPr/>
        </p:nvSpPr>
        <p:spPr>
          <a:xfrm>
            <a:off x="4068961" y="5805488"/>
            <a:ext cx="10149780" cy="28575"/>
          </a:xfrm>
          <a:prstGeom prst="rect">
            <a:avLst/>
          </a:prstGeom>
          <a:solidFill>
            <a:srgbClr val="C7CEDC"/>
          </a:solidFill>
          <a:ln/>
        </p:spPr>
        <p:txBody>
          <a:bodyPr/>
          <a:lstStyle/>
          <a:p>
            <a:endParaRPr lang="es-ES_tradnl"/>
          </a:p>
        </p:txBody>
      </p:sp>
      <p:sp>
        <p:nvSpPr>
          <p:cNvPr id="9" name="Shape 7"/>
          <p:cNvSpPr/>
          <p:nvPr/>
        </p:nvSpPr>
        <p:spPr>
          <a:xfrm>
            <a:off x="6862167" y="2471738"/>
            <a:ext cx="4563666" cy="828675"/>
          </a:xfrm>
          <a:prstGeom prst="roundRect">
            <a:avLst>
              <a:gd name="adj" fmla="val 20690"/>
            </a:avLst>
          </a:prstGeom>
          <a:solidFill>
            <a:srgbClr val="888888"/>
          </a:solidFill>
          <a:ln/>
        </p:spPr>
        <p:txBody>
          <a:bodyPr/>
          <a:lstStyle/>
          <a:p>
            <a:endParaRPr lang="es-ES_tradnl"/>
          </a:p>
        </p:txBody>
      </p:sp>
      <p:sp>
        <p:nvSpPr>
          <p:cNvPr id="10" name="Text 8"/>
          <p:cNvSpPr/>
          <p:nvPr/>
        </p:nvSpPr>
        <p:spPr>
          <a:xfrm>
            <a:off x="7160425" y="2676525"/>
            <a:ext cx="3938576"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es complementario?</a:t>
            </a:r>
            <a:endParaRPr lang="en-US" sz="2250" dirty="0"/>
          </a:p>
        </p:txBody>
      </p:sp>
      <p:sp>
        <p:nvSpPr>
          <p:cNvPr id="11" name="Shape 9"/>
          <p:cNvSpPr/>
          <p:nvPr/>
        </p:nvSpPr>
        <p:spPr>
          <a:xfrm>
            <a:off x="2663279" y="5405438"/>
            <a:ext cx="2811363" cy="828675"/>
          </a:xfrm>
          <a:prstGeom prst="roundRect">
            <a:avLst>
              <a:gd name="adj" fmla="val 20690"/>
            </a:avLst>
          </a:prstGeom>
          <a:solidFill>
            <a:srgbClr val="888888"/>
          </a:solidFill>
          <a:ln/>
        </p:spPr>
        <p:txBody>
          <a:bodyPr/>
          <a:lstStyle/>
          <a:p>
            <a:endParaRPr lang="es-ES_tradnl"/>
          </a:p>
        </p:txBody>
      </p:sp>
      <p:sp>
        <p:nvSpPr>
          <p:cNvPr id="12" name="Text 10"/>
          <p:cNvSpPr/>
          <p:nvPr/>
        </p:nvSpPr>
        <p:spPr>
          <a:xfrm>
            <a:off x="2986177" y="5606215"/>
            <a:ext cx="2133704"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¿Qué necesita?</a:t>
            </a:r>
            <a:endParaRPr lang="en-US" sz="2250" dirty="0"/>
          </a:p>
        </p:txBody>
      </p:sp>
      <p:sp>
        <p:nvSpPr>
          <p:cNvPr id="13" name="Shape 11"/>
          <p:cNvSpPr/>
          <p:nvPr/>
        </p:nvSpPr>
        <p:spPr>
          <a:xfrm>
            <a:off x="6727329" y="5324475"/>
            <a:ext cx="4833342" cy="990600"/>
          </a:xfrm>
          <a:prstGeom prst="roundRect">
            <a:avLst>
              <a:gd name="adj" fmla="val 17308"/>
            </a:avLst>
          </a:prstGeom>
          <a:solidFill>
            <a:srgbClr val="1C3F7F"/>
          </a:solidFill>
          <a:ln/>
          <a:effectLst>
            <a:outerShdw blurRad="323850" dist="114300" dir="5400000" algn="bl" rotWithShape="0">
              <a:srgbClr val="1C3F7F">
                <a:alpha val="35000"/>
              </a:srgbClr>
            </a:outerShdw>
          </a:effectLst>
        </p:spPr>
        <p:txBody>
          <a:bodyPr/>
          <a:lstStyle/>
          <a:p>
            <a:endParaRPr lang="es-ES_tradnl"/>
          </a:p>
        </p:txBody>
      </p:sp>
      <p:sp>
        <p:nvSpPr>
          <p:cNvPr id="14" name="Text 12"/>
          <p:cNvSpPr/>
          <p:nvPr/>
        </p:nvSpPr>
        <p:spPr>
          <a:xfrm>
            <a:off x="7097742" y="5624513"/>
            <a:ext cx="4063942" cy="419100"/>
          </a:xfrm>
          <a:prstGeom prst="rect">
            <a:avLst/>
          </a:prstGeom>
          <a:noFill/>
          <a:ln/>
        </p:spPr>
        <p:txBody>
          <a:bodyPr wrap="square" lIns="25400" tIns="25400" rIns="25400" bIns="25400" rtlCol="0" anchor="t">
            <a:normAutofit fontScale="92500"/>
          </a:bodyPr>
          <a:lstStyle/>
          <a:p>
            <a:pPr marL="0" indent="0" algn="ctr">
              <a:buNone/>
            </a:pPr>
            <a:r>
              <a:rPr lang="en-US" sz="2550" b="1" dirty="0">
                <a:solidFill>
                  <a:srgbClr val="FFFFFF"/>
                </a:solidFill>
                <a:latin typeface="Arial" pitchFamily="34" charset="0"/>
                <a:ea typeface="Arial" pitchFamily="34" charset="-122"/>
                <a:cs typeface="Arial" pitchFamily="34" charset="-120"/>
              </a:rPr>
              <a:t>LLMs — ¿Cuál es su valor?</a:t>
            </a:r>
            <a:endParaRPr lang="en-US" sz="2550" dirty="0"/>
          </a:p>
        </p:txBody>
      </p:sp>
      <p:sp>
        <p:nvSpPr>
          <p:cNvPr id="15" name="Shape 13"/>
          <p:cNvSpPr/>
          <p:nvPr/>
        </p:nvSpPr>
        <p:spPr>
          <a:xfrm>
            <a:off x="13232085" y="5238750"/>
            <a:ext cx="1973610" cy="1162050"/>
          </a:xfrm>
          <a:prstGeom prst="roundRect">
            <a:avLst>
              <a:gd name="adj" fmla="val 14754"/>
            </a:avLst>
          </a:prstGeom>
          <a:solidFill>
            <a:srgbClr val="888888"/>
          </a:solidFill>
          <a:ln/>
        </p:spPr>
        <p:txBody>
          <a:bodyPr/>
          <a:lstStyle/>
          <a:p>
            <a:endParaRPr lang="es-ES_tradnl"/>
          </a:p>
        </p:txBody>
      </p:sp>
      <p:sp>
        <p:nvSpPr>
          <p:cNvPr id="16" name="Text 14"/>
          <p:cNvSpPr/>
          <p:nvPr/>
        </p:nvSpPr>
        <p:spPr>
          <a:xfrm>
            <a:off x="13574985" y="5486400"/>
            <a:ext cx="1287810" cy="70485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lo uso?</a:t>
            </a:r>
            <a:endParaRPr lang="en-US" sz="2250" dirty="0"/>
          </a:p>
        </p:txBody>
      </p:sp>
      <p:sp>
        <p:nvSpPr>
          <p:cNvPr id="17" name="Shape 15"/>
          <p:cNvSpPr/>
          <p:nvPr/>
        </p:nvSpPr>
        <p:spPr>
          <a:xfrm>
            <a:off x="6991276" y="8339137"/>
            <a:ext cx="4305449" cy="828675"/>
          </a:xfrm>
          <a:prstGeom prst="roundRect">
            <a:avLst>
              <a:gd name="adj" fmla="val 20690"/>
            </a:avLst>
          </a:prstGeom>
          <a:solidFill>
            <a:srgbClr val="888888"/>
          </a:solidFill>
          <a:ln/>
        </p:spPr>
        <p:txBody>
          <a:bodyPr/>
          <a:lstStyle/>
          <a:p>
            <a:endParaRPr lang="es-ES_tradnl"/>
          </a:p>
        </p:txBody>
      </p:sp>
      <p:sp>
        <p:nvSpPr>
          <p:cNvPr id="18" name="Text 16"/>
          <p:cNvSpPr/>
          <p:nvPr/>
        </p:nvSpPr>
        <p:spPr>
          <a:xfrm>
            <a:off x="7307545" y="8560593"/>
            <a:ext cx="3672612"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es suplementario?</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1619250" y="3582442"/>
            <a:ext cx="1655445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 · ¿Cuál es su valor?</a:t>
            </a:r>
            <a:endParaRPr lang="en-US" sz="1800" dirty="0"/>
          </a:p>
        </p:txBody>
      </p:sp>
      <p:sp>
        <p:nvSpPr>
          <p:cNvPr id="6" name="Text 4"/>
          <p:cNvSpPr/>
          <p:nvPr/>
        </p:nvSpPr>
        <p:spPr>
          <a:xfrm>
            <a:off x="1619250" y="4268242"/>
            <a:ext cx="16554450" cy="619125"/>
          </a:xfrm>
          <a:prstGeom prst="rect">
            <a:avLst/>
          </a:prstGeom>
          <a:noFill/>
          <a:ln/>
        </p:spPr>
        <p:txBody>
          <a:bodyPr wrap="square" lIns="25400" tIns="25400" rIns="25400" bIns="25400" rtlCol="0" anchor="t">
            <a:normAutofit lnSpcReduction="10000"/>
          </a:bodyPr>
          <a:lstStyle/>
          <a:p>
            <a:pPr marL="0" indent="0" algn="l">
              <a:buNone/>
            </a:pPr>
            <a:r>
              <a:rPr lang="en-US" sz="3900" dirty="0">
                <a:solidFill>
                  <a:srgbClr val="6B7280"/>
                </a:solidFill>
                <a:latin typeface="Arial" pitchFamily="34" charset="0"/>
                <a:ea typeface="Arial" pitchFamily="34" charset="-122"/>
                <a:cs typeface="Arial" pitchFamily="34" charset="-120"/>
              </a:rPr>
              <a:t>Reducir el costo de:</a:t>
            </a:r>
            <a:endParaRPr lang="en-US" sz="3900" dirty="0"/>
          </a:p>
        </p:txBody>
      </p:sp>
      <p:sp>
        <p:nvSpPr>
          <p:cNvPr id="7" name="Text 5"/>
          <p:cNvSpPr/>
          <p:nvPr/>
        </p:nvSpPr>
        <p:spPr>
          <a:xfrm>
            <a:off x="1619250" y="5096917"/>
            <a:ext cx="14912340" cy="1836241"/>
          </a:xfrm>
          <a:prstGeom prst="rect">
            <a:avLst/>
          </a:prstGeom>
          <a:noFill/>
          <a:ln/>
        </p:spPr>
        <p:txBody>
          <a:bodyPr wrap="square" lIns="25400" tIns="25400" rIns="25400" bIns="25400" rtlCol="0" anchor="t">
            <a:normAutofit lnSpcReduction="10000"/>
          </a:bodyPr>
          <a:lstStyle/>
          <a:p>
            <a:pPr marL="0" indent="0" algn="l">
              <a:lnSpc>
                <a:spcPct val="102609"/>
              </a:lnSpc>
              <a:buNone/>
            </a:pPr>
            <a:r>
              <a:rPr lang="en-US" sz="6000" b="1" dirty="0">
                <a:solidFill>
                  <a:srgbClr val="1C3F7F"/>
                </a:solidFill>
                <a:latin typeface="Arial" pitchFamily="34" charset="0"/>
                <a:ea typeface="Arial" pitchFamily="34" charset="-122"/>
                <a:cs typeface="Arial" pitchFamily="34" charset="-120"/>
              </a:rPr>
              <a:t>entender y generar texto lógico en base a un contexto.</a:t>
            </a:r>
            <a:endParaRPr lang="en-US" sz="6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¿Suplementario o complementario?</a:t>
            </a:r>
            <a:endParaRPr lang="en-US" sz="4200" dirty="0"/>
          </a:p>
        </p:txBody>
      </p:sp>
      <p:sp>
        <p:nvSpPr>
          <p:cNvPr id="7" name="Shape 5"/>
          <p:cNvSpPr/>
          <p:nvPr/>
        </p:nvSpPr>
        <p:spPr>
          <a:xfrm>
            <a:off x="9129713" y="2886075"/>
            <a:ext cx="28575" cy="5867400"/>
          </a:xfrm>
          <a:prstGeom prst="rect">
            <a:avLst/>
          </a:prstGeom>
          <a:solidFill>
            <a:srgbClr val="C7CEDC"/>
          </a:solidFill>
          <a:ln/>
        </p:spPr>
        <p:txBody>
          <a:bodyPr/>
          <a:lstStyle/>
          <a:p>
            <a:endParaRPr lang="es-ES_tradnl"/>
          </a:p>
        </p:txBody>
      </p:sp>
      <p:sp>
        <p:nvSpPr>
          <p:cNvPr id="8" name="Shape 6"/>
          <p:cNvSpPr/>
          <p:nvPr/>
        </p:nvSpPr>
        <p:spPr>
          <a:xfrm>
            <a:off x="4068961" y="5805488"/>
            <a:ext cx="10149780" cy="28575"/>
          </a:xfrm>
          <a:prstGeom prst="rect">
            <a:avLst/>
          </a:prstGeom>
          <a:solidFill>
            <a:srgbClr val="C7CEDC"/>
          </a:solidFill>
          <a:ln/>
        </p:spPr>
        <p:txBody>
          <a:bodyPr/>
          <a:lstStyle/>
          <a:p>
            <a:endParaRPr lang="es-ES_tradnl"/>
          </a:p>
        </p:txBody>
      </p:sp>
      <p:sp>
        <p:nvSpPr>
          <p:cNvPr id="9" name="Shape 7"/>
          <p:cNvSpPr/>
          <p:nvPr/>
        </p:nvSpPr>
        <p:spPr>
          <a:xfrm>
            <a:off x="6862167" y="2471738"/>
            <a:ext cx="4563666" cy="828675"/>
          </a:xfrm>
          <a:prstGeom prst="roundRect">
            <a:avLst>
              <a:gd name="adj" fmla="val 20690"/>
            </a:avLst>
          </a:prstGeom>
          <a:solidFill>
            <a:srgbClr val="1C3F7F"/>
          </a:solidFill>
          <a:ln/>
          <a:effectLst>
            <a:outerShdw blurRad="266700" dist="95250" dir="5400000" algn="bl" rotWithShape="0">
              <a:srgbClr val="1C3F7F">
                <a:alpha val="30000"/>
              </a:srgbClr>
            </a:outerShdw>
          </a:effectLst>
        </p:spPr>
        <p:txBody>
          <a:bodyPr/>
          <a:lstStyle/>
          <a:p>
            <a:endParaRPr lang="es-ES_tradnl"/>
          </a:p>
        </p:txBody>
      </p:sp>
      <p:sp>
        <p:nvSpPr>
          <p:cNvPr id="10" name="Text 8"/>
          <p:cNvSpPr/>
          <p:nvPr/>
        </p:nvSpPr>
        <p:spPr>
          <a:xfrm>
            <a:off x="7174712" y="2719388"/>
            <a:ext cx="3938576"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es complementario?</a:t>
            </a:r>
            <a:endParaRPr lang="en-US" sz="2250" dirty="0"/>
          </a:p>
        </p:txBody>
      </p:sp>
      <p:sp>
        <p:nvSpPr>
          <p:cNvPr id="11" name="Shape 9"/>
          <p:cNvSpPr/>
          <p:nvPr/>
        </p:nvSpPr>
        <p:spPr>
          <a:xfrm>
            <a:off x="2663279" y="5405438"/>
            <a:ext cx="2811363" cy="828675"/>
          </a:xfrm>
          <a:prstGeom prst="roundRect">
            <a:avLst>
              <a:gd name="adj" fmla="val 20690"/>
            </a:avLst>
          </a:prstGeom>
          <a:solidFill>
            <a:srgbClr val="888888"/>
          </a:solidFill>
          <a:ln/>
        </p:spPr>
        <p:txBody>
          <a:bodyPr/>
          <a:lstStyle/>
          <a:p>
            <a:endParaRPr lang="es-ES_tradnl"/>
          </a:p>
        </p:txBody>
      </p:sp>
      <p:sp>
        <p:nvSpPr>
          <p:cNvPr id="12" name="Text 10"/>
          <p:cNvSpPr/>
          <p:nvPr/>
        </p:nvSpPr>
        <p:spPr>
          <a:xfrm>
            <a:off x="3002109" y="5653087"/>
            <a:ext cx="2133704"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¿Qué necesita?</a:t>
            </a:r>
            <a:endParaRPr lang="en-US" sz="2250" dirty="0"/>
          </a:p>
        </p:txBody>
      </p:sp>
      <p:sp>
        <p:nvSpPr>
          <p:cNvPr id="13" name="Shape 11"/>
          <p:cNvSpPr/>
          <p:nvPr/>
        </p:nvSpPr>
        <p:spPr>
          <a:xfrm>
            <a:off x="6727329" y="5324475"/>
            <a:ext cx="4833342" cy="990600"/>
          </a:xfrm>
          <a:prstGeom prst="roundRect">
            <a:avLst>
              <a:gd name="adj" fmla="val 17308"/>
            </a:avLst>
          </a:prstGeom>
          <a:solidFill>
            <a:srgbClr val="888888"/>
          </a:solidFill>
          <a:ln/>
        </p:spPr>
        <p:txBody>
          <a:bodyPr/>
          <a:lstStyle/>
          <a:p>
            <a:endParaRPr lang="es-ES_tradnl"/>
          </a:p>
        </p:txBody>
      </p:sp>
      <p:sp>
        <p:nvSpPr>
          <p:cNvPr id="14" name="Text 12"/>
          <p:cNvSpPr/>
          <p:nvPr/>
        </p:nvSpPr>
        <p:spPr>
          <a:xfrm>
            <a:off x="7112029" y="5629275"/>
            <a:ext cx="4063942" cy="419100"/>
          </a:xfrm>
          <a:prstGeom prst="rect">
            <a:avLst/>
          </a:prstGeom>
          <a:noFill/>
          <a:ln/>
        </p:spPr>
        <p:txBody>
          <a:bodyPr wrap="square" lIns="25400" tIns="25400" rIns="25400" bIns="25400" rtlCol="0" anchor="t">
            <a:normAutofit fontScale="92500"/>
          </a:bodyPr>
          <a:lstStyle/>
          <a:p>
            <a:pPr marL="0" indent="0" algn="ctr">
              <a:buNone/>
            </a:pPr>
            <a:r>
              <a:rPr lang="en-US" sz="2550" b="1" dirty="0">
                <a:solidFill>
                  <a:srgbClr val="FFFFFF"/>
                </a:solidFill>
                <a:latin typeface="Arial" pitchFamily="34" charset="0"/>
                <a:ea typeface="Arial" pitchFamily="34" charset="-122"/>
                <a:cs typeface="Arial" pitchFamily="34" charset="-120"/>
              </a:rPr>
              <a:t>LLMs — ¿Cuál es su valor?</a:t>
            </a:r>
            <a:endParaRPr lang="en-US" sz="2550" dirty="0"/>
          </a:p>
        </p:txBody>
      </p:sp>
      <p:sp>
        <p:nvSpPr>
          <p:cNvPr id="15" name="Shape 13"/>
          <p:cNvSpPr/>
          <p:nvPr/>
        </p:nvSpPr>
        <p:spPr>
          <a:xfrm>
            <a:off x="13232085" y="5238750"/>
            <a:ext cx="1973610" cy="1162050"/>
          </a:xfrm>
          <a:prstGeom prst="roundRect">
            <a:avLst>
              <a:gd name="adj" fmla="val 14754"/>
            </a:avLst>
          </a:prstGeom>
          <a:solidFill>
            <a:srgbClr val="888888"/>
          </a:solidFill>
          <a:ln/>
        </p:spPr>
        <p:txBody>
          <a:bodyPr/>
          <a:lstStyle/>
          <a:p>
            <a:endParaRPr lang="es-ES_tradnl"/>
          </a:p>
        </p:txBody>
      </p:sp>
      <p:sp>
        <p:nvSpPr>
          <p:cNvPr id="16" name="Text 14"/>
          <p:cNvSpPr/>
          <p:nvPr/>
        </p:nvSpPr>
        <p:spPr>
          <a:xfrm>
            <a:off x="13574985" y="5486400"/>
            <a:ext cx="1287810" cy="70485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lo uso?</a:t>
            </a:r>
            <a:endParaRPr lang="en-US" sz="2250" dirty="0"/>
          </a:p>
        </p:txBody>
      </p:sp>
      <p:sp>
        <p:nvSpPr>
          <p:cNvPr id="17" name="Shape 15"/>
          <p:cNvSpPr/>
          <p:nvPr/>
        </p:nvSpPr>
        <p:spPr>
          <a:xfrm>
            <a:off x="6991276" y="8339137"/>
            <a:ext cx="4305449" cy="828675"/>
          </a:xfrm>
          <a:prstGeom prst="roundRect">
            <a:avLst>
              <a:gd name="adj" fmla="val 20690"/>
            </a:avLst>
          </a:prstGeom>
          <a:solidFill>
            <a:srgbClr val="1C3F7F"/>
          </a:solidFill>
          <a:ln/>
          <a:effectLst>
            <a:outerShdw blurRad="266700" dist="95250" dir="5400000" algn="bl" rotWithShape="0">
              <a:srgbClr val="1C3F7F">
                <a:alpha val="30000"/>
              </a:srgbClr>
            </a:outerShdw>
          </a:effectLst>
        </p:spPr>
        <p:txBody>
          <a:bodyPr/>
          <a:lstStyle/>
          <a:p>
            <a:endParaRPr lang="es-ES_tradnl"/>
          </a:p>
        </p:txBody>
      </p:sp>
      <p:sp>
        <p:nvSpPr>
          <p:cNvPr id="18" name="Text 16"/>
          <p:cNvSpPr/>
          <p:nvPr/>
        </p:nvSpPr>
        <p:spPr>
          <a:xfrm>
            <a:off x="7307694" y="8586788"/>
            <a:ext cx="3672612"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es suplementario?</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Suplementario vs. complementario</a:t>
            </a:r>
            <a:endParaRPr lang="en-US" sz="4200" dirty="0"/>
          </a:p>
        </p:txBody>
      </p:sp>
      <p:sp>
        <p:nvSpPr>
          <p:cNvPr id="7" name="Shape 5"/>
          <p:cNvSpPr/>
          <p:nvPr/>
        </p:nvSpPr>
        <p:spPr>
          <a:xfrm>
            <a:off x="1524000" y="2905125"/>
            <a:ext cx="7096125" cy="38100"/>
          </a:xfrm>
          <a:prstGeom prst="rect">
            <a:avLst/>
          </a:prstGeom>
          <a:solidFill>
            <a:srgbClr val="1C3F7F"/>
          </a:solidFill>
          <a:ln/>
        </p:spPr>
        <p:txBody>
          <a:bodyPr/>
          <a:lstStyle/>
          <a:p>
            <a:endParaRPr lang="es-ES_tradnl"/>
          </a:p>
        </p:txBody>
      </p:sp>
      <p:sp>
        <p:nvSpPr>
          <p:cNvPr id="8" name="Text 6"/>
          <p:cNvSpPr/>
          <p:nvPr/>
        </p:nvSpPr>
        <p:spPr>
          <a:xfrm>
            <a:off x="1524000" y="2305050"/>
            <a:ext cx="7309009" cy="46672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C3F7F"/>
                </a:solidFill>
                <a:latin typeface="Arial" pitchFamily="34" charset="0"/>
                <a:ea typeface="Arial" pitchFamily="34" charset="-122"/>
                <a:cs typeface="Arial" pitchFamily="34" charset="-120"/>
              </a:rPr>
              <a:t>¿Dónde es suplementario?</a:t>
            </a:r>
            <a:endParaRPr lang="en-US" sz="2850" dirty="0"/>
          </a:p>
        </p:txBody>
      </p:sp>
      <p:sp>
        <p:nvSpPr>
          <p:cNvPr id="9" name="Text 7"/>
          <p:cNvSpPr/>
          <p:nvPr/>
        </p:nvSpPr>
        <p:spPr>
          <a:xfrm>
            <a:off x="1524000" y="3286125"/>
            <a:ext cx="7805738" cy="447675"/>
          </a:xfrm>
          <a:prstGeom prst="rect">
            <a:avLst/>
          </a:prstGeom>
          <a:noFill/>
          <a:ln/>
        </p:spPr>
        <p:txBody>
          <a:bodyPr wrap="square" lIns="25400" tIns="25400" rIns="25400" bIns="25400" rtlCol="0" anchor="t">
            <a:normAutofit lnSpcReduction="10000"/>
          </a:bodyPr>
          <a:lstStyle/>
          <a:p>
            <a:pPr marL="0" indent="0" algn="l">
              <a:buNone/>
            </a:pPr>
            <a:r>
              <a:rPr lang="en-US" sz="2700" dirty="0">
                <a:solidFill>
                  <a:srgbClr val="1F2937"/>
                </a:solidFill>
                <a:latin typeface="Arial" pitchFamily="34" charset="0"/>
                <a:ea typeface="Arial" pitchFamily="34" charset="-122"/>
                <a:cs typeface="Arial" pitchFamily="34" charset="-120"/>
              </a:rPr>
              <a:t>Procesamiento repetitivo</a:t>
            </a:r>
            <a:endParaRPr lang="en-US" sz="2700" dirty="0"/>
          </a:p>
        </p:txBody>
      </p:sp>
      <p:sp>
        <p:nvSpPr>
          <p:cNvPr id="10" name="Text 8"/>
          <p:cNvSpPr/>
          <p:nvPr/>
        </p:nvSpPr>
        <p:spPr>
          <a:xfrm>
            <a:off x="1524000" y="3943350"/>
            <a:ext cx="7805738" cy="447675"/>
          </a:xfrm>
          <a:prstGeom prst="rect">
            <a:avLst/>
          </a:prstGeom>
          <a:noFill/>
          <a:ln/>
        </p:spPr>
        <p:txBody>
          <a:bodyPr wrap="square" lIns="25400" tIns="25400" rIns="25400" bIns="25400" rtlCol="0" anchor="t">
            <a:normAutofit lnSpcReduction="10000"/>
          </a:bodyPr>
          <a:lstStyle/>
          <a:p>
            <a:pPr marL="0" indent="0" algn="l">
              <a:buNone/>
            </a:pPr>
            <a:r>
              <a:rPr lang="en-US" sz="2700" dirty="0">
                <a:solidFill>
                  <a:srgbClr val="1F2937"/>
                </a:solidFill>
                <a:latin typeface="Arial" pitchFamily="34" charset="0"/>
                <a:ea typeface="Arial" pitchFamily="34" charset="-122"/>
                <a:cs typeface="Arial" pitchFamily="34" charset="-120"/>
              </a:rPr>
              <a:t>Lógicas simples</a:t>
            </a:r>
            <a:endParaRPr lang="en-US" sz="2700" dirty="0"/>
          </a:p>
        </p:txBody>
      </p:sp>
      <p:sp>
        <p:nvSpPr>
          <p:cNvPr id="11" name="Shape 9"/>
          <p:cNvSpPr/>
          <p:nvPr/>
        </p:nvSpPr>
        <p:spPr>
          <a:xfrm>
            <a:off x="9667875" y="2905125"/>
            <a:ext cx="7096125" cy="38100"/>
          </a:xfrm>
          <a:prstGeom prst="rect">
            <a:avLst/>
          </a:prstGeom>
          <a:solidFill>
            <a:srgbClr val="1C3F7F"/>
          </a:solidFill>
          <a:ln/>
        </p:spPr>
        <p:txBody>
          <a:bodyPr/>
          <a:lstStyle/>
          <a:p>
            <a:endParaRPr lang="es-ES_tradnl"/>
          </a:p>
        </p:txBody>
      </p:sp>
      <p:sp>
        <p:nvSpPr>
          <p:cNvPr id="12" name="Text 10"/>
          <p:cNvSpPr/>
          <p:nvPr/>
        </p:nvSpPr>
        <p:spPr>
          <a:xfrm>
            <a:off x="9667875" y="2305050"/>
            <a:ext cx="7309009" cy="46672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C3F7F"/>
                </a:solidFill>
                <a:latin typeface="Arial" pitchFamily="34" charset="0"/>
                <a:ea typeface="Arial" pitchFamily="34" charset="-122"/>
                <a:cs typeface="Arial" pitchFamily="34" charset="-120"/>
              </a:rPr>
              <a:t>¿Dónde es complementario?</a:t>
            </a:r>
            <a:endParaRPr lang="en-US" sz="2850" dirty="0"/>
          </a:p>
        </p:txBody>
      </p:sp>
      <p:sp>
        <p:nvSpPr>
          <p:cNvPr id="13" name="Text 11"/>
          <p:cNvSpPr/>
          <p:nvPr/>
        </p:nvSpPr>
        <p:spPr>
          <a:xfrm>
            <a:off x="9667875" y="3286125"/>
            <a:ext cx="7805738" cy="447675"/>
          </a:xfrm>
          <a:prstGeom prst="rect">
            <a:avLst/>
          </a:prstGeom>
          <a:noFill/>
          <a:ln/>
        </p:spPr>
        <p:txBody>
          <a:bodyPr wrap="square" lIns="25400" tIns="25400" rIns="25400" bIns="25400" rtlCol="0" anchor="t">
            <a:normAutofit lnSpcReduction="10000"/>
          </a:bodyPr>
          <a:lstStyle/>
          <a:p>
            <a:pPr marL="0" indent="0" algn="l">
              <a:buNone/>
            </a:pPr>
            <a:r>
              <a:rPr lang="en-US" sz="2700" dirty="0">
                <a:solidFill>
                  <a:srgbClr val="1F2937"/>
                </a:solidFill>
                <a:latin typeface="Arial" pitchFamily="34" charset="0"/>
                <a:ea typeface="Arial" pitchFamily="34" charset="-122"/>
                <a:cs typeface="Arial" pitchFamily="34" charset="-120"/>
              </a:rPr>
              <a:t>Procesos creativos</a:t>
            </a:r>
            <a:endParaRPr lang="en-US" sz="2700" dirty="0"/>
          </a:p>
        </p:txBody>
      </p:sp>
      <p:sp>
        <p:nvSpPr>
          <p:cNvPr id="14" name="Text 12"/>
          <p:cNvSpPr/>
          <p:nvPr/>
        </p:nvSpPr>
        <p:spPr>
          <a:xfrm>
            <a:off x="9667875" y="3943350"/>
            <a:ext cx="7805738" cy="447675"/>
          </a:xfrm>
          <a:prstGeom prst="rect">
            <a:avLst/>
          </a:prstGeom>
          <a:noFill/>
          <a:ln/>
        </p:spPr>
        <p:txBody>
          <a:bodyPr wrap="square" lIns="25400" tIns="25400" rIns="25400" bIns="25400" rtlCol="0" anchor="t">
            <a:normAutofit lnSpcReduction="10000"/>
          </a:bodyPr>
          <a:lstStyle/>
          <a:p>
            <a:pPr marL="0" indent="0" algn="l">
              <a:buNone/>
            </a:pPr>
            <a:r>
              <a:rPr lang="en-US" sz="2700" dirty="0">
                <a:solidFill>
                  <a:srgbClr val="1F2937"/>
                </a:solidFill>
                <a:latin typeface="Arial" pitchFamily="34" charset="0"/>
                <a:ea typeface="Arial" pitchFamily="34" charset="-122"/>
                <a:cs typeface="Arial" pitchFamily="34" charset="-120"/>
              </a:rPr>
              <a:t>Lógicas complejas</a:t>
            </a:r>
            <a:endParaRPr lang="en-US" sz="2700" dirty="0"/>
          </a:p>
        </p:txBody>
      </p:sp>
      <p:sp>
        <p:nvSpPr>
          <p:cNvPr id="15" name="Shape 13"/>
          <p:cNvSpPr/>
          <p:nvPr/>
        </p:nvSpPr>
        <p:spPr>
          <a:xfrm>
            <a:off x="952500" y="8429625"/>
            <a:ext cx="16383000" cy="1152525"/>
          </a:xfrm>
          <a:prstGeom prst="roundRect">
            <a:avLst>
              <a:gd name="adj" fmla="val 11570"/>
            </a:avLst>
          </a:prstGeom>
          <a:solidFill>
            <a:srgbClr val="1C3F7F"/>
          </a:solidFill>
          <a:ln/>
        </p:spPr>
        <p:txBody>
          <a:bodyPr/>
          <a:lstStyle/>
          <a:p>
            <a:endParaRPr lang="es-ES_tradnl"/>
          </a:p>
        </p:txBody>
      </p:sp>
      <p:sp>
        <p:nvSpPr>
          <p:cNvPr id="16" name="Text 14"/>
          <p:cNvSpPr/>
          <p:nvPr/>
        </p:nvSpPr>
        <p:spPr>
          <a:xfrm>
            <a:off x="992505" y="8715375"/>
            <a:ext cx="16302990" cy="619125"/>
          </a:xfrm>
          <a:prstGeom prst="rect">
            <a:avLst/>
          </a:prstGeom>
          <a:noFill/>
          <a:ln/>
        </p:spPr>
        <p:txBody>
          <a:bodyPr wrap="square" lIns="25400" tIns="25400" rIns="25400" bIns="25400" rtlCol="0" anchor="t">
            <a:normAutofit/>
          </a:bodyPr>
          <a:lstStyle/>
          <a:p>
            <a:pPr marL="0" indent="0" algn="ctr">
              <a:buNone/>
            </a:pPr>
            <a:r>
              <a:rPr lang="en-US" sz="3300" b="1" dirty="0">
                <a:solidFill>
                  <a:srgbClr val="FFFFFF"/>
                </a:solidFill>
                <a:latin typeface="Arial" pitchFamily="34" charset="0"/>
                <a:ea typeface="Arial" pitchFamily="34" charset="-122"/>
                <a:cs typeface="Arial" pitchFamily="34" charset="-120"/>
              </a:rPr>
              <a:t>+Potencia ⇒ +Suplementariedad</a:t>
            </a:r>
            <a:endParaRPr lang="en-US" sz="3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a:t>
            </a:r>
            <a:r>
              <a:rPr lang="en-US" sz="4200" b="1" kern="0" spc="-37" dirty="0" err="1">
                <a:solidFill>
                  <a:srgbClr val="1C3F7F"/>
                </a:solidFill>
                <a:latin typeface="Arial" pitchFamily="34" charset="0"/>
                <a:ea typeface="Arial" pitchFamily="34" charset="-122"/>
                <a:cs typeface="Arial" pitchFamily="34" charset="-120"/>
              </a:rPr>
              <a:t>Cuanto</a:t>
            </a:r>
            <a:r>
              <a:rPr lang="en-US" sz="4200" b="1" kern="0" spc="-37" dirty="0">
                <a:solidFill>
                  <a:srgbClr val="1C3F7F"/>
                </a:solidFill>
                <a:latin typeface="Arial" pitchFamily="34" charset="0"/>
                <a:ea typeface="Arial" pitchFamily="34" charset="-122"/>
                <a:cs typeface="Arial" pitchFamily="34" charset="-120"/>
              </a:rPr>
              <a:t> es </a:t>
            </a:r>
            <a:r>
              <a:rPr lang="en-US" sz="4200" b="1" kern="0" spc="-37" dirty="0" err="1">
                <a:solidFill>
                  <a:srgbClr val="1C3F7F"/>
                </a:solidFill>
                <a:latin typeface="Arial" pitchFamily="34" charset="0"/>
                <a:ea typeface="Arial" pitchFamily="34" charset="-122"/>
                <a:cs typeface="Arial" pitchFamily="34" charset="-120"/>
              </a:rPr>
              <a:t>el</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potencial</a:t>
            </a:r>
            <a:r>
              <a:rPr lang="en-US" sz="4200" b="1" kern="0" spc="-37" dirty="0">
                <a:solidFill>
                  <a:srgbClr val="1C3F7F"/>
                </a:solidFill>
                <a:latin typeface="Arial" pitchFamily="34" charset="0"/>
                <a:ea typeface="Arial" pitchFamily="34" charset="-122"/>
                <a:cs typeface="Arial" pitchFamily="34" charset="-120"/>
              </a:rPr>
              <a:t>?</a:t>
            </a:r>
            <a:endParaRPr lang="en-US" sz="4200" dirty="0"/>
          </a:p>
        </p:txBody>
      </p:sp>
      <p:pic>
        <p:nvPicPr>
          <p:cNvPr id="7" name="Image 0" descr="preencoded.png"/>
          <p:cNvPicPr>
            <a:picLocks noChangeAspect="1"/>
          </p:cNvPicPr>
          <p:nvPr/>
        </p:nvPicPr>
        <p:blipFill>
          <a:blip r:embed="rId3"/>
          <a:stretch>
            <a:fillRect/>
          </a:stretch>
        </p:blipFill>
        <p:spPr>
          <a:xfrm>
            <a:off x="1238250" y="2370088"/>
            <a:ext cx="15811500" cy="6375499"/>
          </a:xfrm>
          <a:prstGeom prst="rect">
            <a:avLst/>
          </a:prstGeom>
        </p:spPr>
      </p:pic>
      <p:sp>
        <p:nvSpPr>
          <p:cNvPr id="8" name="Text 5"/>
          <p:cNvSpPr/>
          <p:nvPr/>
        </p:nvSpPr>
        <p:spPr>
          <a:xfrm>
            <a:off x="133350" y="9324975"/>
            <a:ext cx="18021300" cy="390525"/>
          </a:xfrm>
          <a:prstGeom prst="rect">
            <a:avLst/>
          </a:prstGeom>
          <a:noFill/>
          <a:ln/>
        </p:spPr>
        <p:txBody>
          <a:bodyPr wrap="square" lIns="25400" tIns="25400" rIns="25400" bIns="25400" rtlCol="0" anchor="t">
            <a:normAutofit lnSpcReduction="10000"/>
          </a:bodyPr>
          <a:lstStyle/>
          <a:p>
            <a:pPr marL="0" indent="0" algn="ctr">
              <a:buNone/>
            </a:pPr>
            <a:r>
              <a:rPr lang="en-US" sz="2325" b="1" dirty="0">
                <a:solidFill>
                  <a:srgbClr val="1C3F7F"/>
                </a:solidFill>
                <a:latin typeface="Arial" pitchFamily="34" charset="0"/>
                <a:ea typeface="Arial" pitchFamily="34" charset="-122"/>
                <a:cs typeface="Arial" pitchFamily="34" charset="-120"/>
              </a:rPr>
              <a:t>La brecha entre «se puede» y «se hace» es donde vive la estrategia.</a:t>
            </a:r>
            <a:endParaRPr lang="en-US" sz="23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¿Qué necesita? ¿Dónde lo uso?</a:t>
            </a:r>
            <a:endParaRPr lang="en-US" sz="4200" dirty="0"/>
          </a:p>
        </p:txBody>
      </p:sp>
      <p:sp>
        <p:nvSpPr>
          <p:cNvPr id="7" name="Shape 5"/>
          <p:cNvSpPr/>
          <p:nvPr/>
        </p:nvSpPr>
        <p:spPr>
          <a:xfrm>
            <a:off x="9129713" y="2886075"/>
            <a:ext cx="28575" cy="5867400"/>
          </a:xfrm>
          <a:prstGeom prst="rect">
            <a:avLst/>
          </a:prstGeom>
          <a:solidFill>
            <a:srgbClr val="C7CEDC"/>
          </a:solidFill>
          <a:ln/>
        </p:spPr>
        <p:txBody>
          <a:bodyPr/>
          <a:lstStyle/>
          <a:p>
            <a:endParaRPr lang="es-ES_tradnl"/>
          </a:p>
        </p:txBody>
      </p:sp>
      <p:sp>
        <p:nvSpPr>
          <p:cNvPr id="8" name="Shape 6"/>
          <p:cNvSpPr/>
          <p:nvPr/>
        </p:nvSpPr>
        <p:spPr>
          <a:xfrm>
            <a:off x="4068961" y="5805488"/>
            <a:ext cx="10149780" cy="28575"/>
          </a:xfrm>
          <a:prstGeom prst="rect">
            <a:avLst/>
          </a:prstGeom>
          <a:solidFill>
            <a:srgbClr val="C7CEDC"/>
          </a:solidFill>
          <a:ln/>
        </p:spPr>
        <p:txBody>
          <a:bodyPr/>
          <a:lstStyle/>
          <a:p>
            <a:endParaRPr lang="es-ES_tradnl"/>
          </a:p>
        </p:txBody>
      </p:sp>
      <p:sp>
        <p:nvSpPr>
          <p:cNvPr id="9" name="Shape 7"/>
          <p:cNvSpPr/>
          <p:nvPr/>
        </p:nvSpPr>
        <p:spPr>
          <a:xfrm>
            <a:off x="6862167" y="2471738"/>
            <a:ext cx="4563666" cy="828675"/>
          </a:xfrm>
          <a:prstGeom prst="roundRect">
            <a:avLst>
              <a:gd name="adj" fmla="val 20690"/>
            </a:avLst>
          </a:prstGeom>
          <a:solidFill>
            <a:srgbClr val="888888"/>
          </a:solidFill>
          <a:ln/>
        </p:spPr>
        <p:txBody>
          <a:bodyPr/>
          <a:lstStyle/>
          <a:p>
            <a:endParaRPr lang="es-ES_tradnl"/>
          </a:p>
        </p:txBody>
      </p:sp>
      <p:sp>
        <p:nvSpPr>
          <p:cNvPr id="10" name="Text 8"/>
          <p:cNvSpPr/>
          <p:nvPr/>
        </p:nvSpPr>
        <p:spPr>
          <a:xfrm>
            <a:off x="7174712" y="2719388"/>
            <a:ext cx="3938576"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es complementario?</a:t>
            </a:r>
            <a:endParaRPr lang="en-US" sz="2250" dirty="0"/>
          </a:p>
        </p:txBody>
      </p:sp>
      <p:sp>
        <p:nvSpPr>
          <p:cNvPr id="11" name="Shape 9"/>
          <p:cNvSpPr/>
          <p:nvPr/>
        </p:nvSpPr>
        <p:spPr>
          <a:xfrm>
            <a:off x="2663279" y="5405438"/>
            <a:ext cx="2811363" cy="828675"/>
          </a:xfrm>
          <a:prstGeom prst="roundRect">
            <a:avLst>
              <a:gd name="adj" fmla="val 20690"/>
            </a:avLst>
          </a:prstGeom>
          <a:solidFill>
            <a:srgbClr val="1C3F7F"/>
          </a:solidFill>
          <a:ln/>
          <a:effectLst>
            <a:outerShdw blurRad="266700" dist="95250" dir="5400000" algn="bl" rotWithShape="0">
              <a:srgbClr val="1C3F7F">
                <a:alpha val="30000"/>
              </a:srgbClr>
            </a:outerShdw>
          </a:effectLst>
        </p:spPr>
        <p:txBody>
          <a:bodyPr/>
          <a:lstStyle/>
          <a:p>
            <a:endParaRPr lang="es-ES_tradnl"/>
          </a:p>
        </p:txBody>
      </p:sp>
      <p:sp>
        <p:nvSpPr>
          <p:cNvPr id="12" name="Text 10"/>
          <p:cNvSpPr/>
          <p:nvPr/>
        </p:nvSpPr>
        <p:spPr>
          <a:xfrm>
            <a:off x="3002109" y="5653087"/>
            <a:ext cx="2133704"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¿Qué necesita?</a:t>
            </a:r>
            <a:endParaRPr lang="en-US" sz="2250" dirty="0"/>
          </a:p>
        </p:txBody>
      </p:sp>
      <p:sp>
        <p:nvSpPr>
          <p:cNvPr id="13" name="Shape 11"/>
          <p:cNvSpPr/>
          <p:nvPr/>
        </p:nvSpPr>
        <p:spPr>
          <a:xfrm>
            <a:off x="6727329" y="5324475"/>
            <a:ext cx="4833342" cy="990600"/>
          </a:xfrm>
          <a:prstGeom prst="roundRect">
            <a:avLst>
              <a:gd name="adj" fmla="val 17308"/>
            </a:avLst>
          </a:prstGeom>
          <a:solidFill>
            <a:srgbClr val="888888"/>
          </a:solidFill>
          <a:ln/>
        </p:spPr>
        <p:txBody>
          <a:bodyPr/>
          <a:lstStyle/>
          <a:p>
            <a:endParaRPr lang="es-ES_tradnl"/>
          </a:p>
        </p:txBody>
      </p:sp>
      <p:sp>
        <p:nvSpPr>
          <p:cNvPr id="14" name="Text 12"/>
          <p:cNvSpPr/>
          <p:nvPr/>
        </p:nvSpPr>
        <p:spPr>
          <a:xfrm>
            <a:off x="7112029" y="5629275"/>
            <a:ext cx="4063942" cy="419100"/>
          </a:xfrm>
          <a:prstGeom prst="rect">
            <a:avLst/>
          </a:prstGeom>
          <a:noFill/>
          <a:ln/>
        </p:spPr>
        <p:txBody>
          <a:bodyPr wrap="square" lIns="25400" tIns="25400" rIns="25400" bIns="25400" rtlCol="0" anchor="t">
            <a:normAutofit fontScale="92500"/>
          </a:bodyPr>
          <a:lstStyle/>
          <a:p>
            <a:pPr marL="0" indent="0" algn="ctr">
              <a:buNone/>
            </a:pPr>
            <a:r>
              <a:rPr lang="en-US" sz="2550" b="1" dirty="0">
                <a:solidFill>
                  <a:srgbClr val="FFFFFF"/>
                </a:solidFill>
                <a:latin typeface="Arial" pitchFamily="34" charset="0"/>
                <a:ea typeface="Arial" pitchFamily="34" charset="-122"/>
                <a:cs typeface="Arial" pitchFamily="34" charset="-120"/>
              </a:rPr>
              <a:t>LLMs — ¿Cuál es su valor?</a:t>
            </a:r>
            <a:endParaRPr lang="en-US" sz="2550" dirty="0"/>
          </a:p>
        </p:txBody>
      </p:sp>
      <p:sp>
        <p:nvSpPr>
          <p:cNvPr id="15" name="Shape 13"/>
          <p:cNvSpPr/>
          <p:nvPr/>
        </p:nvSpPr>
        <p:spPr>
          <a:xfrm>
            <a:off x="13232085" y="5238750"/>
            <a:ext cx="1973610" cy="1162050"/>
          </a:xfrm>
          <a:prstGeom prst="roundRect">
            <a:avLst>
              <a:gd name="adj" fmla="val 14754"/>
            </a:avLst>
          </a:prstGeom>
          <a:solidFill>
            <a:srgbClr val="1C3F7F"/>
          </a:solidFill>
          <a:ln/>
          <a:effectLst>
            <a:outerShdw blurRad="266700" dist="95250" dir="5400000" algn="bl" rotWithShape="0">
              <a:srgbClr val="1C3F7F">
                <a:alpha val="30000"/>
              </a:srgbClr>
            </a:outerShdw>
          </a:effectLst>
        </p:spPr>
        <p:txBody>
          <a:bodyPr/>
          <a:lstStyle/>
          <a:p>
            <a:endParaRPr lang="es-ES_tradnl"/>
          </a:p>
        </p:txBody>
      </p:sp>
      <p:sp>
        <p:nvSpPr>
          <p:cNvPr id="16" name="Text 14"/>
          <p:cNvSpPr/>
          <p:nvPr/>
        </p:nvSpPr>
        <p:spPr>
          <a:xfrm>
            <a:off x="13574985" y="5486400"/>
            <a:ext cx="1287810" cy="70485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lo uso?</a:t>
            </a:r>
            <a:endParaRPr lang="en-US" sz="2250" dirty="0"/>
          </a:p>
        </p:txBody>
      </p:sp>
      <p:sp>
        <p:nvSpPr>
          <p:cNvPr id="17" name="Shape 15"/>
          <p:cNvSpPr/>
          <p:nvPr/>
        </p:nvSpPr>
        <p:spPr>
          <a:xfrm>
            <a:off x="6991276" y="8339137"/>
            <a:ext cx="4305449" cy="828675"/>
          </a:xfrm>
          <a:prstGeom prst="roundRect">
            <a:avLst>
              <a:gd name="adj" fmla="val 20690"/>
            </a:avLst>
          </a:prstGeom>
          <a:solidFill>
            <a:srgbClr val="888888"/>
          </a:solidFill>
          <a:ln/>
        </p:spPr>
        <p:txBody>
          <a:bodyPr/>
          <a:lstStyle/>
          <a:p>
            <a:endParaRPr lang="es-ES_tradnl"/>
          </a:p>
        </p:txBody>
      </p:sp>
      <p:sp>
        <p:nvSpPr>
          <p:cNvPr id="18" name="Text 16"/>
          <p:cNvSpPr/>
          <p:nvPr/>
        </p:nvSpPr>
        <p:spPr>
          <a:xfrm>
            <a:off x="7307694" y="8586788"/>
            <a:ext cx="3672612" cy="371475"/>
          </a:xfrm>
          <a:prstGeom prst="rect">
            <a:avLst/>
          </a:prstGeom>
          <a:noFill/>
          <a:ln/>
        </p:spPr>
        <p:txBody>
          <a:bodyPr wrap="square" lIns="25400" tIns="25400" rIns="25400" bIns="25400" rtlCol="0" anchor="t">
            <a:normAutofit fontScale="92500"/>
          </a:bodyPr>
          <a:lstStyle/>
          <a:p>
            <a:pPr marL="0" indent="0" algn="ctr">
              <a:buNone/>
            </a:pPr>
            <a:r>
              <a:rPr lang="en-US" sz="2250" b="1" dirty="0">
                <a:solidFill>
                  <a:srgbClr val="FFFFFF"/>
                </a:solidFill>
                <a:latin typeface="Arial" pitchFamily="34" charset="0"/>
                <a:ea typeface="Arial" pitchFamily="34" charset="-122"/>
                <a:cs typeface="Arial" pitchFamily="34" charset="-120"/>
              </a:rPr>
              <a:t>¿Dónde es suplementario?</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Qué necesita, dónde lo uso</a:t>
            </a:r>
            <a:endParaRPr lang="en-US" sz="4200" dirty="0"/>
          </a:p>
        </p:txBody>
      </p:sp>
      <p:sp>
        <p:nvSpPr>
          <p:cNvPr id="7" name="Shape 5"/>
          <p:cNvSpPr/>
          <p:nvPr/>
        </p:nvSpPr>
        <p:spPr>
          <a:xfrm>
            <a:off x="1524000" y="2847975"/>
            <a:ext cx="7096125" cy="38100"/>
          </a:xfrm>
          <a:prstGeom prst="rect">
            <a:avLst/>
          </a:prstGeom>
          <a:solidFill>
            <a:srgbClr val="1C3F7F"/>
          </a:solidFill>
          <a:ln/>
        </p:spPr>
        <p:txBody>
          <a:bodyPr/>
          <a:lstStyle/>
          <a:p>
            <a:endParaRPr lang="es-ES_tradnl"/>
          </a:p>
        </p:txBody>
      </p:sp>
      <p:sp>
        <p:nvSpPr>
          <p:cNvPr id="8" name="Text 6"/>
          <p:cNvSpPr/>
          <p:nvPr/>
        </p:nvSpPr>
        <p:spPr>
          <a:xfrm>
            <a:off x="1524000" y="2247900"/>
            <a:ext cx="7309009" cy="46672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C3F7F"/>
                </a:solidFill>
                <a:latin typeface="Arial" pitchFamily="34" charset="0"/>
                <a:ea typeface="Arial" pitchFamily="34" charset="-122"/>
                <a:cs typeface="Arial" pitchFamily="34" charset="-120"/>
              </a:rPr>
              <a:t>¿Qué necesita?</a:t>
            </a:r>
            <a:endParaRPr lang="en-US" sz="2850" dirty="0"/>
          </a:p>
        </p:txBody>
      </p:sp>
      <p:sp>
        <p:nvSpPr>
          <p:cNvPr id="9" name="Text 7"/>
          <p:cNvSpPr/>
          <p:nvPr/>
        </p:nvSpPr>
        <p:spPr>
          <a:xfrm>
            <a:off x="1524000" y="3209925"/>
            <a:ext cx="7805738" cy="409575"/>
          </a:xfrm>
          <a:prstGeom prst="rect">
            <a:avLst/>
          </a:prstGeom>
          <a:noFill/>
          <a:ln/>
        </p:spPr>
        <p:txBody>
          <a:bodyPr wrap="square" lIns="25400" tIns="25400" rIns="25400" bIns="25400" rtlCol="0" anchor="t">
            <a:normAutofit lnSpcReduction="10000"/>
          </a:bodyPr>
          <a:lstStyle/>
          <a:p>
            <a:pPr marL="0" indent="0" algn="l">
              <a:buNone/>
            </a:pPr>
            <a:r>
              <a:rPr lang="en-US" sz="2475" dirty="0">
                <a:solidFill>
                  <a:srgbClr val="1F2937"/>
                </a:solidFill>
                <a:latin typeface="Arial" pitchFamily="34" charset="0"/>
                <a:ea typeface="Arial" pitchFamily="34" charset="-122"/>
                <a:cs typeface="Arial" pitchFamily="34" charset="-120"/>
              </a:rPr>
              <a:t>Cómputo</a:t>
            </a:r>
            <a:endParaRPr lang="en-US" sz="2475" dirty="0"/>
          </a:p>
        </p:txBody>
      </p:sp>
      <p:sp>
        <p:nvSpPr>
          <p:cNvPr id="10" name="Text 8"/>
          <p:cNvSpPr/>
          <p:nvPr/>
        </p:nvSpPr>
        <p:spPr>
          <a:xfrm>
            <a:off x="1524000" y="3790950"/>
            <a:ext cx="7805738" cy="409575"/>
          </a:xfrm>
          <a:prstGeom prst="rect">
            <a:avLst/>
          </a:prstGeom>
          <a:noFill/>
          <a:ln/>
        </p:spPr>
        <p:txBody>
          <a:bodyPr wrap="square" lIns="25400" tIns="25400" rIns="25400" bIns="25400" rtlCol="0" anchor="t">
            <a:normAutofit lnSpcReduction="10000"/>
          </a:bodyPr>
          <a:lstStyle/>
          <a:p>
            <a:pPr marL="0" indent="0" algn="l">
              <a:buNone/>
            </a:pPr>
            <a:r>
              <a:rPr lang="en-US" sz="2475" dirty="0">
                <a:solidFill>
                  <a:srgbClr val="1F2937"/>
                </a:solidFill>
                <a:latin typeface="Arial" pitchFamily="34" charset="0"/>
                <a:ea typeface="Arial" pitchFamily="34" charset="-122"/>
                <a:cs typeface="Arial" pitchFamily="34" charset="-120"/>
              </a:rPr>
              <a:t>Backend</a:t>
            </a:r>
            <a:endParaRPr lang="en-US" sz="2475" dirty="0"/>
          </a:p>
        </p:txBody>
      </p:sp>
      <p:sp>
        <p:nvSpPr>
          <p:cNvPr id="11" name="Text 9"/>
          <p:cNvSpPr/>
          <p:nvPr/>
        </p:nvSpPr>
        <p:spPr>
          <a:xfrm>
            <a:off x="1524000" y="4371975"/>
            <a:ext cx="7805738" cy="409575"/>
          </a:xfrm>
          <a:prstGeom prst="rect">
            <a:avLst/>
          </a:prstGeom>
          <a:noFill/>
          <a:ln/>
        </p:spPr>
        <p:txBody>
          <a:bodyPr wrap="square" lIns="25400" tIns="25400" rIns="25400" bIns="25400" rtlCol="0" anchor="t">
            <a:normAutofit lnSpcReduction="10000"/>
          </a:bodyPr>
          <a:lstStyle/>
          <a:p>
            <a:pPr marL="0" indent="0" algn="l">
              <a:buNone/>
            </a:pPr>
            <a:r>
              <a:rPr lang="en-US" sz="2475" b="1" dirty="0">
                <a:solidFill>
                  <a:srgbClr val="1F2937"/>
                </a:solidFill>
                <a:latin typeface="Arial" pitchFamily="34" charset="0"/>
                <a:ea typeface="Arial" pitchFamily="34" charset="-122"/>
                <a:cs typeface="Arial" pitchFamily="34" charset="-120"/>
              </a:rPr>
              <a:t>Datos (aka CONTEXTO):</a:t>
            </a:r>
            <a:endParaRPr lang="en-US" sz="2475" dirty="0"/>
          </a:p>
        </p:txBody>
      </p:sp>
      <p:sp>
        <p:nvSpPr>
          <p:cNvPr id="12" name="Text 10"/>
          <p:cNvSpPr/>
          <p:nvPr/>
        </p:nvSpPr>
        <p:spPr>
          <a:xfrm>
            <a:off x="1943100" y="4953000"/>
            <a:ext cx="7386638" cy="36195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374151"/>
                </a:solidFill>
                <a:latin typeface="Arial" pitchFamily="34" charset="0"/>
                <a:ea typeface="Arial" pitchFamily="34" charset="-122"/>
                <a:cs typeface="Arial" pitchFamily="34" charset="-120"/>
              </a:rPr>
              <a:t>· No muchos, </a:t>
            </a:r>
            <a:r>
              <a:rPr lang="en-US" sz="2175" b="1" dirty="0">
                <a:solidFill>
                  <a:srgbClr val="374151"/>
                </a:solidFill>
                <a:latin typeface="Arial" pitchFamily="34" charset="0"/>
                <a:ea typeface="Arial" pitchFamily="34" charset="-122"/>
                <a:cs typeface="Arial" pitchFamily="34" charset="-120"/>
              </a:rPr>
              <a:t>los correctos</a:t>
            </a:r>
            <a:endParaRPr lang="en-US" sz="2175" dirty="0"/>
          </a:p>
        </p:txBody>
      </p:sp>
      <p:sp>
        <p:nvSpPr>
          <p:cNvPr id="13" name="Text 11"/>
          <p:cNvSpPr/>
          <p:nvPr/>
        </p:nvSpPr>
        <p:spPr>
          <a:xfrm>
            <a:off x="1943100" y="5486400"/>
            <a:ext cx="7386638" cy="36195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374151"/>
                </a:solidFill>
                <a:latin typeface="Arial" pitchFamily="34" charset="0"/>
                <a:ea typeface="Arial" pitchFamily="34" charset="-122"/>
                <a:cs typeface="Arial" pitchFamily="34" charset="-120"/>
              </a:rPr>
              <a:t>· Alto ratio de información/token</a:t>
            </a:r>
            <a:endParaRPr lang="en-US" sz="2175" dirty="0"/>
          </a:p>
        </p:txBody>
      </p:sp>
      <p:sp>
        <p:nvSpPr>
          <p:cNvPr id="14" name="Text 12"/>
          <p:cNvSpPr/>
          <p:nvPr/>
        </p:nvSpPr>
        <p:spPr>
          <a:xfrm>
            <a:off x="1943100" y="6019800"/>
            <a:ext cx="7386638" cy="36195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374151"/>
                </a:solidFill>
                <a:latin typeface="Arial" pitchFamily="34" charset="0"/>
                <a:ea typeface="Arial" pitchFamily="34" charset="-122"/>
                <a:cs typeface="Arial" pitchFamily="34" charset="-120"/>
              </a:rPr>
              <a:t>· Alta disponibilidad</a:t>
            </a:r>
            <a:endParaRPr lang="en-US" sz="2175" dirty="0"/>
          </a:p>
        </p:txBody>
      </p:sp>
      <p:sp>
        <p:nvSpPr>
          <p:cNvPr id="15" name="Text 13"/>
          <p:cNvSpPr/>
          <p:nvPr/>
        </p:nvSpPr>
        <p:spPr>
          <a:xfrm>
            <a:off x="1943100" y="6553200"/>
            <a:ext cx="7386638" cy="36195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374151"/>
                </a:solidFill>
                <a:latin typeface="Arial" pitchFamily="34" charset="0"/>
                <a:ea typeface="Arial" pitchFamily="34" charset="-122"/>
                <a:cs typeface="Arial" pitchFamily="34" charset="-120"/>
              </a:rPr>
              <a:t>· Entendibles para humanos</a:t>
            </a:r>
            <a:endParaRPr lang="en-US" sz="2175" dirty="0"/>
          </a:p>
        </p:txBody>
      </p:sp>
      <p:sp>
        <p:nvSpPr>
          <p:cNvPr id="16" name="Shape 14"/>
          <p:cNvSpPr/>
          <p:nvPr/>
        </p:nvSpPr>
        <p:spPr>
          <a:xfrm>
            <a:off x="9667875" y="2847975"/>
            <a:ext cx="7096125" cy="38100"/>
          </a:xfrm>
          <a:prstGeom prst="rect">
            <a:avLst/>
          </a:prstGeom>
          <a:solidFill>
            <a:srgbClr val="1C3F7F"/>
          </a:solidFill>
          <a:ln/>
        </p:spPr>
        <p:txBody>
          <a:bodyPr/>
          <a:lstStyle/>
          <a:p>
            <a:endParaRPr lang="es-ES_tradnl"/>
          </a:p>
        </p:txBody>
      </p:sp>
      <p:sp>
        <p:nvSpPr>
          <p:cNvPr id="17" name="Text 15"/>
          <p:cNvSpPr/>
          <p:nvPr/>
        </p:nvSpPr>
        <p:spPr>
          <a:xfrm>
            <a:off x="9667875" y="2247900"/>
            <a:ext cx="7309009" cy="46672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C3F7F"/>
                </a:solidFill>
                <a:latin typeface="Arial" pitchFamily="34" charset="0"/>
                <a:ea typeface="Arial" pitchFamily="34" charset="-122"/>
                <a:cs typeface="Arial" pitchFamily="34" charset="-120"/>
              </a:rPr>
              <a:t>¿Dónde lo uso?</a:t>
            </a:r>
            <a:endParaRPr lang="en-US" sz="2850" dirty="0"/>
          </a:p>
        </p:txBody>
      </p:sp>
      <p:sp>
        <p:nvSpPr>
          <p:cNvPr id="18" name="Text 16"/>
          <p:cNvSpPr/>
          <p:nvPr/>
        </p:nvSpPr>
        <p:spPr>
          <a:xfrm>
            <a:off x="9667875" y="3209925"/>
            <a:ext cx="7805738" cy="409575"/>
          </a:xfrm>
          <a:prstGeom prst="rect">
            <a:avLst/>
          </a:prstGeom>
          <a:noFill/>
          <a:ln/>
        </p:spPr>
        <p:txBody>
          <a:bodyPr wrap="square" lIns="25400" tIns="25400" rIns="25400" bIns="25400" rtlCol="0" anchor="t">
            <a:normAutofit lnSpcReduction="10000"/>
          </a:bodyPr>
          <a:lstStyle/>
          <a:p>
            <a:pPr marL="0" indent="0" algn="l">
              <a:buNone/>
            </a:pPr>
            <a:r>
              <a:rPr lang="en-US" sz="2475" b="1" dirty="0">
                <a:solidFill>
                  <a:srgbClr val="1F2937"/>
                </a:solidFill>
                <a:latin typeface="Arial" pitchFamily="34" charset="0"/>
                <a:ea typeface="Arial" pitchFamily="34" charset="-122"/>
                <a:cs typeface="Arial" pitchFamily="34" charset="-120"/>
              </a:rPr>
              <a:t>Interfaces</a:t>
            </a:r>
            <a:endParaRPr lang="en-US" sz="2475" dirty="0"/>
          </a:p>
        </p:txBody>
      </p:sp>
      <p:sp>
        <p:nvSpPr>
          <p:cNvPr id="19" name="Text 17"/>
          <p:cNvSpPr/>
          <p:nvPr/>
        </p:nvSpPr>
        <p:spPr>
          <a:xfrm>
            <a:off x="10086975" y="3790950"/>
            <a:ext cx="7386638" cy="36195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374151"/>
                </a:solidFill>
                <a:latin typeface="Arial" pitchFamily="34" charset="0"/>
                <a:ea typeface="Arial" pitchFamily="34" charset="-122"/>
                <a:cs typeface="Arial" pitchFamily="34" charset="-120"/>
              </a:rPr>
              <a:t>· Voz</a:t>
            </a:r>
            <a:endParaRPr lang="en-US" sz="2175" dirty="0"/>
          </a:p>
        </p:txBody>
      </p:sp>
      <p:sp>
        <p:nvSpPr>
          <p:cNvPr id="20" name="Text 18"/>
          <p:cNvSpPr/>
          <p:nvPr/>
        </p:nvSpPr>
        <p:spPr>
          <a:xfrm>
            <a:off x="10086975" y="4324350"/>
            <a:ext cx="7386638" cy="36195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374151"/>
                </a:solidFill>
                <a:latin typeface="Arial" pitchFamily="34" charset="0"/>
                <a:ea typeface="Arial" pitchFamily="34" charset="-122"/>
                <a:cs typeface="Arial" pitchFamily="34" charset="-120"/>
              </a:rPr>
              <a:t>· Front</a:t>
            </a:r>
            <a:endParaRPr lang="en-US" sz="2175" dirty="0"/>
          </a:p>
        </p:txBody>
      </p:sp>
      <p:sp>
        <p:nvSpPr>
          <p:cNvPr id="21" name="Text 19"/>
          <p:cNvSpPr/>
          <p:nvPr/>
        </p:nvSpPr>
        <p:spPr>
          <a:xfrm>
            <a:off x="9667875" y="4857750"/>
            <a:ext cx="7805738" cy="409575"/>
          </a:xfrm>
          <a:prstGeom prst="rect">
            <a:avLst/>
          </a:prstGeom>
          <a:noFill/>
          <a:ln/>
        </p:spPr>
        <p:txBody>
          <a:bodyPr wrap="square" lIns="25400" tIns="25400" rIns="25400" bIns="25400" rtlCol="0" anchor="t">
            <a:normAutofit lnSpcReduction="10000"/>
          </a:bodyPr>
          <a:lstStyle/>
          <a:p>
            <a:pPr marL="0" indent="0" algn="l">
              <a:buNone/>
            </a:pPr>
            <a:r>
              <a:rPr lang="en-US" sz="2475" b="1" dirty="0">
                <a:solidFill>
                  <a:srgbClr val="1F2937"/>
                </a:solidFill>
                <a:latin typeface="Arial" pitchFamily="34" charset="0"/>
                <a:ea typeface="Arial" pitchFamily="34" charset="-122"/>
                <a:cs typeface="Arial" pitchFamily="34" charset="-120"/>
              </a:rPr>
              <a:t>Canales de comunicación</a:t>
            </a:r>
            <a:endParaRPr lang="en-US" sz="2475" dirty="0"/>
          </a:p>
        </p:txBody>
      </p:sp>
      <p:sp>
        <p:nvSpPr>
          <p:cNvPr id="22" name="Text 20"/>
          <p:cNvSpPr/>
          <p:nvPr/>
        </p:nvSpPr>
        <p:spPr>
          <a:xfrm>
            <a:off x="10086975" y="5438775"/>
            <a:ext cx="7386638" cy="36195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374151"/>
                </a:solidFill>
                <a:latin typeface="Arial" pitchFamily="34" charset="0"/>
                <a:ea typeface="Arial" pitchFamily="34" charset="-122"/>
                <a:cs typeface="Arial" pitchFamily="34" charset="-120"/>
              </a:rPr>
              <a:t>· Llegada a clientes</a:t>
            </a:r>
            <a:endParaRPr lang="en-US" sz="21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C3F7F"/>
        </a:solidFill>
        <a:effectLst/>
      </p:bgPr>
    </p:bg>
    <p:spTree>
      <p:nvGrpSpPr>
        <p:cNvPr id="1" name=""/>
        <p:cNvGrpSpPr/>
        <p:nvPr/>
      </p:nvGrpSpPr>
      <p:grpSpPr>
        <a:xfrm>
          <a:off x="0" y="0"/>
          <a:ext cx="0" cy="0"/>
          <a:chOff x="0" y="0"/>
          <a:chExt cx="0" cy="0"/>
        </a:xfrm>
      </p:grpSpPr>
      <p:sp>
        <p:nvSpPr>
          <p:cNvPr id="2" name="Text 0"/>
          <p:cNvSpPr/>
          <p:nvPr/>
        </p:nvSpPr>
        <p:spPr>
          <a:xfrm>
            <a:off x="13894862" y="4191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FFFFFF"/>
                </a:solidFill>
                <a:latin typeface="Arial" pitchFamily="34" charset="0"/>
                <a:ea typeface="Arial" pitchFamily="34" charset="-122"/>
                <a:cs typeface="Arial" pitchFamily="34" charset="-120"/>
              </a:rPr>
              <a:t>FEN · Universidad de Chile</a:t>
            </a:r>
            <a:endParaRPr lang="en-US" sz="1800" dirty="0"/>
          </a:p>
        </p:txBody>
      </p:sp>
      <p:sp>
        <p:nvSpPr>
          <p:cNvPr id="3" name="Text 1"/>
          <p:cNvSpPr/>
          <p:nvPr/>
        </p:nvSpPr>
        <p:spPr>
          <a:xfrm>
            <a:off x="13894862" y="7276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FFFFFF">
                    <a:alpha val="55000"/>
                  </a:srgbClr>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1275725" y="4956870"/>
            <a:ext cx="15736550" cy="1001911"/>
          </a:xfrm>
          <a:prstGeom prst="rect">
            <a:avLst/>
          </a:prstGeom>
          <a:noFill/>
          <a:ln/>
        </p:spPr>
        <p:txBody>
          <a:bodyPr wrap="square" lIns="25400" tIns="25400" rIns="25400" bIns="25400" rtlCol="0" anchor="t">
            <a:normAutofit lnSpcReduction="10000"/>
          </a:bodyPr>
          <a:lstStyle/>
          <a:p>
            <a:pPr marL="0" indent="0" algn="ctr">
              <a:lnSpc>
                <a:spcPct val="99216"/>
              </a:lnSpc>
              <a:buNone/>
            </a:pPr>
            <a:r>
              <a:rPr lang="en-US" sz="6600" b="1" dirty="0">
                <a:solidFill>
                  <a:srgbClr val="FFFFFF"/>
                </a:solidFill>
                <a:latin typeface="Arial" pitchFamily="34" charset="0"/>
                <a:ea typeface="Arial" pitchFamily="34" charset="-122"/>
                <a:cs typeface="Arial" pitchFamily="34" charset="-120"/>
              </a:rPr>
              <a:t>“¿Dónde </a:t>
            </a:r>
            <a:r>
              <a:rPr lang="en-US" sz="6600" b="1" dirty="0" err="1">
                <a:solidFill>
                  <a:srgbClr val="FFFFFF"/>
                </a:solidFill>
                <a:latin typeface="Arial" pitchFamily="34" charset="0"/>
                <a:ea typeface="Arial" pitchFamily="34" charset="-122"/>
                <a:cs typeface="Arial" pitchFamily="34" charset="-120"/>
              </a:rPr>
              <a:t>está</a:t>
            </a:r>
            <a:r>
              <a:rPr lang="en-US" sz="6600" b="1" dirty="0">
                <a:solidFill>
                  <a:srgbClr val="FFFFFF"/>
                </a:solidFill>
                <a:latin typeface="Arial" pitchFamily="34" charset="0"/>
                <a:ea typeface="Arial" pitchFamily="34" charset="-122"/>
                <a:cs typeface="Arial" pitchFamily="34" charset="-120"/>
              </a:rPr>
              <a:t> la industria?”</a:t>
            </a:r>
            <a:endParaRPr lang="en-US" sz="6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Fuentes a </a:t>
            </a:r>
            <a:r>
              <a:rPr lang="en-US" sz="4200" b="1" kern="0" spc="-37" dirty="0" err="1">
                <a:solidFill>
                  <a:srgbClr val="1C3F7F"/>
                </a:solidFill>
                <a:latin typeface="Arial" pitchFamily="34" charset="0"/>
                <a:ea typeface="Arial" pitchFamily="34" charset="-122"/>
                <a:cs typeface="Arial" pitchFamily="34" charset="-120"/>
              </a:rPr>
              <a:t>revisar</a:t>
            </a:r>
            <a:endParaRPr lang="en-US" sz="4200" dirty="0"/>
          </a:p>
        </p:txBody>
      </p:sp>
      <p:sp>
        <p:nvSpPr>
          <p:cNvPr id="7" name="Shape 5"/>
          <p:cNvSpPr/>
          <p:nvPr/>
        </p:nvSpPr>
        <p:spPr>
          <a:xfrm>
            <a:off x="952500" y="2658368"/>
            <a:ext cx="11239500" cy="28575"/>
          </a:xfrm>
          <a:prstGeom prst="rect">
            <a:avLst/>
          </a:prstGeom>
          <a:solidFill>
            <a:srgbClr val="1C3F7F"/>
          </a:solidFill>
          <a:ln/>
        </p:spPr>
        <p:txBody>
          <a:bodyPr/>
          <a:lstStyle/>
          <a:p>
            <a:endParaRPr lang="es-ES_tradnl"/>
          </a:p>
        </p:txBody>
      </p:sp>
      <p:sp>
        <p:nvSpPr>
          <p:cNvPr id="8" name="Text 6"/>
          <p:cNvSpPr/>
          <p:nvPr/>
        </p:nvSpPr>
        <p:spPr>
          <a:xfrm>
            <a:off x="952500" y="2209800"/>
            <a:ext cx="1157668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b="1" dirty="0">
                <a:solidFill>
                  <a:srgbClr val="1C3F7F"/>
                </a:solidFill>
                <a:latin typeface="Arial" pitchFamily="34" charset="0"/>
                <a:ea typeface="Arial" pitchFamily="34" charset="-122"/>
                <a:cs typeface="Arial" pitchFamily="34" charset="-120"/>
              </a:rPr>
              <a:t>Fuente</a:t>
            </a:r>
            <a:endParaRPr lang="en-US" sz="1950" dirty="0"/>
          </a:p>
        </p:txBody>
      </p:sp>
      <p:sp>
        <p:nvSpPr>
          <p:cNvPr id="9" name="Shape 7"/>
          <p:cNvSpPr/>
          <p:nvPr/>
        </p:nvSpPr>
        <p:spPr>
          <a:xfrm>
            <a:off x="12192000" y="2658368"/>
            <a:ext cx="2857500" cy="28575"/>
          </a:xfrm>
          <a:prstGeom prst="rect">
            <a:avLst/>
          </a:prstGeom>
          <a:solidFill>
            <a:srgbClr val="1C3F7F"/>
          </a:solidFill>
          <a:ln/>
        </p:spPr>
        <p:txBody>
          <a:bodyPr/>
          <a:lstStyle/>
          <a:p>
            <a:endParaRPr lang="es-ES_tradnl"/>
          </a:p>
        </p:txBody>
      </p:sp>
      <p:sp>
        <p:nvSpPr>
          <p:cNvPr id="10" name="Text 8"/>
          <p:cNvSpPr/>
          <p:nvPr/>
        </p:nvSpPr>
        <p:spPr>
          <a:xfrm>
            <a:off x="12192000" y="2209800"/>
            <a:ext cx="294322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b="1" dirty="0">
                <a:solidFill>
                  <a:srgbClr val="1C3F7F"/>
                </a:solidFill>
                <a:latin typeface="Arial" pitchFamily="34" charset="0"/>
                <a:ea typeface="Arial" pitchFamily="34" charset="-122"/>
                <a:cs typeface="Arial" pitchFamily="34" charset="-120"/>
              </a:rPr>
              <a:t>N</a:t>
            </a:r>
            <a:endParaRPr lang="en-US" sz="1950" dirty="0"/>
          </a:p>
        </p:txBody>
      </p:sp>
      <p:sp>
        <p:nvSpPr>
          <p:cNvPr id="11" name="Shape 9"/>
          <p:cNvSpPr/>
          <p:nvPr/>
        </p:nvSpPr>
        <p:spPr>
          <a:xfrm>
            <a:off x="15049500" y="2658368"/>
            <a:ext cx="2286000" cy="28575"/>
          </a:xfrm>
          <a:prstGeom prst="rect">
            <a:avLst/>
          </a:prstGeom>
          <a:solidFill>
            <a:srgbClr val="1C3F7F"/>
          </a:solidFill>
          <a:ln/>
        </p:spPr>
        <p:txBody>
          <a:bodyPr/>
          <a:lstStyle/>
          <a:p>
            <a:endParaRPr lang="es-ES_tradnl"/>
          </a:p>
        </p:txBody>
      </p:sp>
      <p:sp>
        <p:nvSpPr>
          <p:cNvPr id="12" name="Text 10"/>
          <p:cNvSpPr/>
          <p:nvPr/>
        </p:nvSpPr>
        <p:spPr>
          <a:xfrm>
            <a:off x="15049500" y="2209800"/>
            <a:ext cx="2362200"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b="1" dirty="0">
                <a:solidFill>
                  <a:srgbClr val="1C3F7F"/>
                </a:solidFill>
                <a:latin typeface="Arial" pitchFamily="34" charset="0"/>
                <a:ea typeface="Arial" pitchFamily="34" charset="-122"/>
                <a:cs typeface="Arial" pitchFamily="34" charset="-120"/>
              </a:rPr>
              <a:t>Campo</a:t>
            </a:r>
            <a:endParaRPr lang="en-US" sz="1950" dirty="0"/>
          </a:p>
        </p:txBody>
      </p:sp>
      <p:sp>
        <p:nvSpPr>
          <p:cNvPr id="13" name="Shape 11"/>
          <p:cNvSpPr/>
          <p:nvPr/>
        </p:nvSpPr>
        <p:spPr>
          <a:xfrm>
            <a:off x="952500" y="3287911"/>
            <a:ext cx="11239500" cy="9525"/>
          </a:xfrm>
          <a:prstGeom prst="rect">
            <a:avLst/>
          </a:prstGeom>
          <a:solidFill>
            <a:srgbClr val="E2E6EE"/>
          </a:solidFill>
          <a:ln/>
        </p:spPr>
        <p:txBody>
          <a:bodyPr/>
          <a:lstStyle/>
          <a:p>
            <a:endParaRPr lang="es-ES_tradnl"/>
          </a:p>
        </p:txBody>
      </p:sp>
      <p:sp>
        <p:nvSpPr>
          <p:cNvPr id="14" name="Text 12"/>
          <p:cNvSpPr/>
          <p:nvPr/>
        </p:nvSpPr>
        <p:spPr>
          <a:xfrm>
            <a:off x="952500" y="2820293"/>
            <a:ext cx="1129093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NVIDIA · </a:t>
            </a:r>
            <a:r>
              <a:rPr lang="en-US" sz="1950" i="1" dirty="0">
                <a:solidFill>
                  <a:srgbClr val="1F2937"/>
                </a:solidFill>
                <a:latin typeface="Arial" pitchFamily="34" charset="0"/>
                <a:ea typeface="Arial" pitchFamily="34" charset="-122"/>
                <a:cs typeface="Arial" pitchFamily="34" charset="-120"/>
              </a:rPr>
              <a:t>State of AI in Financial Services: 2026 Trends </a:t>
            </a:r>
            <a:r>
              <a:rPr lang="en-US" sz="1950" dirty="0">
                <a:solidFill>
                  <a:srgbClr val="1F2937"/>
                </a:solidFill>
                <a:latin typeface="Arial" pitchFamily="34" charset="0"/>
                <a:ea typeface="Arial" pitchFamily="34" charset="-122"/>
                <a:cs typeface="Arial" pitchFamily="34" charset="-120"/>
              </a:rPr>
              <a:t>(6.ª ed.)</a:t>
            </a:r>
            <a:endParaRPr lang="en-US" sz="1950" dirty="0"/>
          </a:p>
        </p:txBody>
      </p:sp>
      <p:sp>
        <p:nvSpPr>
          <p:cNvPr id="15" name="Shape 13"/>
          <p:cNvSpPr/>
          <p:nvPr/>
        </p:nvSpPr>
        <p:spPr>
          <a:xfrm>
            <a:off x="12192000" y="3287911"/>
            <a:ext cx="2857500" cy="9525"/>
          </a:xfrm>
          <a:prstGeom prst="rect">
            <a:avLst/>
          </a:prstGeom>
          <a:solidFill>
            <a:srgbClr val="E2E6EE"/>
          </a:solidFill>
          <a:ln/>
        </p:spPr>
        <p:txBody>
          <a:bodyPr/>
          <a:lstStyle/>
          <a:p>
            <a:endParaRPr lang="es-ES_tradnl"/>
          </a:p>
        </p:txBody>
      </p:sp>
      <p:sp>
        <p:nvSpPr>
          <p:cNvPr id="16" name="Text 14"/>
          <p:cNvSpPr/>
          <p:nvPr/>
        </p:nvSpPr>
        <p:spPr>
          <a:xfrm>
            <a:off x="12192000" y="2820293"/>
            <a:ext cx="294322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839</a:t>
            </a:r>
            <a:endParaRPr lang="en-US" sz="1950" dirty="0"/>
          </a:p>
        </p:txBody>
      </p:sp>
      <p:sp>
        <p:nvSpPr>
          <p:cNvPr id="17" name="Shape 15"/>
          <p:cNvSpPr/>
          <p:nvPr/>
        </p:nvSpPr>
        <p:spPr>
          <a:xfrm>
            <a:off x="15049500" y="3287911"/>
            <a:ext cx="2286000" cy="9525"/>
          </a:xfrm>
          <a:prstGeom prst="rect">
            <a:avLst/>
          </a:prstGeom>
          <a:solidFill>
            <a:srgbClr val="E2E6EE"/>
          </a:solidFill>
          <a:ln/>
        </p:spPr>
        <p:txBody>
          <a:bodyPr/>
          <a:lstStyle/>
          <a:p>
            <a:endParaRPr lang="es-ES_tradnl"/>
          </a:p>
        </p:txBody>
      </p:sp>
      <p:sp>
        <p:nvSpPr>
          <p:cNvPr id="18" name="Text 16"/>
          <p:cNvSpPr/>
          <p:nvPr/>
        </p:nvSpPr>
        <p:spPr>
          <a:xfrm>
            <a:off x="15049500" y="2820293"/>
            <a:ext cx="2362200"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ago–sep 2025</a:t>
            </a:r>
            <a:endParaRPr lang="en-US" sz="1950" dirty="0"/>
          </a:p>
        </p:txBody>
      </p:sp>
      <p:sp>
        <p:nvSpPr>
          <p:cNvPr id="19" name="Shape 17"/>
          <p:cNvSpPr/>
          <p:nvPr/>
        </p:nvSpPr>
        <p:spPr>
          <a:xfrm>
            <a:off x="952500" y="3898404"/>
            <a:ext cx="11239500" cy="9525"/>
          </a:xfrm>
          <a:prstGeom prst="rect">
            <a:avLst/>
          </a:prstGeom>
          <a:solidFill>
            <a:srgbClr val="E2E6EE"/>
          </a:solidFill>
          <a:ln/>
        </p:spPr>
        <p:txBody>
          <a:bodyPr/>
          <a:lstStyle/>
          <a:p>
            <a:endParaRPr lang="es-ES_tradnl"/>
          </a:p>
        </p:txBody>
      </p:sp>
      <p:sp>
        <p:nvSpPr>
          <p:cNvPr id="20" name="Text 18"/>
          <p:cNvSpPr/>
          <p:nvPr/>
        </p:nvSpPr>
        <p:spPr>
          <a:xfrm>
            <a:off x="952500" y="3430786"/>
            <a:ext cx="1129093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NVIDIA · </a:t>
            </a:r>
            <a:r>
              <a:rPr lang="en-US" sz="1950" i="1" dirty="0">
                <a:solidFill>
                  <a:srgbClr val="1F2937"/>
                </a:solidFill>
                <a:latin typeface="Arial" pitchFamily="34" charset="0"/>
                <a:ea typeface="Arial" pitchFamily="34" charset="-122"/>
                <a:cs typeface="Arial" pitchFamily="34" charset="-120"/>
              </a:rPr>
              <a:t>Healthcare and Life Sciences: 2026 Trends</a:t>
            </a:r>
            <a:endParaRPr lang="en-US" sz="1950" dirty="0"/>
          </a:p>
        </p:txBody>
      </p:sp>
      <p:sp>
        <p:nvSpPr>
          <p:cNvPr id="21" name="Shape 19"/>
          <p:cNvSpPr/>
          <p:nvPr/>
        </p:nvSpPr>
        <p:spPr>
          <a:xfrm>
            <a:off x="12192000" y="3898404"/>
            <a:ext cx="2857500" cy="9525"/>
          </a:xfrm>
          <a:prstGeom prst="rect">
            <a:avLst/>
          </a:prstGeom>
          <a:solidFill>
            <a:srgbClr val="E2E6EE"/>
          </a:solidFill>
          <a:ln/>
        </p:spPr>
        <p:txBody>
          <a:bodyPr/>
          <a:lstStyle/>
          <a:p>
            <a:endParaRPr lang="es-ES_tradnl"/>
          </a:p>
        </p:txBody>
      </p:sp>
      <p:sp>
        <p:nvSpPr>
          <p:cNvPr id="22" name="Text 20"/>
          <p:cNvSpPr/>
          <p:nvPr/>
        </p:nvSpPr>
        <p:spPr>
          <a:xfrm>
            <a:off x="12192000" y="3430786"/>
            <a:ext cx="294322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&gt;600</a:t>
            </a:r>
            <a:endParaRPr lang="en-US" sz="1950" dirty="0"/>
          </a:p>
        </p:txBody>
      </p:sp>
      <p:sp>
        <p:nvSpPr>
          <p:cNvPr id="23" name="Shape 21"/>
          <p:cNvSpPr/>
          <p:nvPr/>
        </p:nvSpPr>
        <p:spPr>
          <a:xfrm>
            <a:off x="15049500" y="3898404"/>
            <a:ext cx="2286000" cy="9525"/>
          </a:xfrm>
          <a:prstGeom prst="rect">
            <a:avLst/>
          </a:prstGeom>
          <a:solidFill>
            <a:srgbClr val="E2E6EE"/>
          </a:solidFill>
          <a:ln/>
        </p:spPr>
        <p:txBody>
          <a:bodyPr/>
          <a:lstStyle/>
          <a:p>
            <a:endParaRPr lang="es-ES_tradnl"/>
          </a:p>
        </p:txBody>
      </p:sp>
      <p:sp>
        <p:nvSpPr>
          <p:cNvPr id="24" name="Text 22"/>
          <p:cNvSpPr/>
          <p:nvPr/>
        </p:nvSpPr>
        <p:spPr>
          <a:xfrm>
            <a:off x="15049500" y="3430786"/>
            <a:ext cx="2362200"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ago–sep 2025</a:t>
            </a:r>
            <a:endParaRPr lang="en-US" sz="1950" dirty="0"/>
          </a:p>
        </p:txBody>
      </p:sp>
      <p:sp>
        <p:nvSpPr>
          <p:cNvPr id="25" name="Shape 23"/>
          <p:cNvSpPr/>
          <p:nvPr/>
        </p:nvSpPr>
        <p:spPr>
          <a:xfrm>
            <a:off x="952500" y="4508897"/>
            <a:ext cx="11239500" cy="9525"/>
          </a:xfrm>
          <a:prstGeom prst="rect">
            <a:avLst/>
          </a:prstGeom>
          <a:solidFill>
            <a:srgbClr val="E2E6EE"/>
          </a:solidFill>
          <a:ln/>
        </p:spPr>
        <p:txBody>
          <a:bodyPr/>
          <a:lstStyle/>
          <a:p>
            <a:endParaRPr lang="es-ES_tradnl"/>
          </a:p>
        </p:txBody>
      </p:sp>
      <p:sp>
        <p:nvSpPr>
          <p:cNvPr id="26" name="Text 24"/>
          <p:cNvSpPr/>
          <p:nvPr/>
        </p:nvSpPr>
        <p:spPr>
          <a:xfrm>
            <a:off x="952500" y="4041279"/>
            <a:ext cx="1129093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NVIDIA · </a:t>
            </a:r>
            <a:r>
              <a:rPr lang="en-US" sz="1950" i="1" dirty="0">
                <a:solidFill>
                  <a:srgbClr val="1F2937"/>
                </a:solidFill>
                <a:latin typeface="Arial" pitchFamily="34" charset="0"/>
                <a:ea typeface="Arial" pitchFamily="34" charset="-122"/>
                <a:cs typeface="Arial" pitchFamily="34" charset="-120"/>
              </a:rPr>
              <a:t>Retail and CPG: 2026 Trends </a:t>
            </a:r>
            <a:r>
              <a:rPr lang="en-US" sz="1950" dirty="0">
                <a:solidFill>
                  <a:srgbClr val="1F2937"/>
                </a:solidFill>
                <a:latin typeface="Arial" pitchFamily="34" charset="0"/>
                <a:ea typeface="Arial" pitchFamily="34" charset="-122"/>
                <a:cs typeface="Arial" pitchFamily="34" charset="-120"/>
              </a:rPr>
              <a:t>(3.ª ed.)</a:t>
            </a:r>
            <a:endParaRPr lang="en-US" sz="1950" dirty="0"/>
          </a:p>
        </p:txBody>
      </p:sp>
      <p:sp>
        <p:nvSpPr>
          <p:cNvPr id="27" name="Shape 25"/>
          <p:cNvSpPr/>
          <p:nvPr/>
        </p:nvSpPr>
        <p:spPr>
          <a:xfrm>
            <a:off x="12192000" y="4508897"/>
            <a:ext cx="2857500" cy="9525"/>
          </a:xfrm>
          <a:prstGeom prst="rect">
            <a:avLst/>
          </a:prstGeom>
          <a:solidFill>
            <a:srgbClr val="E2E6EE"/>
          </a:solidFill>
          <a:ln/>
        </p:spPr>
        <p:txBody>
          <a:bodyPr/>
          <a:lstStyle/>
          <a:p>
            <a:endParaRPr lang="es-ES_tradnl"/>
          </a:p>
        </p:txBody>
      </p:sp>
      <p:sp>
        <p:nvSpPr>
          <p:cNvPr id="28" name="Text 26"/>
          <p:cNvSpPr/>
          <p:nvPr/>
        </p:nvSpPr>
        <p:spPr>
          <a:xfrm>
            <a:off x="12192000" y="4041279"/>
            <a:ext cx="294322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no revelado</a:t>
            </a:r>
            <a:endParaRPr lang="en-US" sz="1950" dirty="0"/>
          </a:p>
        </p:txBody>
      </p:sp>
      <p:sp>
        <p:nvSpPr>
          <p:cNvPr id="29" name="Shape 27"/>
          <p:cNvSpPr/>
          <p:nvPr/>
        </p:nvSpPr>
        <p:spPr>
          <a:xfrm>
            <a:off x="15049500" y="4508897"/>
            <a:ext cx="2286000" cy="9525"/>
          </a:xfrm>
          <a:prstGeom prst="rect">
            <a:avLst/>
          </a:prstGeom>
          <a:solidFill>
            <a:srgbClr val="E2E6EE"/>
          </a:solidFill>
          <a:ln/>
        </p:spPr>
        <p:txBody>
          <a:bodyPr/>
          <a:lstStyle/>
          <a:p>
            <a:endParaRPr lang="es-ES_tradnl"/>
          </a:p>
        </p:txBody>
      </p:sp>
      <p:sp>
        <p:nvSpPr>
          <p:cNvPr id="30" name="Text 28"/>
          <p:cNvSpPr/>
          <p:nvPr/>
        </p:nvSpPr>
        <p:spPr>
          <a:xfrm>
            <a:off x="15049500" y="4041279"/>
            <a:ext cx="2362200"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ago–sep 2025</a:t>
            </a:r>
            <a:endParaRPr lang="en-US" sz="1950" dirty="0"/>
          </a:p>
        </p:txBody>
      </p:sp>
      <p:sp>
        <p:nvSpPr>
          <p:cNvPr id="31" name="Shape 29"/>
          <p:cNvSpPr/>
          <p:nvPr/>
        </p:nvSpPr>
        <p:spPr>
          <a:xfrm>
            <a:off x="952500" y="5119390"/>
            <a:ext cx="11239500" cy="9525"/>
          </a:xfrm>
          <a:prstGeom prst="rect">
            <a:avLst/>
          </a:prstGeom>
          <a:solidFill>
            <a:srgbClr val="E2E6EE"/>
          </a:solidFill>
          <a:ln/>
        </p:spPr>
        <p:txBody>
          <a:bodyPr/>
          <a:lstStyle/>
          <a:p>
            <a:endParaRPr lang="es-ES_tradnl"/>
          </a:p>
        </p:txBody>
      </p:sp>
      <p:sp>
        <p:nvSpPr>
          <p:cNvPr id="32" name="Text 30"/>
          <p:cNvSpPr/>
          <p:nvPr/>
        </p:nvSpPr>
        <p:spPr>
          <a:xfrm>
            <a:off x="952500" y="4651772"/>
            <a:ext cx="1129093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Anthropic + Material · </a:t>
            </a:r>
            <a:r>
              <a:rPr lang="en-US" sz="1950" i="1" dirty="0">
                <a:solidFill>
                  <a:srgbClr val="1F2937"/>
                </a:solidFill>
                <a:latin typeface="Arial" pitchFamily="34" charset="0"/>
                <a:ea typeface="Arial" pitchFamily="34" charset="-122"/>
                <a:cs typeface="Arial" pitchFamily="34" charset="-120"/>
              </a:rPr>
              <a:t>The 2026 State of AI Agents Report</a:t>
            </a:r>
            <a:endParaRPr lang="en-US" sz="1950" dirty="0"/>
          </a:p>
        </p:txBody>
      </p:sp>
      <p:sp>
        <p:nvSpPr>
          <p:cNvPr id="33" name="Shape 31"/>
          <p:cNvSpPr/>
          <p:nvPr/>
        </p:nvSpPr>
        <p:spPr>
          <a:xfrm>
            <a:off x="12192000" y="5119390"/>
            <a:ext cx="2857500" cy="9525"/>
          </a:xfrm>
          <a:prstGeom prst="rect">
            <a:avLst/>
          </a:prstGeom>
          <a:solidFill>
            <a:srgbClr val="E2E6EE"/>
          </a:solidFill>
          <a:ln/>
        </p:spPr>
        <p:txBody>
          <a:bodyPr/>
          <a:lstStyle/>
          <a:p>
            <a:endParaRPr lang="es-ES_tradnl"/>
          </a:p>
        </p:txBody>
      </p:sp>
      <p:sp>
        <p:nvSpPr>
          <p:cNvPr id="34" name="Text 32"/>
          <p:cNvSpPr/>
          <p:nvPr/>
        </p:nvSpPr>
        <p:spPr>
          <a:xfrm>
            <a:off x="12192000" y="4651772"/>
            <a:ext cx="294322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&gt;500 (EE.UU.)</a:t>
            </a:r>
            <a:endParaRPr lang="en-US" sz="1950" dirty="0"/>
          </a:p>
        </p:txBody>
      </p:sp>
      <p:sp>
        <p:nvSpPr>
          <p:cNvPr id="35" name="Shape 33"/>
          <p:cNvSpPr/>
          <p:nvPr/>
        </p:nvSpPr>
        <p:spPr>
          <a:xfrm>
            <a:off x="15049500" y="5119390"/>
            <a:ext cx="2286000" cy="9525"/>
          </a:xfrm>
          <a:prstGeom prst="rect">
            <a:avLst/>
          </a:prstGeom>
          <a:solidFill>
            <a:srgbClr val="E2E6EE"/>
          </a:solidFill>
          <a:ln/>
        </p:spPr>
        <p:txBody>
          <a:bodyPr/>
          <a:lstStyle/>
          <a:p>
            <a:endParaRPr lang="es-ES_tradnl"/>
          </a:p>
        </p:txBody>
      </p:sp>
      <p:sp>
        <p:nvSpPr>
          <p:cNvPr id="36" name="Text 34"/>
          <p:cNvSpPr/>
          <p:nvPr/>
        </p:nvSpPr>
        <p:spPr>
          <a:xfrm>
            <a:off x="15049500" y="4651772"/>
            <a:ext cx="2362200"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fines 2025</a:t>
            </a:r>
            <a:endParaRPr lang="en-US" sz="1950" dirty="0"/>
          </a:p>
        </p:txBody>
      </p:sp>
      <p:sp>
        <p:nvSpPr>
          <p:cNvPr id="37" name="Shape 35"/>
          <p:cNvSpPr/>
          <p:nvPr/>
        </p:nvSpPr>
        <p:spPr>
          <a:xfrm>
            <a:off x="952500" y="5729883"/>
            <a:ext cx="11239500" cy="9525"/>
          </a:xfrm>
          <a:prstGeom prst="rect">
            <a:avLst/>
          </a:prstGeom>
          <a:solidFill>
            <a:srgbClr val="E2E6EE"/>
          </a:solidFill>
          <a:ln/>
        </p:spPr>
        <p:txBody>
          <a:bodyPr/>
          <a:lstStyle/>
          <a:p>
            <a:endParaRPr lang="es-ES_tradnl"/>
          </a:p>
        </p:txBody>
      </p:sp>
      <p:sp>
        <p:nvSpPr>
          <p:cNvPr id="38" name="Text 36"/>
          <p:cNvSpPr/>
          <p:nvPr/>
        </p:nvSpPr>
        <p:spPr>
          <a:xfrm>
            <a:off x="952500" y="5262265"/>
            <a:ext cx="1129093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Anthropic Economic Index</a:t>
            </a:r>
            <a:endParaRPr lang="en-US" sz="1950" dirty="0"/>
          </a:p>
        </p:txBody>
      </p:sp>
      <p:sp>
        <p:nvSpPr>
          <p:cNvPr id="39" name="Shape 37"/>
          <p:cNvSpPr/>
          <p:nvPr/>
        </p:nvSpPr>
        <p:spPr>
          <a:xfrm>
            <a:off x="12192000" y="5729883"/>
            <a:ext cx="2857500" cy="9525"/>
          </a:xfrm>
          <a:prstGeom prst="rect">
            <a:avLst/>
          </a:prstGeom>
          <a:solidFill>
            <a:srgbClr val="E2E6EE"/>
          </a:solidFill>
          <a:ln/>
        </p:spPr>
        <p:txBody>
          <a:bodyPr/>
          <a:lstStyle/>
          <a:p>
            <a:endParaRPr lang="es-ES_tradnl"/>
          </a:p>
        </p:txBody>
      </p:sp>
      <p:sp>
        <p:nvSpPr>
          <p:cNvPr id="40" name="Text 38"/>
          <p:cNvSpPr/>
          <p:nvPr/>
        </p:nvSpPr>
        <p:spPr>
          <a:xfrm>
            <a:off x="12192000" y="5262265"/>
            <a:ext cx="2943225" cy="372368"/>
          </a:xfrm>
          <a:prstGeom prst="rect">
            <a:avLst/>
          </a:prstGeom>
          <a:noFill/>
          <a:ln/>
        </p:spPr>
        <p:txBody>
          <a:bodyPr wrap="square" lIns="25400" tIns="25400" rIns="25400" bIns="25400" rtlCol="0" anchor="t">
            <a:normAutofit fontScale="92500"/>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1 M + 1 M conversaciones</a:t>
            </a:r>
            <a:endParaRPr lang="en-US" sz="1950" dirty="0"/>
          </a:p>
        </p:txBody>
      </p:sp>
      <p:sp>
        <p:nvSpPr>
          <p:cNvPr id="41" name="Shape 39"/>
          <p:cNvSpPr/>
          <p:nvPr/>
        </p:nvSpPr>
        <p:spPr>
          <a:xfrm>
            <a:off x="15049500" y="5729883"/>
            <a:ext cx="2286000" cy="9525"/>
          </a:xfrm>
          <a:prstGeom prst="rect">
            <a:avLst/>
          </a:prstGeom>
          <a:solidFill>
            <a:srgbClr val="E2E6EE"/>
          </a:solidFill>
          <a:ln/>
        </p:spPr>
        <p:txBody>
          <a:bodyPr/>
          <a:lstStyle/>
          <a:p>
            <a:endParaRPr lang="es-ES_tradnl"/>
          </a:p>
        </p:txBody>
      </p:sp>
      <p:sp>
        <p:nvSpPr>
          <p:cNvPr id="42" name="Text 40"/>
          <p:cNvSpPr/>
          <p:nvPr/>
        </p:nvSpPr>
        <p:spPr>
          <a:xfrm>
            <a:off x="15049500" y="5262265"/>
            <a:ext cx="2362200"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nov 2025</a:t>
            </a:r>
            <a:endParaRPr lang="en-US" sz="1950" dirty="0"/>
          </a:p>
        </p:txBody>
      </p:sp>
      <p:sp>
        <p:nvSpPr>
          <p:cNvPr id="43" name="Shape 41"/>
          <p:cNvSpPr/>
          <p:nvPr/>
        </p:nvSpPr>
        <p:spPr>
          <a:xfrm>
            <a:off x="952500" y="6340376"/>
            <a:ext cx="11239500" cy="9525"/>
          </a:xfrm>
          <a:prstGeom prst="rect">
            <a:avLst/>
          </a:prstGeom>
          <a:solidFill>
            <a:srgbClr val="E2E6EE"/>
          </a:solidFill>
          <a:ln/>
        </p:spPr>
        <p:txBody>
          <a:bodyPr/>
          <a:lstStyle/>
          <a:p>
            <a:endParaRPr lang="es-ES_tradnl"/>
          </a:p>
        </p:txBody>
      </p:sp>
      <p:sp>
        <p:nvSpPr>
          <p:cNvPr id="44" name="Text 42"/>
          <p:cNvSpPr/>
          <p:nvPr/>
        </p:nvSpPr>
        <p:spPr>
          <a:xfrm>
            <a:off x="952500" y="5872758"/>
            <a:ext cx="1129093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McKinsey · </a:t>
            </a:r>
            <a:r>
              <a:rPr lang="en-US" sz="1950" i="1" dirty="0">
                <a:solidFill>
                  <a:srgbClr val="1F2937"/>
                </a:solidFill>
                <a:latin typeface="Arial" pitchFamily="34" charset="0"/>
                <a:ea typeface="Arial" pitchFamily="34" charset="-122"/>
                <a:cs typeface="Arial" pitchFamily="34" charset="-120"/>
              </a:rPr>
              <a:t>State of AI trust in 2026 </a:t>
            </a:r>
            <a:r>
              <a:rPr lang="en-US" sz="1950" dirty="0">
                <a:solidFill>
                  <a:srgbClr val="1F2937"/>
                </a:solidFill>
                <a:latin typeface="Arial" pitchFamily="34" charset="0"/>
                <a:ea typeface="Arial" pitchFamily="34" charset="-122"/>
                <a:cs typeface="Arial" pitchFamily="34" charset="-120"/>
              </a:rPr>
              <a:t>· MIT NANDA · </a:t>
            </a:r>
            <a:r>
              <a:rPr lang="en-US" sz="1950" i="1" dirty="0">
                <a:solidFill>
                  <a:srgbClr val="1F2937"/>
                </a:solidFill>
                <a:latin typeface="Arial" pitchFamily="34" charset="0"/>
                <a:ea typeface="Arial" pitchFamily="34" charset="-122"/>
                <a:cs typeface="Arial" pitchFamily="34" charset="-120"/>
              </a:rPr>
              <a:t>The GenAI Divide</a:t>
            </a:r>
            <a:endParaRPr lang="en-US" sz="1950" dirty="0"/>
          </a:p>
        </p:txBody>
      </p:sp>
      <p:sp>
        <p:nvSpPr>
          <p:cNvPr id="45" name="Shape 43"/>
          <p:cNvSpPr/>
          <p:nvPr/>
        </p:nvSpPr>
        <p:spPr>
          <a:xfrm>
            <a:off x="12192000" y="6340376"/>
            <a:ext cx="2857500" cy="9525"/>
          </a:xfrm>
          <a:prstGeom prst="rect">
            <a:avLst/>
          </a:prstGeom>
          <a:solidFill>
            <a:srgbClr val="E2E6EE"/>
          </a:solidFill>
          <a:ln/>
        </p:spPr>
        <p:txBody>
          <a:bodyPr/>
          <a:lstStyle/>
          <a:p>
            <a:endParaRPr lang="es-ES_tradnl"/>
          </a:p>
        </p:txBody>
      </p:sp>
      <p:sp>
        <p:nvSpPr>
          <p:cNvPr id="46" name="Text 44"/>
          <p:cNvSpPr/>
          <p:nvPr/>
        </p:nvSpPr>
        <p:spPr>
          <a:xfrm>
            <a:off x="12192000" y="5872758"/>
            <a:ext cx="2943225"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a:t>
            </a:r>
            <a:endParaRPr lang="en-US" sz="1950" dirty="0"/>
          </a:p>
        </p:txBody>
      </p:sp>
      <p:sp>
        <p:nvSpPr>
          <p:cNvPr id="47" name="Shape 45"/>
          <p:cNvSpPr/>
          <p:nvPr/>
        </p:nvSpPr>
        <p:spPr>
          <a:xfrm>
            <a:off x="15049500" y="6340376"/>
            <a:ext cx="2286000" cy="9525"/>
          </a:xfrm>
          <a:prstGeom prst="rect">
            <a:avLst/>
          </a:prstGeom>
          <a:solidFill>
            <a:srgbClr val="E2E6EE"/>
          </a:solidFill>
          <a:ln/>
        </p:spPr>
        <p:txBody>
          <a:bodyPr/>
          <a:lstStyle/>
          <a:p>
            <a:endParaRPr lang="es-ES_tradnl"/>
          </a:p>
        </p:txBody>
      </p:sp>
      <p:sp>
        <p:nvSpPr>
          <p:cNvPr id="48" name="Text 46"/>
          <p:cNvSpPr/>
          <p:nvPr/>
        </p:nvSpPr>
        <p:spPr>
          <a:xfrm>
            <a:off x="15049500" y="5872758"/>
            <a:ext cx="2362200" cy="372368"/>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1F2937"/>
                </a:solidFill>
                <a:latin typeface="Arial" pitchFamily="34" charset="0"/>
                <a:ea typeface="Arial" pitchFamily="34" charset="-122"/>
                <a:cs typeface="Arial" pitchFamily="34" charset="-120"/>
              </a:rPr>
              <a:t>2025–26</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La era piloto terminó</a:t>
            </a:r>
            <a:endParaRPr lang="en-US" sz="4200" dirty="0"/>
          </a:p>
        </p:txBody>
      </p:sp>
      <p:pic>
        <p:nvPicPr>
          <p:cNvPr id="7" name="Image 0" descr="preencoded.png"/>
          <p:cNvPicPr>
            <a:picLocks noChangeAspect="1"/>
          </p:cNvPicPr>
          <p:nvPr/>
        </p:nvPicPr>
        <p:blipFill>
          <a:blip r:embed="rId3"/>
          <a:stretch>
            <a:fillRect/>
          </a:stretch>
        </p:blipFill>
        <p:spPr>
          <a:xfrm>
            <a:off x="1238250" y="2370088"/>
            <a:ext cx="15811500" cy="6375499"/>
          </a:xfrm>
          <a:prstGeom prst="rect">
            <a:avLst/>
          </a:prstGeom>
        </p:spPr>
      </p:pic>
      <p:sp>
        <p:nvSpPr>
          <p:cNvPr id="8" name="Text 5"/>
          <p:cNvSpPr/>
          <p:nvPr/>
        </p:nvSpPr>
        <p:spPr>
          <a:xfrm>
            <a:off x="133350" y="9324975"/>
            <a:ext cx="18021300" cy="390525"/>
          </a:xfrm>
          <a:prstGeom prst="rect">
            <a:avLst/>
          </a:prstGeom>
          <a:noFill/>
          <a:ln/>
        </p:spPr>
        <p:txBody>
          <a:bodyPr wrap="square" lIns="25400" tIns="25400" rIns="25400" bIns="25400" rtlCol="0" anchor="t">
            <a:normAutofit lnSpcReduction="10000"/>
          </a:bodyPr>
          <a:lstStyle/>
          <a:p>
            <a:pPr marL="0" indent="0" algn="ctr">
              <a:buNone/>
            </a:pPr>
            <a:r>
              <a:rPr lang="en-US" sz="2325" b="1" dirty="0">
                <a:solidFill>
                  <a:srgbClr val="1C3F7F"/>
                </a:solidFill>
                <a:latin typeface="Arial" pitchFamily="34" charset="0"/>
                <a:ea typeface="Arial" pitchFamily="34" charset="-122"/>
                <a:cs typeface="Arial" pitchFamily="34" charset="-120"/>
              </a:rPr>
              <a:t>En servicios financieros, el «evaluando» cayó de 50 % a 24 %: los pilotos se drenan hacia producción.</a:t>
            </a:r>
            <a:endParaRPr lang="en-US" sz="23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En </a:t>
            </a:r>
            <a:r>
              <a:rPr lang="en-US" sz="4200" b="1" kern="0" spc="-37" dirty="0" err="1">
                <a:solidFill>
                  <a:srgbClr val="1C3F7F"/>
                </a:solidFill>
                <a:latin typeface="Arial" pitchFamily="34" charset="0"/>
                <a:ea typeface="Arial" pitchFamily="34" charset="-122"/>
                <a:cs typeface="Arial" pitchFamily="34" charset="-120"/>
              </a:rPr>
              <a:t>qué</a:t>
            </a:r>
            <a:r>
              <a:rPr lang="en-US" sz="4200" b="1" kern="0" spc="-37" dirty="0">
                <a:solidFill>
                  <a:srgbClr val="1C3F7F"/>
                </a:solidFill>
                <a:latin typeface="Arial" pitchFamily="34" charset="0"/>
                <a:ea typeface="Arial" pitchFamily="34" charset="-122"/>
                <a:cs typeface="Arial" pitchFamily="34" charset="-120"/>
              </a:rPr>
              <a:t> se está usando</a:t>
            </a:r>
            <a:endParaRPr lang="en-US" sz="4200" dirty="0"/>
          </a:p>
        </p:txBody>
      </p:sp>
      <p:pic>
        <p:nvPicPr>
          <p:cNvPr id="7" name="Image 0" descr="preencoded.png"/>
          <p:cNvPicPr>
            <a:picLocks noChangeAspect="1"/>
          </p:cNvPicPr>
          <p:nvPr/>
        </p:nvPicPr>
        <p:blipFill>
          <a:blip r:embed="rId3"/>
          <a:stretch>
            <a:fillRect/>
          </a:stretch>
        </p:blipFill>
        <p:spPr>
          <a:xfrm>
            <a:off x="1238250" y="2013496"/>
            <a:ext cx="15811500" cy="76506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err="1">
                <a:solidFill>
                  <a:srgbClr val="1C3F7F"/>
                </a:solidFill>
                <a:latin typeface="Arial" pitchFamily="34" charset="0"/>
                <a:ea typeface="Arial" pitchFamily="34" charset="-122"/>
                <a:cs typeface="Arial" pitchFamily="34" charset="-120"/>
              </a:rPr>
              <a:t>Agentes</a:t>
            </a:r>
            <a:r>
              <a:rPr lang="en-US" sz="4200" b="1" kern="0" spc="-37" dirty="0">
                <a:solidFill>
                  <a:srgbClr val="1C3F7F"/>
                </a:solidFill>
                <a:latin typeface="Arial" pitchFamily="34" charset="0"/>
                <a:ea typeface="Arial" pitchFamily="34" charset="-122"/>
                <a:cs typeface="Arial" pitchFamily="34" charset="-120"/>
              </a:rPr>
              <a:t>: Uso </a:t>
            </a:r>
            <a:r>
              <a:rPr lang="en-US" sz="4200" b="1" kern="0" spc="-37" dirty="0" err="1">
                <a:solidFill>
                  <a:srgbClr val="1C3F7F"/>
                </a:solidFill>
                <a:latin typeface="Arial" pitchFamily="34" charset="0"/>
                <a:ea typeface="Arial" pitchFamily="34" charset="-122"/>
                <a:cs typeface="Arial" pitchFamily="34" charset="-120"/>
              </a:rPr>
              <a:t>incipiente</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pero</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acelerado</a:t>
            </a:r>
            <a:endParaRPr lang="en-US" sz="4200" dirty="0"/>
          </a:p>
        </p:txBody>
      </p:sp>
      <p:pic>
        <p:nvPicPr>
          <p:cNvPr id="7" name="Image 0" descr="preencoded.png"/>
          <p:cNvPicPr>
            <a:picLocks noChangeAspect="1"/>
          </p:cNvPicPr>
          <p:nvPr/>
        </p:nvPicPr>
        <p:blipFill>
          <a:blip r:embed="rId3"/>
          <a:stretch>
            <a:fillRect/>
          </a:stretch>
        </p:blipFill>
        <p:spPr>
          <a:xfrm>
            <a:off x="1238250" y="2523530"/>
            <a:ext cx="15811500" cy="663059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err="1">
                <a:solidFill>
                  <a:srgbClr val="1C3F7F"/>
                </a:solidFill>
                <a:latin typeface="Arial" pitchFamily="34" charset="0"/>
                <a:ea typeface="Arial" pitchFamily="34" charset="-122"/>
                <a:cs typeface="Arial" pitchFamily="34" charset="-120"/>
              </a:rPr>
              <a:t>Agentes</a:t>
            </a:r>
            <a:r>
              <a:rPr lang="en-US" sz="4200" b="1" kern="0" spc="-37" dirty="0">
                <a:solidFill>
                  <a:srgbClr val="1C3F7F"/>
                </a:solidFill>
                <a:latin typeface="Arial" pitchFamily="34" charset="0"/>
                <a:ea typeface="Arial" pitchFamily="34" charset="-122"/>
                <a:cs typeface="Arial" pitchFamily="34" charset="-120"/>
              </a:rPr>
              <a:t>: para qué sirven hoy</a:t>
            </a:r>
            <a:endParaRPr lang="en-US" sz="4200" dirty="0"/>
          </a:p>
        </p:txBody>
      </p:sp>
      <p:pic>
        <p:nvPicPr>
          <p:cNvPr id="7" name="Image 0" descr="preencoded.png"/>
          <p:cNvPicPr>
            <a:picLocks noChangeAspect="1"/>
          </p:cNvPicPr>
          <p:nvPr/>
        </p:nvPicPr>
        <p:blipFill>
          <a:blip r:embed="rId3"/>
          <a:stretch>
            <a:fillRect/>
          </a:stretch>
        </p:blipFill>
        <p:spPr>
          <a:xfrm>
            <a:off x="1238250" y="2523530"/>
            <a:ext cx="15811500" cy="663059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¿Hay valor </a:t>
            </a:r>
            <a:r>
              <a:rPr lang="en-US" sz="4200" b="1" kern="0" spc="-37" dirty="0" err="1">
                <a:solidFill>
                  <a:srgbClr val="1C3F7F"/>
                </a:solidFill>
                <a:latin typeface="Arial" pitchFamily="34" charset="0"/>
                <a:ea typeface="Arial" pitchFamily="34" charset="-122"/>
                <a:cs typeface="Arial" pitchFamily="34" charset="-120"/>
              </a:rPr>
              <a:t>en</a:t>
            </a:r>
            <a:r>
              <a:rPr lang="en-US" sz="4200" b="1" kern="0" spc="-37" dirty="0">
                <a:solidFill>
                  <a:srgbClr val="1C3F7F"/>
                </a:solidFill>
                <a:latin typeface="Arial" pitchFamily="34" charset="0"/>
                <a:ea typeface="Arial" pitchFamily="34" charset="-122"/>
                <a:cs typeface="Arial" pitchFamily="34" charset="-120"/>
              </a:rPr>
              <a:t> la IA?, 2 </a:t>
            </a:r>
            <a:r>
              <a:rPr lang="en-US" sz="4200" b="1" kern="0" spc="-37" dirty="0" err="1">
                <a:solidFill>
                  <a:srgbClr val="1C3F7F"/>
                </a:solidFill>
                <a:latin typeface="Arial" pitchFamily="34" charset="0"/>
                <a:ea typeface="Arial" pitchFamily="34" charset="-122"/>
                <a:cs typeface="Arial" pitchFamily="34" charset="-120"/>
              </a:rPr>
              <a:t>dimensiones</a:t>
            </a:r>
            <a:endParaRPr lang="en-US" sz="4200" dirty="0"/>
          </a:p>
        </p:txBody>
      </p:sp>
      <p:pic>
        <p:nvPicPr>
          <p:cNvPr id="7" name="Image 0" descr="preencoded.png"/>
          <p:cNvPicPr>
            <a:picLocks noChangeAspect="1"/>
          </p:cNvPicPr>
          <p:nvPr/>
        </p:nvPicPr>
        <p:blipFill>
          <a:blip r:embed="rId3"/>
          <a:stretch>
            <a:fillRect/>
          </a:stretch>
        </p:blipFill>
        <p:spPr>
          <a:xfrm>
            <a:off x="2144316" y="2000250"/>
            <a:ext cx="13999369" cy="76770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El cuello de botella se movió</a:t>
            </a:r>
            <a:endParaRPr lang="en-US" sz="4200" dirty="0"/>
          </a:p>
        </p:txBody>
      </p:sp>
      <p:pic>
        <p:nvPicPr>
          <p:cNvPr id="7" name="Image 0" descr="preencoded.png"/>
          <p:cNvPicPr>
            <a:picLocks noChangeAspect="1"/>
          </p:cNvPicPr>
          <p:nvPr/>
        </p:nvPicPr>
        <p:blipFill>
          <a:blip r:embed="rId3"/>
          <a:stretch>
            <a:fillRect/>
          </a:stretch>
        </p:blipFill>
        <p:spPr>
          <a:xfrm>
            <a:off x="2028825" y="2000250"/>
            <a:ext cx="14230350" cy="71151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Dónde se ejecuta</a:t>
            </a:r>
            <a:endParaRPr lang="en-US" sz="4200" dirty="0"/>
          </a:p>
        </p:txBody>
      </p:sp>
      <p:pic>
        <p:nvPicPr>
          <p:cNvPr id="7" name="Image 0" descr="preencoded.png"/>
          <p:cNvPicPr>
            <a:picLocks noChangeAspect="1"/>
          </p:cNvPicPr>
          <p:nvPr/>
        </p:nvPicPr>
        <p:blipFill>
          <a:blip r:embed="rId3"/>
          <a:stretch>
            <a:fillRect/>
          </a:stretch>
        </p:blipFill>
        <p:spPr>
          <a:xfrm>
            <a:off x="1238250" y="2651075"/>
            <a:ext cx="15811500" cy="63754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¿Dónde está realmente la industria?</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a:t>
            </a:r>
            <a:r>
              <a:rPr lang="en-US" sz="4200" b="1" kern="0" spc="-37" dirty="0" err="1">
                <a:solidFill>
                  <a:srgbClr val="1C3F7F"/>
                </a:solidFill>
                <a:latin typeface="Arial" pitchFamily="34" charset="0"/>
                <a:ea typeface="Arial" pitchFamily="34" charset="-122"/>
                <a:cs typeface="Arial" pitchFamily="34" charset="-120"/>
              </a:rPr>
              <a:t>Llegamos</a:t>
            </a:r>
            <a:r>
              <a:rPr lang="en-US" sz="4200" b="1" kern="0" spc="-37" dirty="0">
                <a:solidFill>
                  <a:srgbClr val="1C3F7F"/>
                </a:solidFill>
                <a:latin typeface="Arial" pitchFamily="34" charset="0"/>
                <a:ea typeface="Arial" pitchFamily="34" charset="-122"/>
                <a:cs typeface="Arial" pitchFamily="34" charset="-120"/>
              </a:rPr>
              <a:t> al </a:t>
            </a:r>
            <a:r>
              <a:rPr lang="en-US" sz="4200" b="1" kern="0" spc="-37" dirty="0" err="1">
                <a:solidFill>
                  <a:srgbClr val="1C3F7F"/>
                </a:solidFill>
                <a:latin typeface="Arial" pitchFamily="34" charset="0"/>
                <a:ea typeface="Arial" pitchFamily="34" charset="-122"/>
                <a:cs typeface="Arial" pitchFamily="34" charset="-120"/>
              </a:rPr>
              <a:t>techo</a:t>
            </a:r>
            <a:r>
              <a:rPr lang="en-US" sz="4200" b="1" kern="0" spc="-37" dirty="0">
                <a:solidFill>
                  <a:srgbClr val="1C3F7F"/>
                </a:solidFill>
                <a:latin typeface="Arial" pitchFamily="34" charset="0"/>
                <a:ea typeface="Arial" pitchFamily="34" charset="-122"/>
                <a:cs typeface="Arial" pitchFamily="34" charset="-120"/>
              </a:rPr>
              <a:t> de capex?, </a:t>
            </a:r>
            <a:r>
              <a:rPr lang="en-US" sz="4200" b="1" kern="0" spc="-37" dirty="0" err="1">
                <a:solidFill>
                  <a:srgbClr val="1C3F7F"/>
                </a:solidFill>
                <a:latin typeface="Arial" pitchFamily="34" charset="0"/>
                <a:ea typeface="Arial" pitchFamily="34" charset="-122"/>
                <a:cs typeface="Arial" pitchFamily="34" charset="-120"/>
              </a:rPr>
              <a:t>ni</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cerca</a:t>
            </a:r>
            <a:endParaRPr lang="en-US" sz="4200" dirty="0"/>
          </a:p>
        </p:txBody>
      </p:sp>
      <p:pic>
        <p:nvPicPr>
          <p:cNvPr id="7" name="Image 0" descr="preencoded.png"/>
          <p:cNvPicPr>
            <a:picLocks noChangeAspect="1"/>
          </p:cNvPicPr>
          <p:nvPr/>
        </p:nvPicPr>
        <p:blipFill>
          <a:blip r:embed="rId3"/>
          <a:stretch>
            <a:fillRect/>
          </a:stretch>
        </p:blipFill>
        <p:spPr>
          <a:xfrm>
            <a:off x="1238250" y="2114996"/>
            <a:ext cx="15811500" cy="6885533"/>
          </a:xfrm>
          <a:prstGeom prst="rect">
            <a:avLst/>
          </a:prstGeom>
        </p:spPr>
      </p:pic>
      <p:sp>
        <p:nvSpPr>
          <p:cNvPr id="8" name="Text 5"/>
          <p:cNvSpPr/>
          <p:nvPr/>
        </p:nvSpPr>
        <p:spPr>
          <a:xfrm>
            <a:off x="133350" y="9324975"/>
            <a:ext cx="18021300" cy="390525"/>
          </a:xfrm>
          <a:prstGeom prst="rect">
            <a:avLst/>
          </a:prstGeom>
          <a:noFill/>
          <a:ln/>
        </p:spPr>
        <p:txBody>
          <a:bodyPr wrap="square" lIns="25400" tIns="25400" rIns="25400" bIns="25400" rtlCol="0" anchor="t">
            <a:normAutofit lnSpcReduction="10000"/>
          </a:bodyPr>
          <a:lstStyle/>
          <a:p>
            <a:pPr marL="0" indent="0" algn="ctr">
              <a:buNone/>
            </a:pPr>
            <a:r>
              <a:rPr lang="en-US" sz="2325" b="1" dirty="0">
                <a:solidFill>
                  <a:srgbClr val="1C3F7F"/>
                </a:solidFill>
                <a:latin typeface="Arial" pitchFamily="34" charset="0"/>
                <a:ea typeface="Arial" pitchFamily="34" charset="-122"/>
                <a:cs typeface="Arial" pitchFamily="34" charset="-120"/>
              </a:rPr>
              <a:t>La pregunta de 2026 no es si invertir. Es qué apagar.</a:t>
            </a:r>
            <a:endParaRPr lang="en-US" sz="23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1C3F7F"/>
        </a:solidFill>
        <a:effectLst/>
      </p:bgPr>
    </p:bg>
    <p:spTree>
      <p:nvGrpSpPr>
        <p:cNvPr id="1" name=""/>
        <p:cNvGrpSpPr/>
        <p:nvPr/>
      </p:nvGrpSpPr>
      <p:grpSpPr>
        <a:xfrm>
          <a:off x="0" y="0"/>
          <a:ext cx="0" cy="0"/>
          <a:chOff x="0" y="0"/>
          <a:chExt cx="0" cy="0"/>
        </a:xfrm>
      </p:grpSpPr>
      <p:sp>
        <p:nvSpPr>
          <p:cNvPr id="2" name="Text 0"/>
          <p:cNvSpPr/>
          <p:nvPr/>
        </p:nvSpPr>
        <p:spPr>
          <a:xfrm>
            <a:off x="13894862" y="4191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FFFFFF"/>
                </a:solidFill>
                <a:latin typeface="Arial" pitchFamily="34" charset="0"/>
                <a:ea typeface="Arial" pitchFamily="34" charset="-122"/>
                <a:cs typeface="Arial" pitchFamily="34" charset="-120"/>
              </a:rPr>
              <a:t>FEN · Universidad de Chile</a:t>
            </a:r>
            <a:endParaRPr lang="en-US" sz="1800" dirty="0"/>
          </a:p>
        </p:txBody>
      </p:sp>
      <p:sp>
        <p:nvSpPr>
          <p:cNvPr id="3" name="Text 1"/>
          <p:cNvSpPr/>
          <p:nvPr/>
        </p:nvSpPr>
        <p:spPr>
          <a:xfrm>
            <a:off x="13894862" y="7276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FFFFFF">
                    <a:alpha val="55000"/>
                  </a:srgbClr>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2578864" y="4956870"/>
            <a:ext cx="13130272" cy="1001911"/>
          </a:xfrm>
          <a:prstGeom prst="rect">
            <a:avLst/>
          </a:prstGeom>
          <a:noFill/>
          <a:ln/>
        </p:spPr>
        <p:txBody>
          <a:bodyPr wrap="square" lIns="25400" tIns="25400" rIns="25400" bIns="25400" rtlCol="0" anchor="t">
            <a:normAutofit lnSpcReduction="10000"/>
          </a:bodyPr>
          <a:lstStyle/>
          <a:p>
            <a:pPr marL="0" indent="0" algn="ctr">
              <a:lnSpc>
                <a:spcPct val="99216"/>
              </a:lnSpc>
              <a:buNone/>
            </a:pPr>
            <a:r>
              <a:rPr lang="en-US" sz="6600" b="1" dirty="0">
                <a:solidFill>
                  <a:srgbClr val="FFFFFF"/>
                </a:solidFill>
                <a:latin typeface="Arial" pitchFamily="34" charset="0"/>
                <a:ea typeface="Arial" pitchFamily="34" charset="-122"/>
                <a:cs typeface="Arial" pitchFamily="34" charset="-120"/>
              </a:rPr>
              <a:t>“IA y </a:t>
            </a:r>
            <a:r>
              <a:rPr lang="en-US" sz="6600" b="1" dirty="0" err="1">
                <a:solidFill>
                  <a:srgbClr val="FFFFFF"/>
                </a:solidFill>
                <a:latin typeface="Arial" pitchFamily="34" charset="0"/>
                <a:ea typeface="Arial" pitchFamily="34" charset="-122"/>
                <a:cs typeface="Arial" pitchFamily="34" charset="-120"/>
              </a:rPr>
              <a:t>automatización</a:t>
            </a:r>
            <a:r>
              <a:rPr lang="en-US" sz="6600" b="1" dirty="0">
                <a:solidFill>
                  <a:srgbClr val="FFFFFF"/>
                </a:solidFill>
                <a:latin typeface="Arial" pitchFamily="34" charset="0"/>
                <a:ea typeface="Arial" pitchFamily="34" charset="-122"/>
                <a:cs typeface="Arial" pitchFamily="34" charset="-120"/>
              </a:rPr>
              <a:t>”</a:t>
            </a:r>
            <a:endParaRPr lang="en-US" sz="6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Automatizar tareas, no cargos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La tesis</a:t>
            </a:r>
            <a:endParaRPr lang="en-US" sz="4200" dirty="0"/>
          </a:p>
        </p:txBody>
      </p:sp>
      <p:sp>
        <p:nvSpPr>
          <p:cNvPr id="7" name="Text 5"/>
          <p:cNvSpPr/>
          <p:nvPr/>
        </p:nvSpPr>
        <p:spPr>
          <a:xfrm>
            <a:off x="952500" y="2343150"/>
            <a:ext cx="16344900" cy="706636"/>
          </a:xfrm>
          <a:prstGeom prst="rect">
            <a:avLst/>
          </a:prstGeom>
          <a:noFill/>
          <a:ln/>
        </p:spPr>
        <p:txBody>
          <a:bodyPr wrap="square" lIns="25400" tIns="25400" rIns="25400" bIns="25400" rtlCol="0" anchor="t">
            <a:normAutofit/>
          </a:bodyPr>
          <a:lstStyle/>
          <a:p>
            <a:pPr marL="0" indent="0" algn="l">
              <a:lnSpc>
                <a:spcPct val="113226"/>
              </a:lnSpc>
              <a:buNone/>
            </a:pPr>
            <a:r>
              <a:rPr lang="en-US" sz="4050" b="1" dirty="0">
                <a:solidFill>
                  <a:srgbClr val="1C3F7F"/>
                </a:solidFill>
                <a:latin typeface="Arial" pitchFamily="34" charset="0"/>
                <a:ea typeface="Arial" pitchFamily="34" charset="-122"/>
                <a:cs typeface="Arial" pitchFamily="34" charset="-120"/>
              </a:rPr>
              <a:t>Reemplazar un cargo completo es difícil.</a:t>
            </a:r>
            <a:endParaRPr lang="en-US" sz="4050" dirty="0"/>
          </a:p>
        </p:txBody>
      </p:sp>
      <p:sp>
        <p:nvSpPr>
          <p:cNvPr id="8" name="Text 6"/>
          <p:cNvSpPr/>
          <p:nvPr/>
        </p:nvSpPr>
        <p:spPr>
          <a:xfrm>
            <a:off x="952500" y="3011686"/>
            <a:ext cx="16344900" cy="706636"/>
          </a:xfrm>
          <a:prstGeom prst="rect">
            <a:avLst/>
          </a:prstGeom>
          <a:noFill/>
          <a:ln/>
        </p:spPr>
        <p:txBody>
          <a:bodyPr wrap="square" lIns="25400" tIns="25400" rIns="25400" bIns="25400" rtlCol="0" anchor="t">
            <a:normAutofit/>
          </a:bodyPr>
          <a:lstStyle/>
          <a:p>
            <a:pPr marL="0" indent="0" algn="l">
              <a:lnSpc>
                <a:spcPct val="113226"/>
              </a:lnSpc>
              <a:buNone/>
            </a:pPr>
            <a:r>
              <a:rPr lang="en-US" sz="4050" b="1" dirty="0">
                <a:solidFill>
                  <a:srgbClr val="1C3F7F"/>
                </a:solidFill>
                <a:latin typeface="Arial" pitchFamily="34" charset="0"/>
                <a:ea typeface="Arial" pitchFamily="34" charset="-122"/>
                <a:cs typeface="Arial" pitchFamily="34" charset="-120"/>
              </a:rPr>
              <a:t>Reemplazar tareas específicas es viable.</a:t>
            </a:r>
            <a:endParaRPr lang="en-US" sz="4050" dirty="0"/>
          </a:p>
        </p:txBody>
      </p:sp>
      <p:sp>
        <p:nvSpPr>
          <p:cNvPr id="9" name="Text 7"/>
          <p:cNvSpPr/>
          <p:nvPr/>
        </p:nvSpPr>
        <p:spPr>
          <a:xfrm>
            <a:off x="952500" y="4346972"/>
            <a:ext cx="5518041" cy="71437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C7CEDC"/>
                </a:solidFill>
                <a:latin typeface="Arial" pitchFamily="34" charset="0"/>
                <a:ea typeface="Arial" pitchFamily="34" charset="-122"/>
                <a:cs typeface="Arial" pitchFamily="34" charset="-120"/>
              </a:rPr>
              <a:t>1</a:t>
            </a:r>
            <a:endParaRPr lang="en-US" sz="4500" dirty="0"/>
          </a:p>
        </p:txBody>
      </p:sp>
      <p:sp>
        <p:nvSpPr>
          <p:cNvPr id="10" name="Text 8"/>
          <p:cNvSpPr/>
          <p:nvPr/>
        </p:nvSpPr>
        <p:spPr>
          <a:xfrm>
            <a:off x="952500" y="5137547"/>
            <a:ext cx="5518041" cy="451396"/>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1F2937"/>
                </a:solidFill>
                <a:latin typeface="Arial" pitchFamily="34" charset="0"/>
                <a:ea typeface="Arial" pitchFamily="34" charset="-122"/>
                <a:cs typeface="Arial" pitchFamily="34" charset="-120"/>
              </a:rPr>
              <a:t>Levantar el listado de </a:t>
            </a:r>
            <a:r>
              <a:rPr lang="en-US" sz="2325" b="1" dirty="0">
                <a:solidFill>
                  <a:srgbClr val="1F2937"/>
                </a:solidFill>
                <a:latin typeface="Arial" pitchFamily="34" charset="0"/>
                <a:ea typeface="Arial" pitchFamily="34" charset="-122"/>
                <a:cs typeface="Arial" pitchFamily="34" charset="-120"/>
              </a:rPr>
              <a:t>tareas </a:t>
            </a:r>
            <a:r>
              <a:rPr lang="en-US" sz="2325" dirty="0">
                <a:solidFill>
                  <a:srgbClr val="1F2937"/>
                </a:solidFill>
                <a:latin typeface="Arial" pitchFamily="34" charset="0"/>
                <a:ea typeface="Arial" pitchFamily="34" charset="-122"/>
                <a:cs typeface="Arial" pitchFamily="34" charset="-120"/>
              </a:rPr>
              <a:t>por área.</a:t>
            </a:r>
            <a:endParaRPr lang="en-US" sz="2325" dirty="0"/>
          </a:p>
        </p:txBody>
      </p:sp>
      <p:sp>
        <p:nvSpPr>
          <p:cNvPr id="11" name="Text 9"/>
          <p:cNvSpPr/>
          <p:nvPr/>
        </p:nvSpPr>
        <p:spPr>
          <a:xfrm>
            <a:off x="6635651" y="4346972"/>
            <a:ext cx="5518205" cy="71437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C7CEDC"/>
                </a:solidFill>
                <a:latin typeface="Arial" pitchFamily="34" charset="0"/>
                <a:ea typeface="Arial" pitchFamily="34" charset="-122"/>
                <a:cs typeface="Arial" pitchFamily="34" charset="-120"/>
              </a:rPr>
              <a:t>2</a:t>
            </a:r>
            <a:endParaRPr lang="en-US" sz="4500" dirty="0"/>
          </a:p>
        </p:txBody>
      </p:sp>
      <p:sp>
        <p:nvSpPr>
          <p:cNvPr id="12" name="Text 10"/>
          <p:cNvSpPr/>
          <p:nvPr/>
        </p:nvSpPr>
        <p:spPr>
          <a:xfrm>
            <a:off x="6635651" y="5137547"/>
            <a:ext cx="5518205" cy="451396"/>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1F2937"/>
                </a:solidFill>
                <a:latin typeface="Arial" pitchFamily="34" charset="0"/>
                <a:ea typeface="Arial" pitchFamily="34" charset="-122"/>
                <a:cs typeface="Arial" pitchFamily="34" charset="-120"/>
              </a:rPr>
              <a:t>Estimar el </a:t>
            </a:r>
            <a:r>
              <a:rPr lang="en-US" sz="2325" b="1" dirty="0">
                <a:solidFill>
                  <a:srgbClr val="1F2937"/>
                </a:solidFill>
                <a:latin typeface="Arial" pitchFamily="34" charset="0"/>
                <a:ea typeface="Arial" pitchFamily="34" charset="-122"/>
                <a:cs typeface="Arial" pitchFamily="34" charset="-120"/>
              </a:rPr>
              <a:t>FTE </a:t>
            </a:r>
            <a:r>
              <a:rPr lang="en-US" sz="2325" dirty="0">
                <a:solidFill>
                  <a:srgbClr val="1F2937"/>
                </a:solidFill>
                <a:latin typeface="Arial" pitchFamily="34" charset="0"/>
                <a:ea typeface="Arial" pitchFamily="34" charset="-122"/>
                <a:cs typeface="Arial" pitchFamily="34" charset="-120"/>
              </a:rPr>
              <a:t>asociado a cada tarea.</a:t>
            </a:r>
            <a:endParaRPr lang="en-US" sz="2325" dirty="0"/>
          </a:p>
        </p:txBody>
      </p:sp>
      <p:sp>
        <p:nvSpPr>
          <p:cNvPr id="13" name="Text 11"/>
          <p:cNvSpPr/>
          <p:nvPr/>
        </p:nvSpPr>
        <p:spPr>
          <a:xfrm>
            <a:off x="12318950" y="4346972"/>
            <a:ext cx="5518205" cy="71437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C7CEDC"/>
                </a:solidFill>
                <a:latin typeface="Arial" pitchFamily="34" charset="0"/>
                <a:ea typeface="Arial" pitchFamily="34" charset="-122"/>
                <a:cs typeface="Arial" pitchFamily="34" charset="-120"/>
              </a:rPr>
              <a:t>3</a:t>
            </a:r>
            <a:endParaRPr lang="en-US" sz="4500" dirty="0"/>
          </a:p>
        </p:txBody>
      </p:sp>
      <p:sp>
        <p:nvSpPr>
          <p:cNvPr id="14" name="Text 12"/>
          <p:cNvSpPr/>
          <p:nvPr/>
        </p:nvSpPr>
        <p:spPr>
          <a:xfrm>
            <a:off x="12318950" y="5137547"/>
            <a:ext cx="5167046" cy="864691"/>
          </a:xfrm>
          <a:prstGeom prst="rect">
            <a:avLst/>
          </a:prstGeom>
          <a:noFill/>
          <a:ln/>
        </p:spPr>
        <p:txBody>
          <a:bodyPr wrap="square" lIns="25400" tIns="25400" rIns="25400" bIns="25400" rtlCol="0" anchor="t">
            <a:normAutofit lnSpcReduction="10000"/>
          </a:bodyPr>
          <a:lstStyle/>
          <a:p>
            <a:pPr marL="0" indent="0" algn="l">
              <a:lnSpc>
                <a:spcPct val="120556"/>
              </a:lnSpc>
              <a:buNone/>
            </a:pPr>
            <a:r>
              <a:rPr lang="en-US" sz="2325" dirty="0">
                <a:solidFill>
                  <a:srgbClr val="1F2937"/>
                </a:solidFill>
                <a:latin typeface="Arial" pitchFamily="34" charset="0"/>
                <a:ea typeface="Arial" pitchFamily="34" charset="-122"/>
                <a:cs typeface="Arial" pitchFamily="34" charset="-120"/>
              </a:rPr>
              <a:t>Clasificar por </a:t>
            </a:r>
            <a:r>
              <a:rPr lang="en-US" sz="2325" b="1" dirty="0">
                <a:solidFill>
                  <a:srgbClr val="1F2937"/>
                </a:solidFill>
                <a:latin typeface="Arial" pitchFamily="34" charset="0"/>
                <a:ea typeface="Arial" pitchFamily="34" charset="-122"/>
                <a:cs typeface="Arial" pitchFamily="34" charset="-120"/>
              </a:rPr>
              <a:t>automatizabilidad e impacto </a:t>
            </a:r>
            <a:r>
              <a:rPr lang="en-US" sz="2325" dirty="0">
                <a:solidFill>
                  <a:srgbClr val="1F2937"/>
                </a:solidFill>
                <a:latin typeface="Arial" pitchFamily="34" charset="0"/>
                <a:ea typeface="Arial" pitchFamily="34" charset="-122"/>
                <a:cs typeface="Arial" pitchFamily="34" charset="-120"/>
              </a:rPr>
              <a:t>.</a:t>
            </a:r>
            <a:endParaRPr lang="en-US" sz="2325" dirty="0"/>
          </a:p>
        </p:txBody>
      </p:sp>
      <p:sp>
        <p:nvSpPr>
          <p:cNvPr id="15" name="Shape 13"/>
          <p:cNvSpPr/>
          <p:nvPr/>
        </p:nvSpPr>
        <p:spPr>
          <a:xfrm>
            <a:off x="952500" y="8905875"/>
            <a:ext cx="16383000" cy="28575"/>
          </a:xfrm>
          <a:prstGeom prst="rect">
            <a:avLst/>
          </a:prstGeom>
          <a:solidFill>
            <a:srgbClr val="E2E6EE"/>
          </a:solidFill>
          <a:ln/>
        </p:spPr>
        <p:txBody>
          <a:bodyPr/>
          <a:lstStyle/>
          <a:p>
            <a:endParaRPr lang="es-ES_tradnl"/>
          </a:p>
        </p:txBody>
      </p:sp>
      <p:sp>
        <p:nvSpPr>
          <p:cNvPr id="16" name="Text 14"/>
          <p:cNvSpPr/>
          <p:nvPr/>
        </p:nvSpPr>
        <p:spPr>
          <a:xfrm>
            <a:off x="952500" y="9220200"/>
            <a:ext cx="16874490" cy="4000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374151"/>
                </a:solidFill>
                <a:latin typeface="Arial" pitchFamily="34" charset="0"/>
                <a:ea typeface="Arial" pitchFamily="34" charset="-122"/>
                <a:cs typeface="Arial" pitchFamily="34" charset="-120"/>
              </a:rPr>
              <a:t>El resultado no es despedir: es </a:t>
            </a:r>
            <a:r>
              <a:rPr lang="en-US" sz="2400" b="1" dirty="0">
                <a:solidFill>
                  <a:srgbClr val="1C3F7F"/>
                </a:solidFill>
                <a:latin typeface="Arial" pitchFamily="34" charset="0"/>
                <a:ea typeface="Arial" pitchFamily="34" charset="-122"/>
                <a:cs typeface="Arial" pitchFamily="34" charset="-120"/>
              </a:rPr>
              <a:t>reempaquetar </a:t>
            </a:r>
            <a:r>
              <a:rPr lang="en-US" sz="2400" dirty="0">
                <a:solidFill>
                  <a:srgbClr val="374151"/>
                </a:solidFill>
                <a:latin typeface="Arial" pitchFamily="34" charset="0"/>
                <a:ea typeface="Arial" pitchFamily="34" charset="-122"/>
                <a:cs typeface="Arial" pitchFamily="34" charset="-120"/>
              </a:rPr>
              <a:t>los cargos con las tareas no automatizables que quedan.</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Automatizar tareas, no cargos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Tres niveles de automatización</a:t>
            </a:r>
            <a:endParaRPr lang="en-US" sz="4200" dirty="0"/>
          </a:p>
        </p:txBody>
      </p:sp>
      <p:sp>
        <p:nvSpPr>
          <p:cNvPr id="7" name="Shape 5"/>
          <p:cNvSpPr/>
          <p:nvPr/>
        </p:nvSpPr>
        <p:spPr>
          <a:xfrm>
            <a:off x="952500" y="2727871"/>
            <a:ext cx="1238250" cy="28575"/>
          </a:xfrm>
          <a:prstGeom prst="rect">
            <a:avLst/>
          </a:prstGeom>
          <a:solidFill>
            <a:srgbClr val="1C3F7F"/>
          </a:solidFill>
          <a:ln/>
        </p:spPr>
        <p:txBody>
          <a:bodyPr/>
          <a:lstStyle/>
          <a:p>
            <a:endParaRPr lang="es-ES_tradnl"/>
          </a:p>
        </p:txBody>
      </p:sp>
      <p:sp>
        <p:nvSpPr>
          <p:cNvPr id="8" name="Text 6"/>
          <p:cNvSpPr/>
          <p:nvPr/>
        </p:nvSpPr>
        <p:spPr>
          <a:xfrm>
            <a:off x="952500" y="2286000"/>
            <a:ext cx="1314450"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b="1" dirty="0">
                <a:solidFill>
                  <a:srgbClr val="1C3F7F"/>
                </a:solidFill>
                <a:latin typeface="Arial" pitchFamily="34" charset="0"/>
                <a:ea typeface="Arial" pitchFamily="34" charset="-122"/>
                <a:cs typeface="Arial" pitchFamily="34" charset="-120"/>
              </a:rPr>
              <a:t>Nivel</a:t>
            </a:r>
            <a:endParaRPr lang="en-US" sz="1950" dirty="0"/>
          </a:p>
        </p:txBody>
      </p:sp>
      <p:sp>
        <p:nvSpPr>
          <p:cNvPr id="9" name="Shape 7"/>
          <p:cNvSpPr/>
          <p:nvPr/>
        </p:nvSpPr>
        <p:spPr>
          <a:xfrm>
            <a:off x="2190750" y="2727871"/>
            <a:ext cx="7572375" cy="28575"/>
          </a:xfrm>
          <a:prstGeom prst="rect">
            <a:avLst/>
          </a:prstGeom>
          <a:solidFill>
            <a:srgbClr val="1C3F7F"/>
          </a:solidFill>
          <a:ln/>
        </p:spPr>
        <p:txBody>
          <a:bodyPr/>
          <a:lstStyle/>
          <a:p>
            <a:endParaRPr lang="es-ES_tradnl"/>
          </a:p>
        </p:txBody>
      </p:sp>
      <p:sp>
        <p:nvSpPr>
          <p:cNvPr id="10" name="Text 8"/>
          <p:cNvSpPr/>
          <p:nvPr/>
        </p:nvSpPr>
        <p:spPr>
          <a:xfrm>
            <a:off x="2190750" y="2286000"/>
            <a:ext cx="7799546"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b="1" dirty="0">
                <a:solidFill>
                  <a:srgbClr val="1C3F7F"/>
                </a:solidFill>
                <a:latin typeface="Arial" pitchFamily="34" charset="0"/>
                <a:ea typeface="Arial" pitchFamily="34" charset="-122"/>
                <a:cs typeface="Arial" pitchFamily="34" charset="-120"/>
              </a:rPr>
              <a:t>Qué es</a:t>
            </a:r>
            <a:endParaRPr lang="en-US" sz="1950" dirty="0"/>
          </a:p>
        </p:txBody>
      </p:sp>
      <p:sp>
        <p:nvSpPr>
          <p:cNvPr id="11" name="Shape 9"/>
          <p:cNvSpPr/>
          <p:nvPr/>
        </p:nvSpPr>
        <p:spPr>
          <a:xfrm>
            <a:off x="9763125" y="2727871"/>
            <a:ext cx="7572375" cy="28575"/>
          </a:xfrm>
          <a:prstGeom prst="rect">
            <a:avLst/>
          </a:prstGeom>
          <a:solidFill>
            <a:srgbClr val="1C3F7F"/>
          </a:solidFill>
          <a:ln/>
        </p:spPr>
        <p:txBody>
          <a:bodyPr/>
          <a:lstStyle/>
          <a:p>
            <a:endParaRPr lang="es-ES_tradnl"/>
          </a:p>
        </p:txBody>
      </p:sp>
      <p:sp>
        <p:nvSpPr>
          <p:cNvPr id="12" name="Text 10"/>
          <p:cNvSpPr/>
          <p:nvPr/>
        </p:nvSpPr>
        <p:spPr>
          <a:xfrm>
            <a:off x="9763125" y="2286000"/>
            <a:ext cx="7799546"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b="1" dirty="0">
                <a:solidFill>
                  <a:srgbClr val="1C3F7F"/>
                </a:solidFill>
                <a:latin typeface="Arial" pitchFamily="34" charset="0"/>
                <a:ea typeface="Arial" pitchFamily="34" charset="-122"/>
                <a:cs typeface="Arial" pitchFamily="34" charset="-120"/>
              </a:rPr>
              <a:t>Ejemplo</a:t>
            </a:r>
            <a:endParaRPr lang="en-US" sz="1950" dirty="0"/>
          </a:p>
        </p:txBody>
      </p:sp>
      <p:sp>
        <p:nvSpPr>
          <p:cNvPr id="13" name="Shape 11"/>
          <p:cNvSpPr/>
          <p:nvPr/>
        </p:nvSpPr>
        <p:spPr>
          <a:xfrm>
            <a:off x="952500" y="4150816"/>
            <a:ext cx="1238250" cy="9525"/>
          </a:xfrm>
          <a:prstGeom prst="rect">
            <a:avLst/>
          </a:prstGeom>
          <a:solidFill>
            <a:srgbClr val="E2E6EE"/>
          </a:solidFill>
          <a:ln/>
        </p:spPr>
        <p:txBody>
          <a:bodyPr/>
          <a:lstStyle/>
          <a:p>
            <a:endParaRPr lang="es-ES_tradnl"/>
          </a:p>
        </p:txBody>
      </p:sp>
      <p:sp>
        <p:nvSpPr>
          <p:cNvPr id="14" name="Text 12"/>
          <p:cNvSpPr/>
          <p:nvPr/>
        </p:nvSpPr>
        <p:spPr>
          <a:xfrm>
            <a:off x="952500" y="3080296"/>
            <a:ext cx="1314450" cy="784771"/>
          </a:xfrm>
          <a:prstGeom prst="rect">
            <a:avLst/>
          </a:prstGeom>
          <a:noFill/>
          <a:ln/>
        </p:spPr>
        <p:txBody>
          <a:bodyPr wrap="square" lIns="25400" tIns="25400" rIns="25400" bIns="25400" rtlCol="0" anchor="t">
            <a:normAutofit/>
          </a:bodyPr>
          <a:lstStyle/>
          <a:p>
            <a:pPr marL="0" indent="0" algn="l">
              <a:lnSpc>
                <a:spcPct val="120615"/>
              </a:lnSpc>
              <a:buNone/>
            </a:pPr>
            <a:r>
              <a:rPr lang="en-US" sz="4200" b="1" dirty="0">
                <a:solidFill>
                  <a:srgbClr val="1C3F7F"/>
                </a:solidFill>
                <a:latin typeface="Arial" pitchFamily="34" charset="0"/>
                <a:ea typeface="Arial" pitchFamily="34" charset="-122"/>
                <a:cs typeface="Arial" pitchFamily="34" charset="-120"/>
              </a:rPr>
              <a:t>1</a:t>
            </a:r>
            <a:endParaRPr lang="en-US" sz="4200" dirty="0"/>
          </a:p>
        </p:txBody>
      </p:sp>
      <p:sp>
        <p:nvSpPr>
          <p:cNvPr id="15" name="Shape 13"/>
          <p:cNvSpPr/>
          <p:nvPr/>
        </p:nvSpPr>
        <p:spPr>
          <a:xfrm>
            <a:off x="2190750" y="4150816"/>
            <a:ext cx="7572375" cy="9525"/>
          </a:xfrm>
          <a:prstGeom prst="rect">
            <a:avLst/>
          </a:prstGeom>
          <a:solidFill>
            <a:srgbClr val="E2E6EE"/>
          </a:solidFill>
          <a:ln/>
        </p:spPr>
        <p:txBody>
          <a:bodyPr/>
          <a:lstStyle/>
          <a:p>
            <a:endParaRPr lang="es-ES_tradnl"/>
          </a:p>
        </p:txBody>
      </p:sp>
      <p:sp>
        <p:nvSpPr>
          <p:cNvPr id="16" name="Text 14"/>
          <p:cNvSpPr/>
          <p:nvPr/>
        </p:nvSpPr>
        <p:spPr>
          <a:xfrm>
            <a:off x="2190750" y="3080296"/>
            <a:ext cx="7418546" cy="784771"/>
          </a:xfrm>
          <a:prstGeom prst="rect">
            <a:avLst/>
          </a:prstGeom>
          <a:noFill/>
          <a:ln/>
        </p:spPr>
        <p:txBody>
          <a:bodyPr wrap="square" lIns="25400" tIns="25400" rIns="25400" bIns="25400" rtlCol="0" anchor="t">
            <a:normAutofit/>
          </a:bodyPr>
          <a:lstStyle/>
          <a:p>
            <a:pPr marL="0" indent="0" algn="l">
              <a:lnSpc>
                <a:spcPct val="123529"/>
              </a:lnSpc>
              <a:buNone/>
            </a:pPr>
            <a:r>
              <a:rPr lang="en-US" sz="2250" b="1" dirty="0">
                <a:solidFill>
                  <a:srgbClr val="1F2937"/>
                </a:solidFill>
                <a:latin typeface="Arial" pitchFamily="34" charset="0"/>
                <a:ea typeface="Arial" pitchFamily="34" charset="-122"/>
                <a:cs typeface="Arial" pitchFamily="34" charset="-120"/>
              </a:rPr>
              <a:t>Herramienta de productividad personal</a:t>
            </a:r>
            <a:endParaRPr lang="en-US" sz="2250" dirty="0"/>
          </a:p>
        </p:txBody>
      </p:sp>
      <p:sp>
        <p:nvSpPr>
          <p:cNvPr id="17" name="Shape 15"/>
          <p:cNvSpPr/>
          <p:nvPr/>
        </p:nvSpPr>
        <p:spPr>
          <a:xfrm>
            <a:off x="9763125" y="4150816"/>
            <a:ext cx="7572375" cy="9525"/>
          </a:xfrm>
          <a:prstGeom prst="rect">
            <a:avLst/>
          </a:prstGeom>
          <a:solidFill>
            <a:srgbClr val="E2E6EE"/>
          </a:solidFill>
          <a:ln/>
        </p:spPr>
        <p:txBody>
          <a:bodyPr/>
          <a:lstStyle/>
          <a:p>
            <a:endParaRPr lang="es-ES_tradnl"/>
          </a:p>
        </p:txBody>
      </p:sp>
      <p:sp>
        <p:nvSpPr>
          <p:cNvPr id="18" name="Text 16"/>
          <p:cNvSpPr/>
          <p:nvPr/>
        </p:nvSpPr>
        <p:spPr>
          <a:xfrm>
            <a:off x="9763125" y="3080296"/>
            <a:ext cx="7799546" cy="784771"/>
          </a:xfrm>
          <a:prstGeom prst="rect">
            <a:avLst/>
          </a:prstGeom>
          <a:noFill/>
          <a:ln/>
        </p:spPr>
        <p:txBody>
          <a:bodyPr wrap="square" lIns="25400" tIns="25400" rIns="25400" bIns="25400" rtlCol="0" anchor="t">
            <a:normAutofit/>
          </a:bodyPr>
          <a:lstStyle/>
          <a:p>
            <a:pPr marL="0" indent="0" algn="l">
              <a:lnSpc>
                <a:spcPct val="123529"/>
              </a:lnSpc>
              <a:buNone/>
            </a:pPr>
            <a:r>
              <a:rPr lang="en-US" sz="2250" dirty="0">
                <a:solidFill>
                  <a:srgbClr val="374151"/>
                </a:solidFill>
                <a:latin typeface="Arial" pitchFamily="34" charset="0"/>
                <a:ea typeface="Arial" pitchFamily="34" charset="-122"/>
                <a:cs typeface="Arial" pitchFamily="34" charset="-120"/>
              </a:rPr>
              <a:t>el asistente que cada uno usa en su escritorio</a:t>
            </a:r>
            <a:endParaRPr lang="en-US" sz="2250" dirty="0"/>
          </a:p>
        </p:txBody>
      </p:sp>
      <p:sp>
        <p:nvSpPr>
          <p:cNvPr id="19" name="Shape 17"/>
          <p:cNvSpPr/>
          <p:nvPr/>
        </p:nvSpPr>
        <p:spPr>
          <a:xfrm>
            <a:off x="952500" y="5554712"/>
            <a:ext cx="1238250" cy="9525"/>
          </a:xfrm>
          <a:prstGeom prst="rect">
            <a:avLst/>
          </a:prstGeom>
          <a:solidFill>
            <a:srgbClr val="E2E6EE"/>
          </a:solidFill>
          <a:ln/>
        </p:spPr>
        <p:txBody>
          <a:bodyPr/>
          <a:lstStyle/>
          <a:p>
            <a:endParaRPr lang="es-ES_tradnl"/>
          </a:p>
        </p:txBody>
      </p:sp>
      <p:sp>
        <p:nvSpPr>
          <p:cNvPr id="20" name="Text 18"/>
          <p:cNvSpPr/>
          <p:nvPr/>
        </p:nvSpPr>
        <p:spPr>
          <a:xfrm>
            <a:off x="952500" y="4484191"/>
            <a:ext cx="1314450" cy="784771"/>
          </a:xfrm>
          <a:prstGeom prst="rect">
            <a:avLst/>
          </a:prstGeom>
          <a:noFill/>
          <a:ln/>
        </p:spPr>
        <p:txBody>
          <a:bodyPr wrap="square" lIns="25400" tIns="25400" rIns="25400" bIns="25400" rtlCol="0" anchor="t">
            <a:normAutofit/>
          </a:bodyPr>
          <a:lstStyle/>
          <a:p>
            <a:pPr marL="0" indent="0" algn="l">
              <a:lnSpc>
                <a:spcPct val="120615"/>
              </a:lnSpc>
              <a:buNone/>
            </a:pPr>
            <a:r>
              <a:rPr lang="en-US" sz="4200" b="1" dirty="0">
                <a:solidFill>
                  <a:srgbClr val="1C3F7F"/>
                </a:solidFill>
                <a:latin typeface="Arial" pitchFamily="34" charset="0"/>
                <a:ea typeface="Arial" pitchFamily="34" charset="-122"/>
                <a:cs typeface="Arial" pitchFamily="34" charset="-120"/>
              </a:rPr>
              <a:t>2</a:t>
            </a:r>
            <a:endParaRPr lang="en-US" sz="4200" dirty="0"/>
          </a:p>
        </p:txBody>
      </p:sp>
      <p:sp>
        <p:nvSpPr>
          <p:cNvPr id="21" name="Shape 19"/>
          <p:cNvSpPr/>
          <p:nvPr/>
        </p:nvSpPr>
        <p:spPr>
          <a:xfrm>
            <a:off x="2190750" y="5554712"/>
            <a:ext cx="7572375" cy="9525"/>
          </a:xfrm>
          <a:prstGeom prst="rect">
            <a:avLst/>
          </a:prstGeom>
          <a:solidFill>
            <a:srgbClr val="E2E6EE"/>
          </a:solidFill>
          <a:ln/>
        </p:spPr>
        <p:txBody>
          <a:bodyPr/>
          <a:lstStyle/>
          <a:p>
            <a:endParaRPr lang="es-ES_tradnl"/>
          </a:p>
        </p:txBody>
      </p:sp>
      <p:sp>
        <p:nvSpPr>
          <p:cNvPr id="22" name="Text 20"/>
          <p:cNvSpPr/>
          <p:nvPr/>
        </p:nvSpPr>
        <p:spPr>
          <a:xfrm>
            <a:off x="2190750" y="4484191"/>
            <a:ext cx="7418546" cy="784771"/>
          </a:xfrm>
          <a:prstGeom prst="rect">
            <a:avLst/>
          </a:prstGeom>
          <a:noFill/>
          <a:ln/>
        </p:spPr>
        <p:txBody>
          <a:bodyPr wrap="square" lIns="25400" tIns="25400" rIns="25400" bIns="25400" rtlCol="0" anchor="t">
            <a:normAutofit/>
          </a:bodyPr>
          <a:lstStyle/>
          <a:p>
            <a:pPr marL="0" indent="0" algn="l">
              <a:lnSpc>
                <a:spcPct val="123529"/>
              </a:lnSpc>
              <a:buNone/>
            </a:pPr>
            <a:r>
              <a:rPr lang="en-US" sz="2250" b="1" dirty="0">
                <a:solidFill>
                  <a:srgbClr val="1F2937"/>
                </a:solidFill>
                <a:latin typeface="Arial" pitchFamily="34" charset="0"/>
                <a:ea typeface="Arial" pitchFamily="34" charset="-122"/>
                <a:cs typeface="Arial" pitchFamily="34" charset="-120"/>
              </a:rPr>
              <a:t>Scripts y automatización de tareas repetitivas</a:t>
            </a:r>
            <a:endParaRPr lang="en-US" sz="2250" dirty="0"/>
          </a:p>
        </p:txBody>
      </p:sp>
      <p:sp>
        <p:nvSpPr>
          <p:cNvPr id="23" name="Shape 21"/>
          <p:cNvSpPr/>
          <p:nvPr/>
        </p:nvSpPr>
        <p:spPr>
          <a:xfrm>
            <a:off x="9763125" y="5554712"/>
            <a:ext cx="7572375" cy="9525"/>
          </a:xfrm>
          <a:prstGeom prst="rect">
            <a:avLst/>
          </a:prstGeom>
          <a:solidFill>
            <a:srgbClr val="E2E6EE"/>
          </a:solidFill>
          <a:ln/>
        </p:spPr>
        <p:txBody>
          <a:bodyPr/>
          <a:lstStyle/>
          <a:p>
            <a:endParaRPr lang="es-ES_tradnl"/>
          </a:p>
        </p:txBody>
      </p:sp>
      <p:sp>
        <p:nvSpPr>
          <p:cNvPr id="24" name="Text 22"/>
          <p:cNvSpPr/>
          <p:nvPr/>
        </p:nvSpPr>
        <p:spPr>
          <a:xfrm>
            <a:off x="9763125" y="4484191"/>
            <a:ext cx="7799546" cy="784771"/>
          </a:xfrm>
          <a:prstGeom prst="rect">
            <a:avLst/>
          </a:prstGeom>
          <a:noFill/>
          <a:ln/>
        </p:spPr>
        <p:txBody>
          <a:bodyPr wrap="square" lIns="25400" tIns="25400" rIns="25400" bIns="25400" rtlCol="0" anchor="t">
            <a:normAutofit/>
          </a:bodyPr>
          <a:lstStyle/>
          <a:p>
            <a:pPr marL="0" indent="0" algn="l">
              <a:lnSpc>
                <a:spcPct val="123529"/>
              </a:lnSpc>
              <a:buNone/>
            </a:pPr>
            <a:r>
              <a:rPr lang="en-US" sz="2250" dirty="0">
                <a:solidFill>
                  <a:srgbClr val="374151"/>
                </a:solidFill>
                <a:latin typeface="Arial" pitchFamily="34" charset="0"/>
                <a:ea typeface="Arial" pitchFamily="34" charset="-122"/>
                <a:cs typeface="Arial" pitchFamily="34" charset="-120"/>
              </a:rPr>
              <a:t>un proceso que corre solo y deja traza</a:t>
            </a:r>
            <a:endParaRPr lang="en-US" sz="2250" dirty="0"/>
          </a:p>
        </p:txBody>
      </p:sp>
      <p:sp>
        <p:nvSpPr>
          <p:cNvPr id="25" name="Shape 23"/>
          <p:cNvSpPr/>
          <p:nvPr/>
        </p:nvSpPr>
        <p:spPr>
          <a:xfrm>
            <a:off x="952500" y="6958608"/>
            <a:ext cx="1238250" cy="9525"/>
          </a:xfrm>
          <a:prstGeom prst="rect">
            <a:avLst/>
          </a:prstGeom>
          <a:solidFill>
            <a:srgbClr val="E2E6EE"/>
          </a:solidFill>
          <a:ln/>
        </p:spPr>
        <p:txBody>
          <a:bodyPr/>
          <a:lstStyle/>
          <a:p>
            <a:endParaRPr lang="es-ES_tradnl"/>
          </a:p>
        </p:txBody>
      </p:sp>
      <p:sp>
        <p:nvSpPr>
          <p:cNvPr id="26" name="Text 24"/>
          <p:cNvSpPr/>
          <p:nvPr/>
        </p:nvSpPr>
        <p:spPr>
          <a:xfrm>
            <a:off x="952500" y="5888087"/>
            <a:ext cx="1314450" cy="784771"/>
          </a:xfrm>
          <a:prstGeom prst="rect">
            <a:avLst/>
          </a:prstGeom>
          <a:noFill/>
          <a:ln/>
        </p:spPr>
        <p:txBody>
          <a:bodyPr wrap="square" lIns="25400" tIns="25400" rIns="25400" bIns="25400" rtlCol="0" anchor="t">
            <a:normAutofit/>
          </a:bodyPr>
          <a:lstStyle/>
          <a:p>
            <a:pPr marL="0" indent="0" algn="l">
              <a:lnSpc>
                <a:spcPct val="120615"/>
              </a:lnSpc>
              <a:buNone/>
            </a:pPr>
            <a:r>
              <a:rPr lang="en-US" sz="4200" b="1" dirty="0">
                <a:solidFill>
                  <a:srgbClr val="1C3F7F"/>
                </a:solidFill>
                <a:latin typeface="Arial" pitchFamily="34" charset="0"/>
                <a:ea typeface="Arial" pitchFamily="34" charset="-122"/>
                <a:cs typeface="Arial" pitchFamily="34" charset="-120"/>
              </a:rPr>
              <a:t>3</a:t>
            </a:r>
            <a:endParaRPr lang="en-US" sz="4200" dirty="0"/>
          </a:p>
        </p:txBody>
      </p:sp>
      <p:sp>
        <p:nvSpPr>
          <p:cNvPr id="27" name="Shape 25"/>
          <p:cNvSpPr/>
          <p:nvPr/>
        </p:nvSpPr>
        <p:spPr>
          <a:xfrm>
            <a:off x="2190750" y="6958608"/>
            <a:ext cx="7572375" cy="9525"/>
          </a:xfrm>
          <a:prstGeom prst="rect">
            <a:avLst/>
          </a:prstGeom>
          <a:solidFill>
            <a:srgbClr val="E2E6EE"/>
          </a:solidFill>
          <a:ln/>
        </p:spPr>
        <p:txBody>
          <a:bodyPr/>
          <a:lstStyle/>
          <a:p>
            <a:endParaRPr lang="es-ES_tradnl"/>
          </a:p>
        </p:txBody>
      </p:sp>
      <p:sp>
        <p:nvSpPr>
          <p:cNvPr id="28" name="Text 26"/>
          <p:cNvSpPr/>
          <p:nvPr/>
        </p:nvSpPr>
        <p:spPr>
          <a:xfrm>
            <a:off x="2190750" y="5888087"/>
            <a:ext cx="7418546" cy="784771"/>
          </a:xfrm>
          <a:prstGeom prst="rect">
            <a:avLst/>
          </a:prstGeom>
          <a:noFill/>
          <a:ln/>
        </p:spPr>
        <p:txBody>
          <a:bodyPr wrap="square" lIns="25400" tIns="25400" rIns="25400" bIns="25400" rtlCol="0" anchor="t">
            <a:normAutofit/>
          </a:bodyPr>
          <a:lstStyle/>
          <a:p>
            <a:pPr marL="0" indent="0" algn="l">
              <a:lnSpc>
                <a:spcPct val="123529"/>
              </a:lnSpc>
              <a:buNone/>
            </a:pPr>
            <a:r>
              <a:rPr lang="en-US" sz="2250" b="1" dirty="0">
                <a:solidFill>
                  <a:srgbClr val="1F2937"/>
                </a:solidFill>
                <a:latin typeface="Arial" pitchFamily="34" charset="0"/>
                <a:ea typeface="Arial" pitchFamily="34" charset="-122"/>
                <a:cs typeface="Arial" pitchFamily="34" charset="-120"/>
              </a:rPr>
              <a:t>Productos de IA</a:t>
            </a:r>
            <a:endParaRPr lang="en-US" sz="2250" dirty="0"/>
          </a:p>
        </p:txBody>
      </p:sp>
      <p:sp>
        <p:nvSpPr>
          <p:cNvPr id="29" name="Shape 27"/>
          <p:cNvSpPr/>
          <p:nvPr/>
        </p:nvSpPr>
        <p:spPr>
          <a:xfrm>
            <a:off x="9763125" y="6958608"/>
            <a:ext cx="7572375" cy="9525"/>
          </a:xfrm>
          <a:prstGeom prst="rect">
            <a:avLst/>
          </a:prstGeom>
          <a:solidFill>
            <a:srgbClr val="E2E6EE"/>
          </a:solidFill>
          <a:ln/>
        </p:spPr>
        <p:txBody>
          <a:bodyPr/>
          <a:lstStyle/>
          <a:p>
            <a:endParaRPr lang="es-ES_tradnl"/>
          </a:p>
        </p:txBody>
      </p:sp>
      <p:sp>
        <p:nvSpPr>
          <p:cNvPr id="30" name="Text 28"/>
          <p:cNvSpPr/>
          <p:nvPr/>
        </p:nvSpPr>
        <p:spPr>
          <a:xfrm>
            <a:off x="9763125" y="5888087"/>
            <a:ext cx="7799546" cy="784771"/>
          </a:xfrm>
          <a:prstGeom prst="rect">
            <a:avLst/>
          </a:prstGeom>
          <a:noFill/>
          <a:ln/>
        </p:spPr>
        <p:txBody>
          <a:bodyPr wrap="square" lIns="25400" tIns="25400" rIns="25400" bIns="25400" rtlCol="0" anchor="t">
            <a:normAutofit/>
          </a:bodyPr>
          <a:lstStyle/>
          <a:p>
            <a:pPr marL="0" indent="0" algn="l">
              <a:lnSpc>
                <a:spcPct val="123529"/>
              </a:lnSpc>
              <a:buNone/>
            </a:pPr>
            <a:r>
              <a:rPr lang="en-US" sz="2250" dirty="0">
                <a:solidFill>
                  <a:srgbClr val="374151"/>
                </a:solidFill>
                <a:latin typeface="Arial" pitchFamily="34" charset="0"/>
                <a:ea typeface="Arial" pitchFamily="34" charset="-122"/>
                <a:cs typeface="Arial" pitchFamily="34" charset="-120"/>
              </a:rPr>
              <a:t>agentes, análisis documental multimodal, LLMs en el flujo</a:t>
            </a:r>
            <a:endParaRPr lang="en-US" sz="2250" dirty="0"/>
          </a:p>
        </p:txBody>
      </p:sp>
      <p:sp>
        <p:nvSpPr>
          <p:cNvPr id="31" name="Text 29"/>
          <p:cNvSpPr/>
          <p:nvPr/>
        </p:nvSpPr>
        <p:spPr>
          <a:xfrm>
            <a:off x="952500" y="9248775"/>
            <a:ext cx="18021300" cy="371475"/>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C3F7F"/>
                </a:solidFill>
                <a:latin typeface="Arial" pitchFamily="34" charset="0"/>
                <a:ea typeface="Arial" pitchFamily="34" charset="-122"/>
                <a:cs typeface="Arial" pitchFamily="34" charset="-120"/>
              </a:rPr>
              <a:t>Evita el RPA clásico: </a:t>
            </a:r>
            <a:r>
              <a:rPr lang="en-US" sz="2250" dirty="0">
                <a:solidFill>
                  <a:srgbClr val="374151"/>
                </a:solidFill>
                <a:latin typeface="Arial" pitchFamily="34" charset="0"/>
                <a:ea typeface="Arial" pitchFamily="34" charset="-122"/>
                <a:cs typeface="Arial" pitchFamily="34" charset="-120"/>
              </a:rPr>
              <a:t>envejece mal, es frágil y difícil de versionar. Prefiere </a:t>
            </a:r>
            <a:r>
              <a:rPr lang="en-US" sz="2250" b="1" dirty="0">
                <a:solidFill>
                  <a:srgbClr val="1C3F7F"/>
                </a:solidFill>
                <a:latin typeface="Arial" pitchFamily="34" charset="0"/>
                <a:ea typeface="Arial" pitchFamily="34" charset="-122"/>
                <a:cs typeface="Arial" pitchFamily="34" charset="-120"/>
              </a:rPr>
              <a:t>código versionable</a:t>
            </a:r>
            <a:r>
              <a:rPr lang="en-US" sz="2250" dirty="0">
                <a:solidFill>
                  <a:srgbClr val="374151"/>
                </a:solidFill>
                <a:latin typeface="Arial" pitchFamily="34" charset="0"/>
                <a:ea typeface="Arial" pitchFamily="34" charset="-122"/>
                <a:cs typeface="Arial" pitchFamily="34" charset="-120"/>
              </a:rPr>
              <a:t>.</a:t>
            </a:r>
            <a:endParaRPr lang="en-US" sz="2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Automatizar tareas, no cargos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La matriz de priorización</a:t>
            </a:r>
            <a:endParaRPr lang="en-US" sz="4200" dirty="0"/>
          </a:p>
        </p:txBody>
      </p:sp>
      <p:pic>
        <p:nvPicPr>
          <p:cNvPr id="7" name="Image 0" descr="preencoded.png"/>
          <p:cNvPicPr>
            <a:picLocks noChangeAspect="1"/>
          </p:cNvPicPr>
          <p:nvPr/>
        </p:nvPicPr>
        <p:blipFill>
          <a:blip r:embed="rId3"/>
          <a:stretch>
            <a:fillRect/>
          </a:stretch>
        </p:blipFill>
        <p:spPr>
          <a:xfrm>
            <a:off x="952500" y="2908399"/>
            <a:ext cx="10382250" cy="5860852"/>
          </a:xfrm>
          <a:prstGeom prst="rect">
            <a:avLst/>
          </a:prstGeom>
        </p:spPr>
      </p:pic>
      <p:sp>
        <p:nvSpPr>
          <p:cNvPr id="8" name="Text 5"/>
          <p:cNvSpPr/>
          <p:nvPr/>
        </p:nvSpPr>
        <p:spPr>
          <a:xfrm>
            <a:off x="12001500" y="3838575"/>
            <a:ext cx="5867400" cy="36195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C3F7F"/>
                </a:solidFill>
                <a:latin typeface="Arial" pitchFamily="34" charset="0"/>
                <a:ea typeface="Arial" pitchFamily="34" charset="-122"/>
                <a:cs typeface="Arial" pitchFamily="34" charset="-120"/>
              </a:rPr>
              <a:t>Rúbrica de complejidad — seis preguntas</a:t>
            </a:r>
            <a:endParaRPr lang="en-US" sz="2175" dirty="0"/>
          </a:p>
        </p:txBody>
      </p:sp>
      <p:sp>
        <p:nvSpPr>
          <p:cNvPr id="9" name="Text 6"/>
          <p:cNvSpPr/>
          <p:nvPr/>
        </p:nvSpPr>
        <p:spPr>
          <a:xfrm>
            <a:off x="11987213" y="4410075"/>
            <a:ext cx="5424487" cy="3467100"/>
          </a:xfrm>
          <a:prstGeom prst="rect">
            <a:avLst/>
          </a:prstGeom>
          <a:noFill/>
          <a:ln/>
        </p:spPr>
        <p:txBody>
          <a:bodyPr wrap="square" lIns="25400" tIns="25400" rIns="25400" bIns="25400" rtlCol="0" anchor="t">
            <a:normAutofit lnSpcReduction="10000"/>
          </a:bodyPr>
          <a:lstStyle/>
          <a:p>
            <a:pPr marL="357188" indent="-357188" algn="l">
              <a:lnSpc>
                <a:spcPct val="120690"/>
              </a:lnSpc>
              <a:buSzPct val="100000"/>
              <a:buFont typeface="+mj-lt"/>
              <a:buAutoNum type="arabicPeriod"/>
              <a:tabLst>
                <a:tab pos="357188" algn="l"/>
              </a:tabLst>
            </a:pPr>
            <a:r>
              <a:rPr lang="en-US" sz="1875" dirty="0">
                <a:solidFill>
                  <a:srgbClr val="374151"/>
                </a:solidFill>
                <a:latin typeface="Arial" pitchFamily="34" charset="0"/>
                <a:ea typeface="Arial" pitchFamily="34" charset="-122"/>
                <a:cs typeface="Arial" pitchFamily="34" charset="-120"/>
              </a:rPr>
              <a:t>¿Requiere integración con sistemas externos?</a:t>
            </a:r>
            <a:endParaRPr lang="en-US" sz="1875" dirty="0"/>
          </a:p>
          <a:p>
            <a:pPr marL="357188" indent="-357188" algn="l">
              <a:lnSpc>
                <a:spcPct val="120690"/>
              </a:lnSpc>
              <a:buSzPct val="100000"/>
              <a:buFont typeface="+mj-lt"/>
              <a:buAutoNum type="arabicPeriod" startAt="2"/>
              <a:tabLst>
                <a:tab pos="357188" algn="l"/>
              </a:tabLst>
            </a:pPr>
            <a:r>
              <a:rPr lang="en-US" sz="1875" dirty="0">
                <a:solidFill>
                  <a:srgbClr val="374151"/>
                </a:solidFill>
                <a:latin typeface="Arial" pitchFamily="34" charset="0"/>
                <a:ea typeface="Arial" pitchFamily="34" charset="-122"/>
                <a:cs typeface="Arial" pitchFamily="34" charset="-120"/>
              </a:rPr>
              <a:t>¿La lógica es ambigua o tiene muchos casos borde?</a:t>
            </a:r>
            <a:endParaRPr lang="en-US" sz="1875" dirty="0"/>
          </a:p>
          <a:p>
            <a:pPr marL="357188" indent="-357188" algn="l">
              <a:lnSpc>
                <a:spcPct val="120690"/>
              </a:lnSpc>
              <a:buSzPct val="100000"/>
              <a:buFont typeface="+mj-lt"/>
              <a:buAutoNum type="arabicPeriod" startAt="3"/>
              <a:tabLst>
                <a:tab pos="357188" algn="l"/>
              </a:tabLst>
            </a:pPr>
            <a:r>
              <a:rPr lang="en-US" sz="1875" dirty="0">
                <a:solidFill>
                  <a:srgbClr val="374151"/>
                </a:solidFill>
                <a:latin typeface="Arial" pitchFamily="34" charset="0"/>
                <a:ea typeface="Arial" pitchFamily="34" charset="-122"/>
                <a:cs typeface="Arial" pitchFamily="34" charset="-120"/>
              </a:rPr>
              <a:t>¿Cuántas personas y áreas involucra el proceso?</a:t>
            </a:r>
            <a:endParaRPr lang="en-US" sz="1875" dirty="0"/>
          </a:p>
          <a:p>
            <a:pPr marL="357188" indent="-357188" algn="l">
              <a:lnSpc>
                <a:spcPct val="120690"/>
              </a:lnSpc>
              <a:buSzPct val="100000"/>
              <a:buFont typeface="+mj-lt"/>
              <a:buAutoNum type="arabicPeriod" startAt="4"/>
              <a:tabLst>
                <a:tab pos="357188" algn="l"/>
              </a:tabLst>
            </a:pPr>
            <a:r>
              <a:rPr lang="en-US" sz="1875" dirty="0">
                <a:solidFill>
                  <a:srgbClr val="374151"/>
                </a:solidFill>
                <a:latin typeface="Arial" pitchFamily="34" charset="0"/>
                <a:ea typeface="Arial" pitchFamily="34" charset="-122"/>
                <a:cs typeface="Arial" pitchFamily="34" charset="-120"/>
              </a:rPr>
              <a:t>¿Qué tan crítico es el resultado si falla?</a:t>
            </a:r>
            <a:endParaRPr lang="en-US" sz="1875" dirty="0"/>
          </a:p>
          <a:p>
            <a:pPr marL="357188" indent="-357188" algn="l">
              <a:lnSpc>
                <a:spcPct val="120690"/>
              </a:lnSpc>
              <a:buSzPct val="100000"/>
              <a:buFont typeface="+mj-lt"/>
              <a:buAutoNum type="arabicPeriod" startAt="5"/>
              <a:tabLst>
                <a:tab pos="357188" algn="l"/>
              </a:tabLst>
            </a:pPr>
            <a:r>
              <a:rPr lang="en-US" sz="1875" dirty="0">
                <a:solidFill>
                  <a:srgbClr val="374151"/>
                </a:solidFill>
                <a:latin typeface="Arial" pitchFamily="34" charset="0"/>
                <a:ea typeface="Arial" pitchFamily="34" charset="-122"/>
                <a:cs typeface="Arial" pitchFamily="34" charset="-120"/>
              </a:rPr>
              <a:t>¿El proceso es estable, repetitivo y describible paso a paso?</a:t>
            </a:r>
            <a:endParaRPr lang="en-US" sz="1875" dirty="0"/>
          </a:p>
          <a:p>
            <a:pPr marL="357188" indent="-357188" algn="l">
              <a:lnSpc>
                <a:spcPct val="120690"/>
              </a:lnSpc>
              <a:buSzPct val="100000"/>
              <a:buFont typeface="+mj-lt"/>
              <a:buAutoNum type="arabicPeriod" startAt="6"/>
              <a:tabLst>
                <a:tab pos="357188" algn="l"/>
              </a:tabLst>
            </a:pPr>
            <a:r>
              <a:rPr lang="en-US" sz="1875" dirty="0">
                <a:solidFill>
                  <a:srgbClr val="374151"/>
                </a:solidFill>
                <a:latin typeface="Arial" pitchFamily="34" charset="0"/>
                <a:ea typeface="Arial" pitchFamily="34" charset="-122"/>
                <a:cs typeface="Arial" pitchFamily="34" charset="-120"/>
              </a:rPr>
              <a:t>¿Qué tipo de datos maneja: texto, imagen, audio?</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Automatizar tareas, no cargos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Cómo se mide esto con datos reales</a:t>
            </a:r>
            <a:endParaRPr lang="en-US" sz="4200" dirty="0"/>
          </a:p>
        </p:txBody>
      </p:sp>
      <p:sp>
        <p:nvSpPr>
          <p:cNvPr id="7" name="Text 5"/>
          <p:cNvSpPr/>
          <p:nvPr/>
        </p:nvSpPr>
        <p:spPr>
          <a:xfrm>
            <a:off x="952500" y="2190750"/>
            <a:ext cx="18021300" cy="409575"/>
          </a:xfrm>
          <a:prstGeom prst="rect">
            <a:avLst/>
          </a:prstGeom>
          <a:noFill/>
          <a:ln/>
        </p:spPr>
        <p:txBody>
          <a:bodyPr wrap="square" lIns="25400" tIns="25400" rIns="25400" bIns="25400" rtlCol="0" anchor="t">
            <a:normAutofit lnSpcReduction="10000"/>
          </a:bodyPr>
          <a:lstStyle/>
          <a:p>
            <a:pPr marL="0" indent="0" algn="l">
              <a:buNone/>
            </a:pPr>
            <a:r>
              <a:rPr lang="en-US" sz="2475" b="1" dirty="0">
                <a:solidFill>
                  <a:srgbClr val="1F2937"/>
                </a:solidFill>
                <a:latin typeface="Arial" pitchFamily="34" charset="0"/>
                <a:ea typeface="Arial" pitchFamily="34" charset="-122"/>
                <a:cs typeface="Arial" pitchFamily="34" charset="-120"/>
              </a:rPr>
              <a:t>Exposición observada — </a:t>
            </a:r>
            <a:r>
              <a:rPr lang="en-US" sz="2475" b="1" dirty="0">
                <a:solidFill>
                  <a:srgbClr val="1C3F7F"/>
                </a:solidFill>
                <a:latin typeface="Arial" pitchFamily="34" charset="0"/>
                <a:ea typeface="Arial" pitchFamily="34" charset="-122"/>
                <a:cs typeface="Arial" pitchFamily="34" charset="-120"/>
              </a:rPr>
              <a:t>Anthropic Economic Index</a:t>
            </a:r>
            <a:endParaRPr lang="en-US" sz="2475" dirty="0"/>
          </a:p>
        </p:txBody>
      </p:sp>
      <p:sp>
        <p:nvSpPr>
          <p:cNvPr id="8" name="Text 6"/>
          <p:cNvSpPr/>
          <p:nvPr/>
        </p:nvSpPr>
        <p:spPr>
          <a:xfrm>
            <a:off x="952500" y="2924175"/>
            <a:ext cx="250180" cy="466130"/>
          </a:xfrm>
          <a:prstGeom prst="rect">
            <a:avLst/>
          </a:prstGeom>
          <a:noFill/>
          <a:ln/>
        </p:spPr>
        <p:txBody>
          <a:bodyPr wrap="square" lIns="25400" tIns="25400" rIns="25400" bIns="25400" rtlCol="0" anchor="t">
            <a:normAutofit/>
          </a:bodyPr>
          <a:lstStyle/>
          <a:p>
            <a:pPr marL="0" indent="0" algn="l">
              <a:lnSpc>
                <a:spcPct val="124861"/>
              </a:lnSpc>
              <a:buNone/>
            </a:pPr>
            <a:r>
              <a:rPr lang="en-US" sz="2325" b="1" dirty="0">
                <a:solidFill>
                  <a:srgbClr val="1C3F7F"/>
                </a:solidFill>
                <a:latin typeface="Arial" pitchFamily="34" charset="0"/>
                <a:ea typeface="Arial" pitchFamily="34" charset="-122"/>
                <a:cs typeface="Arial" pitchFamily="34" charset="-120"/>
              </a:rPr>
              <a:t>–</a:t>
            </a:r>
            <a:endParaRPr lang="en-US" sz="2325" dirty="0"/>
          </a:p>
        </p:txBody>
      </p:sp>
      <p:sp>
        <p:nvSpPr>
          <p:cNvPr id="9" name="Text 7"/>
          <p:cNvSpPr/>
          <p:nvPr/>
        </p:nvSpPr>
        <p:spPr>
          <a:xfrm>
            <a:off x="1333500" y="2952750"/>
            <a:ext cx="1111300" cy="390525"/>
          </a:xfrm>
          <a:prstGeom prst="rect">
            <a:avLst/>
          </a:prstGeom>
          <a:noFill/>
          <a:ln/>
        </p:spPr>
        <p:txBody>
          <a:bodyPr wrap="square" lIns="0" tIns="0" rIns="0" bIns="0" rtlCol="0" anchor="t">
            <a:normAutofit lnSpcReduction="100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Cruza la</a:t>
            </a:r>
            <a:endParaRPr lang="en-US" sz="2325" dirty="0"/>
          </a:p>
        </p:txBody>
      </p:sp>
      <p:sp>
        <p:nvSpPr>
          <p:cNvPr id="10" name="Text 8"/>
          <p:cNvSpPr/>
          <p:nvPr/>
        </p:nvSpPr>
        <p:spPr>
          <a:xfrm>
            <a:off x="2433042" y="2952750"/>
            <a:ext cx="2711544" cy="390525"/>
          </a:xfrm>
          <a:prstGeom prst="rect">
            <a:avLst/>
          </a:prstGeom>
          <a:noFill/>
          <a:ln/>
        </p:spPr>
        <p:txBody>
          <a:bodyPr wrap="square" lIns="25400" tIns="25400" rIns="25400" bIns="25400" rtlCol="0" anchor="t">
            <a:normAutofit fontScale="92500" lnSpcReduction="20000"/>
          </a:bodyPr>
          <a:lstStyle/>
          <a:p>
            <a:pPr marL="0" indent="0" algn="l">
              <a:lnSpc>
                <a:spcPct val="124861"/>
              </a:lnSpc>
              <a:buNone/>
            </a:pPr>
            <a:r>
              <a:rPr lang="en-US" sz="2325" b="1" dirty="0">
                <a:solidFill>
                  <a:srgbClr val="374151"/>
                </a:solidFill>
                <a:latin typeface="Arial" pitchFamily="34" charset="0"/>
                <a:ea typeface="Arial" pitchFamily="34" charset="-122"/>
                <a:cs typeface="Arial" pitchFamily="34" charset="-120"/>
              </a:rPr>
              <a:t>capacidad teórica</a:t>
            </a:r>
            <a:endParaRPr lang="en-US" sz="2325" dirty="0"/>
          </a:p>
        </p:txBody>
      </p:sp>
      <p:sp>
        <p:nvSpPr>
          <p:cNvPr id="11" name="Text 9"/>
          <p:cNvSpPr/>
          <p:nvPr/>
        </p:nvSpPr>
        <p:spPr>
          <a:xfrm>
            <a:off x="4962376" y="2952750"/>
            <a:ext cx="9758630" cy="390525"/>
          </a:xfrm>
          <a:prstGeom prst="rect">
            <a:avLst/>
          </a:prstGeom>
          <a:noFill/>
          <a:ln/>
        </p:spPr>
        <p:txBody>
          <a:bodyPr wrap="square" lIns="0" tIns="0" rIns="0" bIns="0" rtlCol="0" anchor="t">
            <a:normAutofit fontScale="925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(el β de Eloundou et al.: tareas que un LLM aceleraría al menos 50 %) con el</a:t>
            </a:r>
            <a:endParaRPr lang="en-US" sz="2325" dirty="0"/>
          </a:p>
        </p:txBody>
      </p:sp>
      <p:sp>
        <p:nvSpPr>
          <p:cNvPr id="12" name="Text 10"/>
          <p:cNvSpPr/>
          <p:nvPr/>
        </p:nvSpPr>
        <p:spPr>
          <a:xfrm>
            <a:off x="14501068" y="2952750"/>
            <a:ext cx="1155799" cy="390525"/>
          </a:xfrm>
          <a:prstGeom prst="rect">
            <a:avLst/>
          </a:prstGeom>
          <a:noFill/>
          <a:ln/>
        </p:spPr>
        <p:txBody>
          <a:bodyPr wrap="square" lIns="25400" tIns="25400" rIns="25400" bIns="25400" rtlCol="0" anchor="t">
            <a:normAutofit fontScale="92500" lnSpcReduction="20000"/>
          </a:bodyPr>
          <a:lstStyle/>
          <a:p>
            <a:pPr marL="0" indent="0" algn="l">
              <a:lnSpc>
                <a:spcPct val="124861"/>
              </a:lnSpc>
              <a:buNone/>
            </a:pPr>
            <a:r>
              <a:rPr lang="en-US" sz="2325" b="1" dirty="0">
                <a:solidFill>
                  <a:srgbClr val="374151"/>
                </a:solidFill>
                <a:latin typeface="Arial" pitchFamily="34" charset="0"/>
                <a:ea typeface="Arial" pitchFamily="34" charset="-122"/>
                <a:cs typeface="Arial" pitchFamily="34" charset="-120"/>
              </a:rPr>
              <a:t>uso real</a:t>
            </a:r>
            <a:endParaRPr lang="en-US" sz="2325" dirty="0"/>
          </a:p>
        </p:txBody>
      </p:sp>
      <p:sp>
        <p:nvSpPr>
          <p:cNvPr id="13" name="Text 11"/>
          <p:cNvSpPr/>
          <p:nvPr/>
        </p:nvSpPr>
        <p:spPr>
          <a:xfrm>
            <a:off x="1333500" y="3380780"/>
            <a:ext cx="1481584" cy="390525"/>
          </a:xfrm>
          <a:prstGeom prst="rect">
            <a:avLst/>
          </a:prstGeom>
          <a:noFill/>
          <a:ln/>
        </p:spPr>
        <p:txBody>
          <a:bodyPr wrap="square" lIns="0" tIns="0" rIns="0" bIns="0" rtlCol="0" anchor="t">
            <a:normAutofit lnSpcReduction="100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observado.</a:t>
            </a:r>
            <a:endParaRPr lang="en-US" sz="2325" dirty="0"/>
          </a:p>
        </p:txBody>
      </p:sp>
      <p:sp>
        <p:nvSpPr>
          <p:cNvPr id="14" name="Text 12"/>
          <p:cNvSpPr/>
          <p:nvPr/>
        </p:nvSpPr>
        <p:spPr>
          <a:xfrm>
            <a:off x="952500" y="4065984"/>
            <a:ext cx="250180" cy="466130"/>
          </a:xfrm>
          <a:prstGeom prst="rect">
            <a:avLst/>
          </a:prstGeom>
          <a:noFill/>
          <a:ln/>
        </p:spPr>
        <p:txBody>
          <a:bodyPr wrap="square" lIns="25400" tIns="25400" rIns="25400" bIns="25400" rtlCol="0" anchor="t">
            <a:normAutofit/>
          </a:bodyPr>
          <a:lstStyle/>
          <a:p>
            <a:pPr marL="0" indent="0" algn="l">
              <a:lnSpc>
                <a:spcPct val="124861"/>
              </a:lnSpc>
              <a:buNone/>
            </a:pPr>
            <a:r>
              <a:rPr lang="en-US" sz="2325" b="1" dirty="0">
                <a:solidFill>
                  <a:srgbClr val="1C3F7F"/>
                </a:solidFill>
                <a:latin typeface="Arial" pitchFamily="34" charset="0"/>
                <a:ea typeface="Arial" pitchFamily="34" charset="-122"/>
                <a:cs typeface="Arial" pitchFamily="34" charset="-120"/>
              </a:rPr>
              <a:t>–</a:t>
            </a:r>
            <a:endParaRPr lang="en-US" sz="2325" dirty="0"/>
          </a:p>
        </p:txBody>
      </p:sp>
      <p:sp>
        <p:nvSpPr>
          <p:cNvPr id="15" name="Text 13"/>
          <p:cNvSpPr/>
          <p:nvPr/>
        </p:nvSpPr>
        <p:spPr>
          <a:xfrm>
            <a:off x="1333500" y="4094559"/>
            <a:ext cx="1410146" cy="390525"/>
          </a:xfrm>
          <a:prstGeom prst="rect">
            <a:avLst/>
          </a:prstGeom>
          <a:noFill/>
          <a:ln/>
        </p:spPr>
        <p:txBody>
          <a:bodyPr wrap="square" lIns="0" tIns="0" rIns="0" bIns="0" rtlCol="0" anchor="t">
            <a:normAutofit fontScale="925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Pondera la</a:t>
            </a:r>
            <a:endParaRPr lang="en-US" sz="2325" dirty="0"/>
          </a:p>
        </p:txBody>
      </p:sp>
      <p:sp>
        <p:nvSpPr>
          <p:cNvPr id="16" name="Text 14"/>
          <p:cNvSpPr/>
          <p:nvPr/>
        </p:nvSpPr>
        <p:spPr>
          <a:xfrm>
            <a:off x="2731889" y="4094559"/>
            <a:ext cx="3702978" cy="390525"/>
          </a:xfrm>
          <a:prstGeom prst="rect">
            <a:avLst/>
          </a:prstGeom>
          <a:noFill/>
          <a:ln/>
        </p:spPr>
        <p:txBody>
          <a:bodyPr wrap="square" lIns="25400" tIns="25400" rIns="25400" bIns="25400" rtlCol="0" anchor="t">
            <a:normAutofit fontScale="92500" lnSpcReduction="20000"/>
          </a:bodyPr>
          <a:lstStyle/>
          <a:p>
            <a:pPr marL="0" indent="0" algn="l">
              <a:lnSpc>
                <a:spcPct val="124861"/>
              </a:lnSpc>
              <a:buNone/>
            </a:pPr>
            <a:r>
              <a:rPr lang="en-US" sz="2325" b="1" dirty="0">
                <a:solidFill>
                  <a:srgbClr val="374151"/>
                </a:solidFill>
                <a:latin typeface="Arial" pitchFamily="34" charset="0"/>
                <a:ea typeface="Arial" pitchFamily="34" charset="-122"/>
                <a:cs typeface="Arial" pitchFamily="34" charset="-120"/>
              </a:rPr>
              <a:t>automatización al 100 %</a:t>
            </a:r>
            <a:endParaRPr lang="en-US" sz="2325" dirty="0"/>
          </a:p>
        </p:txBody>
      </p:sp>
      <p:sp>
        <p:nvSpPr>
          <p:cNvPr id="17" name="Text 15"/>
          <p:cNvSpPr/>
          <p:nvPr/>
        </p:nvSpPr>
        <p:spPr>
          <a:xfrm>
            <a:off x="6162526" y="4094559"/>
            <a:ext cx="504230" cy="390525"/>
          </a:xfrm>
          <a:prstGeom prst="rect">
            <a:avLst/>
          </a:prstGeom>
          <a:noFill/>
          <a:ln/>
        </p:spPr>
        <p:txBody>
          <a:bodyPr wrap="square" lIns="0" tIns="0" rIns="0" bIns="0" rtlCol="0" anchor="t">
            <a:normAutofit lnSpcReduction="100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y la</a:t>
            </a:r>
            <a:endParaRPr lang="en-US" sz="2325" dirty="0"/>
          </a:p>
        </p:txBody>
      </p:sp>
      <p:sp>
        <p:nvSpPr>
          <p:cNvPr id="18" name="Text 16"/>
          <p:cNvSpPr/>
          <p:nvPr/>
        </p:nvSpPr>
        <p:spPr>
          <a:xfrm>
            <a:off x="6654998" y="4094559"/>
            <a:ext cx="3166988" cy="390525"/>
          </a:xfrm>
          <a:prstGeom prst="rect">
            <a:avLst/>
          </a:prstGeom>
          <a:noFill/>
          <a:ln/>
        </p:spPr>
        <p:txBody>
          <a:bodyPr wrap="square" lIns="25400" tIns="25400" rIns="25400" bIns="25400" rtlCol="0" anchor="t">
            <a:normAutofit fontScale="92500" lnSpcReduction="20000"/>
          </a:bodyPr>
          <a:lstStyle/>
          <a:p>
            <a:pPr marL="0" indent="0" algn="l">
              <a:lnSpc>
                <a:spcPct val="124861"/>
              </a:lnSpc>
              <a:buNone/>
            </a:pPr>
            <a:r>
              <a:rPr lang="en-US" sz="2325" b="1" dirty="0">
                <a:solidFill>
                  <a:srgbClr val="374151"/>
                </a:solidFill>
                <a:latin typeface="Arial" pitchFamily="34" charset="0"/>
                <a:ea typeface="Arial" pitchFamily="34" charset="-122"/>
                <a:cs typeface="Arial" pitchFamily="34" charset="-120"/>
              </a:rPr>
              <a:t>aumentación al 50 %</a:t>
            </a:r>
            <a:endParaRPr lang="en-US" sz="2325" dirty="0"/>
          </a:p>
        </p:txBody>
      </p:sp>
      <p:sp>
        <p:nvSpPr>
          <p:cNvPr id="19" name="Text 17"/>
          <p:cNvSpPr/>
          <p:nvPr/>
        </p:nvSpPr>
        <p:spPr>
          <a:xfrm>
            <a:off x="9534079" y="4094559"/>
            <a:ext cx="143470" cy="390525"/>
          </a:xfrm>
          <a:prstGeom prst="rect">
            <a:avLst/>
          </a:prstGeom>
          <a:noFill/>
          <a:ln/>
        </p:spPr>
        <p:txBody>
          <a:bodyPr wrap="square" lIns="0" tIns="0" rIns="0" bIns="0" rtlCol="0" anchor="t">
            <a:normAutofit lnSpcReduction="100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a:t>
            </a:r>
            <a:endParaRPr lang="en-US" sz="2325" dirty="0"/>
          </a:p>
        </p:txBody>
      </p:sp>
      <p:sp>
        <p:nvSpPr>
          <p:cNvPr id="20" name="Text 18"/>
          <p:cNvSpPr/>
          <p:nvPr/>
        </p:nvSpPr>
        <p:spPr>
          <a:xfrm>
            <a:off x="952500" y="4779764"/>
            <a:ext cx="250180" cy="466130"/>
          </a:xfrm>
          <a:prstGeom prst="rect">
            <a:avLst/>
          </a:prstGeom>
          <a:noFill/>
          <a:ln/>
        </p:spPr>
        <p:txBody>
          <a:bodyPr wrap="square" lIns="25400" tIns="25400" rIns="25400" bIns="25400" rtlCol="0" anchor="t">
            <a:normAutofit/>
          </a:bodyPr>
          <a:lstStyle/>
          <a:p>
            <a:pPr marL="0" indent="0" algn="l">
              <a:lnSpc>
                <a:spcPct val="124861"/>
              </a:lnSpc>
              <a:buNone/>
            </a:pPr>
            <a:r>
              <a:rPr lang="en-US" sz="2325" b="1" dirty="0">
                <a:solidFill>
                  <a:srgbClr val="1C3F7F"/>
                </a:solidFill>
                <a:latin typeface="Arial" pitchFamily="34" charset="0"/>
                <a:ea typeface="Arial" pitchFamily="34" charset="-122"/>
                <a:cs typeface="Arial" pitchFamily="34" charset="-120"/>
              </a:rPr>
              <a:t>–</a:t>
            </a:r>
            <a:endParaRPr lang="en-US" sz="2325" dirty="0"/>
          </a:p>
        </p:txBody>
      </p:sp>
      <p:sp>
        <p:nvSpPr>
          <p:cNvPr id="21" name="Text 19"/>
          <p:cNvSpPr/>
          <p:nvPr/>
        </p:nvSpPr>
        <p:spPr>
          <a:xfrm>
            <a:off x="1333500" y="4808339"/>
            <a:ext cx="1764655" cy="390525"/>
          </a:xfrm>
          <a:prstGeom prst="rect">
            <a:avLst/>
          </a:prstGeom>
          <a:noFill/>
          <a:ln/>
        </p:spPr>
        <p:txBody>
          <a:bodyPr wrap="square" lIns="0" tIns="0" rIns="0" bIns="0" rtlCol="0" anchor="t">
            <a:normAutofit fontScale="925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Promedia por</a:t>
            </a:r>
            <a:endParaRPr lang="en-US" sz="2325" dirty="0"/>
          </a:p>
        </p:txBody>
      </p:sp>
      <p:sp>
        <p:nvSpPr>
          <p:cNvPr id="22" name="Text 20"/>
          <p:cNvSpPr/>
          <p:nvPr/>
        </p:nvSpPr>
        <p:spPr>
          <a:xfrm>
            <a:off x="3086249" y="4808339"/>
            <a:ext cx="2540139" cy="390525"/>
          </a:xfrm>
          <a:prstGeom prst="rect">
            <a:avLst/>
          </a:prstGeom>
          <a:noFill/>
          <a:ln/>
        </p:spPr>
        <p:txBody>
          <a:bodyPr wrap="square" lIns="25400" tIns="25400" rIns="25400" bIns="25400" rtlCol="0" anchor="t">
            <a:normAutofit fontScale="92500" lnSpcReduction="20000"/>
          </a:bodyPr>
          <a:lstStyle/>
          <a:p>
            <a:pPr marL="0" indent="0" algn="l">
              <a:lnSpc>
                <a:spcPct val="124861"/>
              </a:lnSpc>
              <a:buNone/>
            </a:pPr>
            <a:r>
              <a:rPr lang="en-US" sz="2325" b="1" dirty="0">
                <a:solidFill>
                  <a:srgbClr val="374151"/>
                </a:solidFill>
                <a:latin typeface="Arial" pitchFamily="34" charset="0"/>
                <a:ea typeface="Arial" pitchFamily="34" charset="-122"/>
                <a:cs typeface="Arial" pitchFamily="34" charset="-120"/>
              </a:rPr>
              <a:t>tiempo dedicado</a:t>
            </a:r>
            <a:endParaRPr lang="en-US" sz="2325" dirty="0"/>
          </a:p>
        </p:txBody>
      </p:sp>
      <p:sp>
        <p:nvSpPr>
          <p:cNvPr id="23" name="Text 21"/>
          <p:cNvSpPr/>
          <p:nvPr/>
        </p:nvSpPr>
        <p:spPr>
          <a:xfrm>
            <a:off x="5459760" y="4808339"/>
            <a:ext cx="5116000" cy="390525"/>
          </a:xfrm>
          <a:prstGeom prst="rect">
            <a:avLst/>
          </a:prstGeom>
          <a:noFill/>
          <a:ln/>
        </p:spPr>
        <p:txBody>
          <a:bodyPr wrap="square" lIns="0" tIns="0" rIns="0" bIns="0" rtlCol="0" anchor="t">
            <a:normAutofit fontScale="925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a cada tarea, ajustando por prevalencia.</a:t>
            </a:r>
            <a:endParaRPr lang="en-US" sz="2325" dirty="0"/>
          </a:p>
        </p:txBody>
      </p:sp>
      <p:sp>
        <p:nvSpPr>
          <p:cNvPr id="24" name="Text 22"/>
          <p:cNvSpPr/>
          <p:nvPr/>
        </p:nvSpPr>
        <p:spPr>
          <a:xfrm>
            <a:off x="952500" y="5493544"/>
            <a:ext cx="250180" cy="466130"/>
          </a:xfrm>
          <a:prstGeom prst="rect">
            <a:avLst/>
          </a:prstGeom>
          <a:noFill/>
          <a:ln/>
        </p:spPr>
        <p:txBody>
          <a:bodyPr wrap="square" lIns="25400" tIns="25400" rIns="25400" bIns="25400" rtlCol="0" anchor="t">
            <a:normAutofit/>
          </a:bodyPr>
          <a:lstStyle/>
          <a:p>
            <a:pPr marL="0" indent="0" algn="l">
              <a:lnSpc>
                <a:spcPct val="124861"/>
              </a:lnSpc>
              <a:buNone/>
            </a:pPr>
            <a:r>
              <a:rPr lang="en-US" sz="2325" b="1" dirty="0">
                <a:solidFill>
                  <a:srgbClr val="1C3F7F"/>
                </a:solidFill>
                <a:latin typeface="Arial" pitchFamily="34" charset="0"/>
                <a:ea typeface="Arial" pitchFamily="34" charset="-122"/>
                <a:cs typeface="Arial" pitchFamily="34" charset="-120"/>
              </a:rPr>
              <a:t>–</a:t>
            </a:r>
            <a:endParaRPr lang="en-US" sz="2325" dirty="0"/>
          </a:p>
        </p:txBody>
      </p:sp>
      <p:sp>
        <p:nvSpPr>
          <p:cNvPr id="25" name="Text 23"/>
          <p:cNvSpPr/>
          <p:nvPr/>
        </p:nvSpPr>
        <p:spPr>
          <a:xfrm>
            <a:off x="1333500" y="5522119"/>
            <a:ext cx="2489895" cy="390525"/>
          </a:xfrm>
          <a:prstGeom prst="rect">
            <a:avLst/>
          </a:prstGeom>
          <a:noFill/>
          <a:ln/>
        </p:spPr>
        <p:txBody>
          <a:bodyPr wrap="square" lIns="0" tIns="0" rIns="0" bIns="0" rtlCol="0" anchor="t">
            <a:normAutofit fontScale="925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Sobre la taxonomía</a:t>
            </a:r>
            <a:endParaRPr lang="en-US" sz="2325" dirty="0"/>
          </a:p>
        </p:txBody>
      </p:sp>
      <p:sp>
        <p:nvSpPr>
          <p:cNvPr id="26" name="Text 24"/>
          <p:cNvSpPr/>
          <p:nvPr/>
        </p:nvSpPr>
        <p:spPr>
          <a:xfrm>
            <a:off x="3811637" y="5522119"/>
            <a:ext cx="1008013" cy="390525"/>
          </a:xfrm>
          <a:prstGeom prst="rect">
            <a:avLst/>
          </a:prstGeom>
          <a:noFill/>
          <a:ln/>
        </p:spPr>
        <p:txBody>
          <a:bodyPr wrap="square" lIns="25400" tIns="25400" rIns="25400" bIns="25400" rtlCol="0" anchor="t">
            <a:normAutofit fontScale="92500" lnSpcReduction="20000"/>
          </a:bodyPr>
          <a:lstStyle/>
          <a:p>
            <a:pPr marL="0" indent="0" algn="l">
              <a:lnSpc>
                <a:spcPct val="124861"/>
              </a:lnSpc>
              <a:buNone/>
            </a:pPr>
            <a:r>
              <a:rPr lang="en-US" sz="2325" b="1" dirty="0">
                <a:solidFill>
                  <a:srgbClr val="374151"/>
                </a:solidFill>
                <a:latin typeface="Arial" pitchFamily="34" charset="0"/>
                <a:ea typeface="Arial" pitchFamily="34" charset="-122"/>
                <a:cs typeface="Arial" pitchFamily="34" charset="-120"/>
              </a:rPr>
              <a:t>O*NET</a:t>
            </a:r>
            <a:endParaRPr lang="en-US" sz="2325" dirty="0"/>
          </a:p>
        </p:txBody>
      </p:sp>
      <p:sp>
        <p:nvSpPr>
          <p:cNvPr id="27" name="Text 25"/>
          <p:cNvSpPr/>
          <p:nvPr/>
        </p:nvSpPr>
        <p:spPr>
          <a:xfrm>
            <a:off x="4807744" y="5522119"/>
            <a:ext cx="2830401" cy="390525"/>
          </a:xfrm>
          <a:prstGeom prst="rect">
            <a:avLst/>
          </a:prstGeom>
          <a:noFill/>
          <a:ln/>
        </p:spPr>
        <p:txBody>
          <a:bodyPr wrap="square" lIns="0" tIns="0" rIns="0" bIns="0" rtlCol="0" anchor="t">
            <a:normAutofit lnSpcReduction="10000"/>
          </a:bodyPr>
          <a:lstStyle/>
          <a:p>
            <a:pPr marL="0" indent="0" algn="l">
              <a:lnSpc>
                <a:spcPct val="124861"/>
              </a:lnSpc>
              <a:buNone/>
            </a:pPr>
            <a:r>
              <a:rPr lang="en-US" sz="2325" dirty="0">
                <a:solidFill>
                  <a:srgbClr val="374151"/>
                </a:solidFill>
                <a:latin typeface="Arial" pitchFamily="34" charset="0"/>
                <a:ea typeface="Arial" pitchFamily="34" charset="-122"/>
                <a:cs typeface="Arial" pitchFamily="34" charset="-120"/>
              </a:rPr>
              <a:t>(unas 20.000 tareas).</a:t>
            </a:r>
            <a:endParaRPr lang="en-US" sz="2325" dirty="0"/>
          </a:p>
        </p:txBody>
      </p:sp>
      <p:sp>
        <p:nvSpPr>
          <p:cNvPr id="28" name="Shape 26"/>
          <p:cNvSpPr/>
          <p:nvPr/>
        </p:nvSpPr>
        <p:spPr>
          <a:xfrm>
            <a:off x="952500" y="8905875"/>
            <a:ext cx="16383000" cy="28575"/>
          </a:xfrm>
          <a:prstGeom prst="rect">
            <a:avLst/>
          </a:prstGeom>
          <a:solidFill>
            <a:srgbClr val="E2E6EE"/>
          </a:solidFill>
          <a:ln/>
        </p:spPr>
        <p:txBody>
          <a:bodyPr/>
          <a:lstStyle/>
          <a:p>
            <a:endParaRPr lang="es-ES_tradnl"/>
          </a:p>
        </p:txBody>
      </p:sp>
      <p:sp>
        <p:nvSpPr>
          <p:cNvPr id="29" name="Text 27"/>
          <p:cNvSpPr/>
          <p:nvPr/>
        </p:nvSpPr>
        <p:spPr>
          <a:xfrm>
            <a:off x="952500" y="9220200"/>
            <a:ext cx="16874490" cy="40005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C3F7F"/>
                </a:solidFill>
                <a:latin typeface="Arial" pitchFamily="34" charset="0"/>
                <a:ea typeface="Arial" pitchFamily="34" charset="-122"/>
                <a:cs typeface="Arial" pitchFamily="34" charset="-120"/>
              </a:rPr>
              <a:t>Base: 1.348 de 17.992 tareas con penetración observada = 7,49 %.</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Automatizar tareas, no cargos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Dónde está la penetración</a:t>
            </a:r>
            <a:endParaRPr lang="en-US" sz="4200" dirty="0"/>
          </a:p>
        </p:txBody>
      </p:sp>
      <p:pic>
        <p:nvPicPr>
          <p:cNvPr id="7" name="Image 0" descr="preencoded.png"/>
          <p:cNvPicPr>
            <a:picLocks noChangeAspect="1"/>
          </p:cNvPicPr>
          <p:nvPr/>
        </p:nvPicPr>
        <p:blipFill>
          <a:blip r:embed="rId3"/>
          <a:stretch>
            <a:fillRect/>
          </a:stretch>
        </p:blipFill>
        <p:spPr>
          <a:xfrm>
            <a:off x="4653558" y="2000250"/>
            <a:ext cx="8980736" cy="767700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Automatizar tareas, no cargos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El instrumento</a:t>
            </a:r>
            <a:endParaRPr lang="en-US" sz="4200" dirty="0"/>
          </a:p>
        </p:txBody>
      </p:sp>
      <p:sp>
        <p:nvSpPr>
          <p:cNvPr id="7" name="Shape 5"/>
          <p:cNvSpPr/>
          <p:nvPr/>
        </p:nvSpPr>
        <p:spPr>
          <a:xfrm>
            <a:off x="952500" y="3136850"/>
            <a:ext cx="5715000" cy="581025"/>
          </a:xfrm>
          <a:prstGeom prst="roundRect">
            <a:avLst>
              <a:gd name="adj" fmla="val 16393"/>
            </a:avLst>
          </a:prstGeom>
          <a:solidFill>
            <a:srgbClr val="EEF1F7"/>
          </a:solidFill>
          <a:ln/>
        </p:spPr>
        <p:txBody>
          <a:bodyPr/>
          <a:lstStyle/>
          <a:p>
            <a:endParaRPr lang="es-ES_tradnl"/>
          </a:p>
        </p:txBody>
      </p:sp>
      <p:sp>
        <p:nvSpPr>
          <p:cNvPr id="8" name="Text 6"/>
          <p:cNvSpPr/>
          <p:nvPr/>
        </p:nvSpPr>
        <p:spPr>
          <a:xfrm>
            <a:off x="1162050" y="3289250"/>
            <a:ext cx="5467350"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1C3F7F"/>
                </a:solidFill>
                <a:latin typeface="Menlo" pitchFamily="34" charset="0"/>
                <a:ea typeface="Menlo" pitchFamily="34" charset="-122"/>
                <a:cs typeface="Menlo" pitchFamily="34" charset="-120"/>
              </a:rPr>
              <a:t>deck/analisis_automatizacion.html</a:t>
            </a:r>
            <a:endParaRPr lang="en-US" sz="1875" dirty="0"/>
          </a:p>
        </p:txBody>
      </p:sp>
      <p:sp>
        <p:nvSpPr>
          <p:cNvPr id="9" name="Text 7"/>
          <p:cNvSpPr/>
          <p:nvPr/>
        </p:nvSpPr>
        <p:spPr>
          <a:xfrm>
            <a:off x="952500" y="4003625"/>
            <a:ext cx="5886450" cy="839093"/>
          </a:xfrm>
          <a:prstGeom prst="rect">
            <a:avLst/>
          </a:prstGeom>
          <a:noFill/>
          <a:ln/>
        </p:spPr>
        <p:txBody>
          <a:bodyPr wrap="square" lIns="25400" tIns="25400" rIns="25400" bIns="25400" rtlCol="0" anchor="t">
            <a:normAutofit lnSpcReduction="10000"/>
          </a:bodyPr>
          <a:lstStyle/>
          <a:p>
            <a:pPr marL="0" indent="0" algn="l">
              <a:lnSpc>
                <a:spcPct val="127424"/>
              </a:lnSpc>
              <a:buNone/>
            </a:pPr>
            <a:r>
              <a:rPr lang="en-US" sz="2175" b="1" dirty="0">
                <a:solidFill>
                  <a:srgbClr val="374151"/>
                </a:solidFill>
                <a:latin typeface="Arial" pitchFamily="34" charset="0"/>
                <a:ea typeface="Arial" pitchFamily="34" charset="-122"/>
                <a:cs typeface="Arial" pitchFamily="34" charset="-120"/>
              </a:rPr>
              <a:t>17.992 tareas </a:t>
            </a:r>
            <a:r>
              <a:rPr lang="en-US" sz="2175" dirty="0">
                <a:solidFill>
                  <a:srgbClr val="374151"/>
                </a:solidFill>
                <a:latin typeface="Arial" pitchFamily="34" charset="0"/>
                <a:ea typeface="Arial" pitchFamily="34" charset="-122"/>
                <a:cs typeface="Arial" pitchFamily="34" charset="-120"/>
              </a:rPr>
              <a:t>de la taxonomía O*NET puntuadas por penetración observada.</a:t>
            </a:r>
            <a:endParaRPr lang="en-US" sz="2175" dirty="0"/>
          </a:p>
        </p:txBody>
      </p:sp>
      <p:sp>
        <p:nvSpPr>
          <p:cNvPr id="10" name="Text 8"/>
          <p:cNvSpPr/>
          <p:nvPr/>
        </p:nvSpPr>
        <p:spPr>
          <a:xfrm>
            <a:off x="952500" y="5090368"/>
            <a:ext cx="5886450" cy="839093"/>
          </a:xfrm>
          <a:prstGeom prst="rect">
            <a:avLst/>
          </a:prstGeom>
          <a:noFill/>
          <a:ln/>
        </p:spPr>
        <p:txBody>
          <a:bodyPr wrap="square" lIns="25400" tIns="25400" rIns="25400" bIns="25400" rtlCol="0" anchor="t">
            <a:normAutofit lnSpcReduction="10000"/>
          </a:bodyPr>
          <a:lstStyle/>
          <a:p>
            <a:pPr marL="0" indent="0" algn="l">
              <a:lnSpc>
                <a:spcPct val="127424"/>
              </a:lnSpc>
              <a:buNone/>
            </a:pPr>
            <a:r>
              <a:rPr lang="en-US" sz="2175" dirty="0">
                <a:solidFill>
                  <a:srgbClr val="374151"/>
                </a:solidFill>
                <a:latin typeface="Arial" pitchFamily="34" charset="0"/>
                <a:ea typeface="Arial" pitchFamily="34" charset="-122"/>
                <a:cs typeface="Arial" pitchFamily="34" charset="-120"/>
              </a:rPr>
              <a:t>Buscables por palabra o concepto; filtrables por familia semántica.</a:t>
            </a:r>
            <a:endParaRPr lang="en-US" sz="2175" dirty="0"/>
          </a:p>
        </p:txBody>
      </p:sp>
      <p:sp>
        <p:nvSpPr>
          <p:cNvPr id="11" name="Text 9"/>
          <p:cNvSpPr/>
          <p:nvPr/>
        </p:nvSpPr>
        <p:spPr>
          <a:xfrm>
            <a:off x="952500" y="6177111"/>
            <a:ext cx="5886450" cy="839093"/>
          </a:xfrm>
          <a:prstGeom prst="rect">
            <a:avLst/>
          </a:prstGeom>
          <a:noFill/>
          <a:ln/>
        </p:spPr>
        <p:txBody>
          <a:bodyPr wrap="square" lIns="25400" tIns="25400" rIns="25400" bIns="25400" rtlCol="0" anchor="t">
            <a:normAutofit lnSpcReduction="10000"/>
          </a:bodyPr>
          <a:lstStyle/>
          <a:p>
            <a:pPr marL="0" indent="0" algn="l">
              <a:lnSpc>
                <a:spcPct val="127424"/>
              </a:lnSpc>
              <a:buNone/>
            </a:pPr>
            <a:r>
              <a:rPr lang="en-US" sz="2175" dirty="0">
                <a:solidFill>
                  <a:srgbClr val="374151"/>
                </a:solidFill>
                <a:latin typeface="Arial" pitchFamily="34" charset="0"/>
                <a:ea typeface="Arial" pitchFamily="34" charset="-122"/>
                <a:cs typeface="Arial" pitchFamily="34" charset="-120"/>
              </a:rPr>
              <a:t>Navegables como </a:t>
            </a:r>
            <a:r>
              <a:rPr lang="en-US" sz="2175" b="1" dirty="0">
                <a:solidFill>
                  <a:srgbClr val="374151"/>
                </a:solidFill>
                <a:latin typeface="Arial" pitchFamily="34" charset="0"/>
                <a:ea typeface="Arial" pitchFamily="34" charset="-122"/>
                <a:cs typeface="Arial" pitchFamily="34" charset="-120"/>
              </a:rPr>
              <a:t>nube de embeddings t-SNE </a:t>
            </a:r>
            <a:r>
              <a:rPr lang="en-US" sz="2175" dirty="0">
                <a:solidFill>
                  <a:srgbClr val="374151"/>
                </a:solidFill>
                <a:latin typeface="Arial" pitchFamily="34" charset="0"/>
                <a:ea typeface="Arial" pitchFamily="34" charset="-122"/>
                <a:cs typeface="Arial" pitchFamily="34" charset="-120"/>
              </a:rPr>
              <a:t>.</a:t>
            </a:r>
            <a:endParaRPr lang="en-US" sz="2175" dirty="0"/>
          </a:p>
        </p:txBody>
      </p:sp>
      <p:sp>
        <p:nvSpPr>
          <p:cNvPr id="12" name="Text 10"/>
          <p:cNvSpPr/>
          <p:nvPr/>
        </p:nvSpPr>
        <p:spPr>
          <a:xfrm>
            <a:off x="952500" y="7263854"/>
            <a:ext cx="6286500" cy="438596"/>
          </a:xfrm>
          <a:prstGeom prst="rect">
            <a:avLst/>
          </a:prstGeom>
          <a:noFill/>
          <a:ln/>
        </p:spPr>
        <p:txBody>
          <a:bodyPr wrap="square" lIns="25400" tIns="25400" rIns="25400" bIns="25400" rtlCol="0" anchor="t">
            <a:normAutofit/>
          </a:bodyPr>
          <a:lstStyle/>
          <a:p>
            <a:pPr marL="0" indent="0" algn="l">
              <a:lnSpc>
                <a:spcPct val="127424"/>
              </a:lnSpc>
              <a:buNone/>
            </a:pPr>
            <a:r>
              <a:rPr lang="en-US" sz="2175" dirty="0">
                <a:solidFill>
                  <a:srgbClr val="374151"/>
                </a:solidFill>
                <a:latin typeface="Arial" pitchFamily="34" charset="0"/>
                <a:ea typeface="Arial" pitchFamily="34" charset="-122"/>
                <a:cs typeface="Arial" pitchFamily="34" charset="-120"/>
              </a:rPr>
              <a:t>Exportables a CSV. </a:t>
            </a:r>
            <a:r>
              <a:rPr lang="en-US" sz="2175" b="1" dirty="0">
                <a:solidFill>
                  <a:srgbClr val="374151"/>
                </a:solidFill>
                <a:latin typeface="Arial" pitchFamily="34" charset="0"/>
                <a:ea typeface="Arial" pitchFamily="34" charset="-122"/>
                <a:cs typeface="Arial" pitchFamily="34" charset="-120"/>
              </a:rPr>
              <a:t>Funciona sin internet.</a:t>
            </a:r>
            <a:endParaRPr lang="en-US" sz="2175" dirty="0"/>
          </a:p>
        </p:txBody>
      </p:sp>
      <p:sp>
        <p:nvSpPr>
          <p:cNvPr id="13" name="Shape 11"/>
          <p:cNvSpPr/>
          <p:nvPr/>
        </p:nvSpPr>
        <p:spPr>
          <a:xfrm>
            <a:off x="952500" y="7950101"/>
            <a:ext cx="3202484" cy="685800"/>
          </a:xfrm>
          <a:prstGeom prst="roundRect">
            <a:avLst>
              <a:gd name="adj" fmla="val 16667"/>
            </a:avLst>
          </a:prstGeom>
          <a:solidFill>
            <a:srgbClr val="1C3F7F"/>
          </a:solidFill>
          <a:ln/>
        </p:spPr>
        <p:txBody>
          <a:bodyPr/>
          <a:lstStyle/>
          <a:p>
            <a:endParaRPr lang="es-ES_tradnl"/>
          </a:p>
        </p:txBody>
      </p:sp>
      <p:sp>
        <p:nvSpPr>
          <p:cNvPr id="14" name="Text 12">
            <a:hlinkClick r:id="rId3"/>
          </p:cNvPr>
          <p:cNvSpPr/>
          <p:nvPr/>
        </p:nvSpPr>
        <p:spPr>
          <a:xfrm>
            <a:off x="1295400" y="8140601"/>
            <a:ext cx="2612758" cy="342900"/>
          </a:xfrm>
          <a:prstGeom prst="rect">
            <a:avLst/>
          </a:prstGeom>
          <a:noFill/>
          <a:ln/>
        </p:spPr>
        <p:txBody>
          <a:bodyPr wrap="square" lIns="25400" tIns="25400" rIns="25400" bIns="25400" rtlCol="0" anchor="t">
            <a:normAutofit fontScale="92500"/>
          </a:bodyPr>
          <a:lstStyle/>
          <a:p>
            <a:pPr marL="0" indent="0" algn="l">
              <a:buNone/>
            </a:pPr>
            <a:r>
              <a:rPr lang="en-US" sz="2025" b="1" u="sng" dirty="0">
                <a:solidFill>
                  <a:srgbClr val="FFFFFF"/>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Abrir el explorador →</a:t>
            </a:r>
            <a:endParaRPr lang="en-US" sz="2025" dirty="0"/>
          </a:p>
        </p:txBody>
      </p:sp>
      <p:sp>
        <p:nvSpPr>
          <p:cNvPr id="15" name="Shape 13"/>
          <p:cNvSpPr/>
          <p:nvPr/>
        </p:nvSpPr>
        <p:spPr>
          <a:xfrm>
            <a:off x="7334250" y="2761059"/>
            <a:ext cx="10001250" cy="6250781"/>
          </a:xfrm>
          <a:prstGeom prst="roundRect">
            <a:avLst>
              <a:gd name="adj" fmla="val 2133"/>
            </a:avLst>
          </a:prstGeom>
          <a:ln/>
          <a:effectLst>
            <a:outerShdw blurRad="571500" dist="228600" dir="5400000" algn="bl" rotWithShape="0">
              <a:srgbClr val="0E1D38">
                <a:alpha val="35000"/>
              </a:srgbClr>
            </a:outerShdw>
          </a:effectLst>
        </p:spPr>
        <p:txBody>
          <a:bodyPr/>
          <a:lstStyle/>
          <a:p>
            <a:endParaRPr lang="es-ES_tradnl"/>
          </a:p>
        </p:txBody>
      </p:sp>
      <p:pic>
        <p:nvPicPr>
          <p:cNvPr id="16" name="Image 0" descr="preencoded.png"/>
          <p:cNvPicPr>
            <a:picLocks noChangeAspect="1"/>
          </p:cNvPicPr>
          <p:nvPr/>
        </p:nvPicPr>
        <p:blipFill>
          <a:blip r:embed="rId4"/>
          <a:stretch>
            <a:fillRect/>
          </a:stretch>
        </p:blipFill>
        <p:spPr>
          <a:xfrm>
            <a:off x="7334250" y="2761059"/>
            <a:ext cx="10001250" cy="625078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Automatizar tareas, no cargos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Lo que dice del </a:t>
            </a:r>
            <a:r>
              <a:rPr lang="en-US" sz="4200" b="1" kern="0" spc="-37" dirty="0" err="1">
                <a:solidFill>
                  <a:srgbClr val="1C3F7F"/>
                </a:solidFill>
                <a:latin typeface="Arial" pitchFamily="34" charset="0"/>
                <a:ea typeface="Arial" pitchFamily="34" charset="-122"/>
                <a:cs typeface="Arial" pitchFamily="34" charset="-120"/>
              </a:rPr>
              <a:t>empleo</a:t>
            </a:r>
            <a:endParaRPr lang="en-US" sz="4200" dirty="0"/>
          </a:p>
        </p:txBody>
      </p:sp>
      <p:sp>
        <p:nvSpPr>
          <p:cNvPr id="7" name="Text 5"/>
          <p:cNvSpPr/>
          <p:nvPr/>
        </p:nvSpPr>
        <p:spPr>
          <a:xfrm>
            <a:off x="952500" y="2343150"/>
            <a:ext cx="261193" cy="509587"/>
          </a:xfrm>
          <a:prstGeom prst="rect">
            <a:avLst/>
          </a:prstGeom>
          <a:noFill/>
          <a:ln/>
        </p:spPr>
        <p:txBody>
          <a:bodyPr wrap="square" lIns="25400" tIns="25400" rIns="25400" bIns="25400" rtlCol="0" anchor="t">
            <a:normAutofit/>
          </a:bodyPr>
          <a:lstStyle/>
          <a:p>
            <a:pPr marL="0" indent="0" algn="l">
              <a:lnSpc>
                <a:spcPct val="130263"/>
              </a:lnSpc>
              <a:buNone/>
            </a:pPr>
            <a:r>
              <a:rPr lang="en-US" sz="2475" b="1" dirty="0">
                <a:solidFill>
                  <a:srgbClr val="1C3F7F"/>
                </a:solidFill>
                <a:latin typeface="Arial" pitchFamily="34" charset="0"/>
                <a:ea typeface="Arial" pitchFamily="34" charset="-122"/>
                <a:cs typeface="Arial" pitchFamily="34" charset="-120"/>
              </a:rPr>
              <a:t>–</a:t>
            </a:r>
            <a:endParaRPr lang="en-US" sz="2475" dirty="0"/>
          </a:p>
        </p:txBody>
      </p:sp>
      <p:sp>
        <p:nvSpPr>
          <p:cNvPr id="8" name="Text 6"/>
          <p:cNvSpPr/>
          <p:nvPr/>
        </p:nvSpPr>
        <p:spPr>
          <a:xfrm>
            <a:off x="1333500" y="2390775"/>
            <a:ext cx="6384072" cy="409575"/>
          </a:xfrm>
          <a:prstGeom prst="rect">
            <a:avLst/>
          </a:prstGeom>
          <a:noFill/>
          <a:ln/>
        </p:spPr>
        <p:txBody>
          <a:bodyPr wrap="square" lIns="25400" tIns="25400" rIns="25400" bIns="25400" rtlCol="0" anchor="t">
            <a:normAutofit fontScale="85000" lnSpcReduction="10000"/>
          </a:bodyPr>
          <a:lstStyle/>
          <a:p>
            <a:pPr marL="0" indent="0" algn="l">
              <a:lnSpc>
                <a:spcPct val="130263"/>
              </a:lnSpc>
              <a:buNone/>
            </a:pPr>
            <a:r>
              <a:rPr lang="en-US" sz="2475" b="1" dirty="0">
                <a:solidFill>
                  <a:srgbClr val="374151"/>
                </a:solidFill>
                <a:latin typeface="Arial" pitchFamily="34" charset="0"/>
                <a:ea typeface="Arial" pitchFamily="34" charset="-122"/>
                <a:cs typeface="Arial" pitchFamily="34" charset="-120"/>
              </a:rPr>
              <a:t>Sin aumento sistemático del desempleo</a:t>
            </a:r>
            <a:endParaRPr lang="en-US" sz="2475" dirty="0"/>
          </a:p>
        </p:txBody>
      </p:sp>
      <p:sp>
        <p:nvSpPr>
          <p:cNvPr id="9" name="Text 7"/>
          <p:cNvSpPr/>
          <p:nvPr/>
        </p:nvSpPr>
        <p:spPr>
          <a:xfrm>
            <a:off x="6543628" y="2382234"/>
            <a:ext cx="7797400" cy="409575"/>
          </a:xfrm>
          <a:prstGeom prst="rect">
            <a:avLst/>
          </a:prstGeom>
          <a:noFill/>
          <a:ln/>
        </p:spPr>
        <p:txBody>
          <a:bodyPr wrap="square" lIns="0" tIns="0" rIns="0" bIns="0" rtlCol="0" anchor="t">
            <a:normAutofit fontScale="92500" lnSpcReduction="10000"/>
          </a:bodyPr>
          <a:lstStyle/>
          <a:p>
            <a:pPr marL="0" indent="0" algn="l">
              <a:lnSpc>
                <a:spcPct val="130263"/>
              </a:lnSpc>
              <a:buNone/>
            </a:pPr>
            <a:r>
              <a:rPr lang="en-US" sz="2475" dirty="0">
                <a:solidFill>
                  <a:srgbClr val="374151"/>
                </a:solidFill>
                <a:latin typeface="Arial" pitchFamily="34" charset="0"/>
                <a:ea typeface="Arial" pitchFamily="34" charset="-122"/>
                <a:cs typeface="Arial" pitchFamily="34" charset="-120"/>
              </a:rPr>
              <a:t>en las ocupaciones más expuestas desde fines de 2022.</a:t>
            </a:r>
            <a:endParaRPr lang="en-US" sz="2475" dirty="0"/>
          </a:p>
        </p:txBody>
      </p:sp>
      <p:sp>
        <p:nvSpPr>
          <p:cNvPr id="10" name="Text 8"/>
          <p:cNvSpPr/>
          <p:nvPr/>
        </p:nvSpPr>
        <p:spPr>
          <a:xfrm>
            <a:off x="952500" y="3233738"/>
            <a:ext cx="261193" cy="509587"/>
          </a:xfrm>
          <a:prstGeom prst="rect">
            <a:avLst/>
          </a:prstGeom>
          <a:noFill/>
          <a:ln/>
        </p:spPr>
        <p:txBody>
          <a:bodyPr wrap="square" lIns="25400" tIns="25400" rIns="25400" bIns="25400" rtlCol="0" anchor="t">
            <a:normAutofit/>
          </a:bodyPr>
          <a:lstStyle/>
          <a:p>
            <a:pPr marL="0" indent="0" algn="l">
              <a:lnSpc>
                <a:spcPct val="130263"/>
              </a:lnSpc>
              <a:buNone/>
            </a:pPr>
            <a:r>
              <a:rPr lang="en-US" sz="2475" b="1" dirty="0">
                <a:solidFill>
                  <a:srgbClr val="1C3F7F"/>
                </a:solidFill>
                <a:latin typeface="Arial" pitchFamily="34" charset="0"/>
                <a:ea typeface="Arial" pitchFamily="34" charset="-122"/>
                <a:cs typeface="Arial" pitchFamily="34" charset="-120"/>
              </a:rPr>
              <a:t>–</a:t>
            </a:r>
            <a:endParaRPr lang="en-US" sz="2475" dirty="0"/>
          </a:p>
        </p:txBody>
      </p:sp>
      <p:sp>
        <p:nvSpPr>
          <p:cNvPr id="11" name="Text 9"/>
          <p:cNvSpPr/>
          <p:nvPr/>
        </p:nvSpPr>
        <p:spPr>
          <a:xfrm>
            <a:off x="1333500" y="3281363"/>
            <a:ext cx="7811197" cy="409575"/>
          </a:xfrm>
          <a:prstGeom prst="rect">
            <a:avLst/>
          </a:prstGeom>
          <a:noFill/>
          <a:ln/>
        </p:spPr>
        <p:txBody>
          <a:bodyPr wrap="square" lIns="0" tIns="0" rIns="0" bIns="0" rtlCol="0" anchor="t">
            <a:normAutofit fontScale="92500" lnSpcReduction="10000"/>
          </a:bodyPr>
          <a:lstStyle/>
          <a:p>
            <a:pPr marL="0" indent="0" algn="l">
              <a:lnSpc>
                <a:spcPct val="130263"/>
              </a:lnSpc>
              <a:buNone/>
            </a:pPr>
            <a:r>
              <a:rPr lang="en-US" sz="2475" dirty="0">
                <a:solidFill>
                  <a:srgbClr val="374151"/>
                </a:solidFill>
                <a:latin typeface="Arial" pitchFamily="34" charset="0"/>
                <a:ea typeface="Arial" pitchFamily="34" charset="-122"/>
                <a:cs typeface="Arial" pitchFamily="34" charset="-120"/>
              </a:rPr>
              <a:t>Pero sí una desaceleración medible en la contratación de</a:t>
            </a:r>
            <a:endParaRPr lang="en-US" sz="2475" dirty="0"/>
          </a:p>
        </p:txBody>
      </p:sp>
      <p:sp>
        <p:nvSpPr>
          <p:cNvPr id="12" name="Text 10"/>
          <p:cNvSpPr/>
          <p:nvPr/>
        </p:nvSpPr>
        <p:spPr>
          <a:xfrm>
            <a:off x="8877065" y="3281363"/>
            <a:ext cx="3845570" cy="409575"/>
          </a:xfrm>
          <a:prstGeom prst="rect">
            <a:avLst/>
          </a:prstGeom>
          <a:noFill/>
          <a:ln/>
        </p:spPr>
        <p:txBody>
          <a:bodyPr wrap="square" lIns="25400" tIns="25400" rIns="25400" bIns="25400" rtlCol="0" anchor="t">
            <a:normAutofit fontScale="85000" lnSpcReduction="10000"/>
          </a:bodyPr>
          <a:lstStyle/>
          <a:p>
            <a:pPr marL="0" indent="0" algn="l">
              <a:lnSpc>
                <a:spcPct val="130263"/>
              </a:lnSpc>
              <a:buNone/>
            </a:pPr>
            <a:r>
              <a:rPr lang="en-US" sz="2475" b="1" dirty="0">
                <a:solidFill>
                  <a:srgbClr val="374151"/>
                </a:solidFill>
                <a:latin typeface="Arial" pitchFamily="34" charset="0"/>
                <a:ea typeface="Arial" pitchFamily="34" charset="-122"/>
                <a:cs typeface="Arial" pitchFamily="34" charset="-120"/>
              </a:rPr>
              <a:t>jóvenes de 22 a 25 años</a:t>
            </a:r>
            <a:endParaRPr lang="en-US" sz="2475" dirty="0"/>
          </a:p>
        </p:txBody>
      </p:sp>
      <p:sp>
        <p:nvSpPr>
          <p:cNvPr id="13" name="Text 11"/>
          <p:cNvSpPr/>
          <p:nvPr/>
        </p:nvSpPr>
        <p:spPr>
          <a:xfrm>
            <a:off x="1333500" y="3584369"/>
            <a:ext cx="14532020" cy="881063"/>
          </a:xfrm>
          <a:prstGeom prst="rect">
            <a:avLst/>
          </a:prstGeom>
          <a:noFill/>
          <a:ln/>
        </p:spPr>
        <p:txBody>
          <a:bodyPr wrap="square" lIns="0" tIns="0" rIns="0" bIns="0" rtlCol="0" anchor="t">
            <a:normAutofit/>
          </a:bodyPr>
          <a:lstStyle/>
          <a:p>
            <a:pPr marL="0" indent="0" algn="l">
              <a:lnSpc>
                <a:spcPct val="130263"/>
              </a:lnSpc>
              <a:buNone/>
            </a:pPr>
            <a:r>
              <a:rPr lang="en-US" sz="2475" dirty="0">
                <a:solidFill>
                  <a:srgbClr val="374151"/>
                </a:solidFill>
                <a:latin typeface="Arial" pitchFamily="34" charset="0"/>
                <a:ea typeface="Arial" pitchFamily="34" charset="-122"/>
                <a:cs typeface="Arial" pitchFamily="34" charset="-120"/>
              </a:rPr>
              <a:t>en esas ocupaciones: alrededor de</a:t>
            </a:r>
            <a:endParaRPr lang="en-US" sz="2475" dirty="0"/>
          </a:p>
        </p:txBody>
      </p:sp>
      <p:sp>
        <p:nvSpPr>
          <p:cNvPr id="14" name="Text 12"/>
          <p:cNvSpPr/>
          <p:nvPr/>
        </p:nvSpPr>
        <p:spPr>
          <a:xfrm>
            <a:off x="6310500" y="3642560"/>
            <a:ext cx="1941775" cy="409575"/>
          </a:xfrm>
          <a:prstGeom prst="rect">
            <a:avLst/>
          </a:prstGeom>
          <a:noFill/>
          <a:ln/>
        </p:spPr>
        <p:txBody>
          <a:bodyPr wrap="square" lIns="25400" tIns="25400" rIns="25400" bIns="25400" rtlCol="0" anchor="t">
            <a:normAutofit fontScale="85000" lnSpcReduction="10000"/>
          </a:bodyPr>
          <a:lstStyle/>
          <a:p>
            <a:pPr marL="0" indent="0" algn="l">
              <a:lnSpc>
                <a:spcPct val="130263"/>
              </a:lnSpc>
              <a:buNone/>
            </a:pPr>
            <a:r>
              <a:rPr lang="en-US" sz="2475" b="1" dirty="0">
                <a:solidFill>
                  <a:srgbClr val="374151"/>
                </a:solidFill>
                <a:latin typeface="Arial" pitchFamily="34" charset="0"/>
                <a:ea typeface="Arial" pitchFamily="34" charset="-122"/>
                <a:cs typeface="Arial" pitchFamily="34" charset="-120"/>
              </a:rPr>
              <a:t>14 % menos</a:t>
            </a:r>
            <a:endParaRPr lang="en-US" sz="2475" dirty="0"/>
          </a:p>
        </p:txBody>
      </p:sp>
      <p:sp>
        <p:nvSpPr>
          <p:cNvPr id="15" name="Text 13"/>
          <p:cNvSpPr/>
          <p:nvPr/>
        </p:nvSpPr>
        <p:spPr>
          <a:xfrm>
            <a:off x="8083028" y="3642560"/>
            <a:ext cx="3083181" cy="409575"/>
          </a:xfrm>
          <a:prstGeom prst="rect">
            <a:avLst/>
          </a:prstGeom>
          <a:noFill/>
          <a:ln/>
        </p:spPr>
        <p:txBody>
          <a:bodyPr wrap="square" lIns="0" tIns="0" rIns="0" bIns="0" rtlCol="0" anchor="t">
            <a:normAutofit fontScale="92500" lnSpcReduction="10000"/>
          </a:bodyPr>
          <a:lstStyle/>
          <a:p>
            <a:pPr marL="0" indent="0" algn="l">
              <a:lnSpc>
                <a:spcPct val="130263"/>
              </a:lnSpc>
              <a:buNone/>
            </a:pPr>
            <a:r>
              <a:rPr lang="en-US" sz="2475" dirty="0">
                <a:solidFill>
                  <a:srgbClr val="374151"/>
                </a:solidFill>
                <a:latin typeface="Arial" pitchFamily="34" charset="0"/>
                <a:ea typeface="Arial" pitchFamily="34" charset="-122"/>
                <a:cs typeface="Arial" pitchFamily="34" charset="-120"/>
              </a:rPr>
              <a:t>de tasa de colocación.</a:t>
            </a:r>
            <a:endParaRPr lang="en-US" sz="2475" dirty="0"/>
          </a:p>
        </p:txBody>
      </p:sp>
      <p:sp>
        <p:nvSpPr>
          <p:cNvPr id="16" name="Text 14"/>
          <p:cNvSpPr/>
          <p:nvPr/>
        </p:nvSpPr>
        <p:spPr>
          <a:xfrm>
            <a:off x="952500" y="4595813"/>
            <a:ext cx="261193" cy="509587"/>
          </a:xfrm>
          <a:prstGeom prst="rect">
            <a:avLst/>
          </a:prstGeom>
          <a:noFill/>
          <a:ln/>
        </p:spPr>
        <p:txBody>
          <a:bodyPr wrap="square" lIns="25400" tIns="25400" rIns="25400" bIns="25400" rtlCol="0" anchor="t">
            <a:normAutofit/>
          </a:bodyPr>
          <a:lstStyle/>
          <a:p>
            <a:pPr marL="0" indent="0" algn="l">
              <a:lnSpc>
                <a:spcPct val="130263"/>
              </a:lnSpc>
              <a:buNone/>
            </a:pPr>
            <a:r>
              <a:rPr lang="en-US" sz="2475" b="1" dirty="0">
                <a:solidFill>
                  <a:srgbClr val="1C3F7F"/>
                </a:solidFill>
                <a:latin typeface="Arial" pitchFamily="34" charset="0"/>
                <a:ea typeface="Arial" pitchFamily="34" charset="-122"/>
                <a:cs typeface="Arial" pitchFamily="34" charset="-120"/>
              </a:rPr>
              <a:t>–</a:t>
            </a:r>
            <a:endParaRPr lang="en-US" sz="2475" dirty="0"/>
          </a:p>
        </p:txBody>
      </p:sp>
      <p:sp>
        <p:nvSpPr>
          <p:cNvPr id="17" name="Text 15"/>
          <p:cNvSpPr/>
          <p:nvPr/>
        </p:nvSpPr>
        <p:spPr>
          <a:xfrm>
            <a:off x="1333500" y="4643438"/>
            <a:ext cx="3323851" cy="409575"/>
          </a:xfrm>
          <a:prstGeom prst="rect">
            <a:avLst/>
          </a:prstGeom>
          <a:noFill/>
          <a:ln/>
        </p:spPr>
        <p:txBody>
          <a:bodyPr wrap="square" lIns="0" tIns="0" rIns="0" bIns="0" rtlCol="0" anchor="t">
            <a:normAutofit fontScale="92500" lnSpcReduction="10000"/>
          </a:bodyPr>
          <a:lstStyle/>
          <a:p>
            <a:pPr marL="0" indent="0" algn="l">
              <a:lnSpc>
                <a:spcPct val="130263"/>
              </a:lnSpc>
              <a:buNone/>
            </a:pPr>
            <a:r>
              <a:rPr lang="en-US" sz="2475" dirty="0">
                <a:solidFill>
                  <a:srgbClr val="374151"/>
                </a:solidFill>
                <a:latin typeface="Arial" pitchFamily="34" charset="0"/>
                <a:ea typeface="Arial" pitchFamily="34" charset="-122"/>
                <a:cs typeface="Arial" pitchFamily="34" charset="-120"/>
              </a:rPr>
              <a:t>Proyecciones BLS: cada</a:t>
            </a:r>
            <a:endParaRPr lang="en-US" sz="2475" dirty="0"/>
          </a:p>
        </p:txBody>
      </p:sp>
      <p:sp>
        <p:nvSpPr>
          <p:cNvPr id="18" name="Text 16"/>
          <p:cNvSpPr/>
          <p:nvPr/>
        </p:nvSpPr>
        <p:spPr>
          <a:xfrm>
            <a:off x="4628852" y="4643438"/>
            <a:ext cx="1598637" cy="409575"/>
          </a:xfrm>
          <a:prstGeom prst="rect">
            <a:avLst/>
          </a:prstGeom>
          <a:noFill/>
          <a:ln/>
        </p:spPr>
        <p:txBody>
          <a:bodyPr wrap="square" lIns="25400" tIns="25400" rIns="25400" bIns="25400" rtlCol="0" anchor="t">
            <a:normAutofit fontScale="85000" lnSpcReduction="10000"/>
          </a:bodyPr>
          <a:lstStyle/>
          <a:p>
            <a:pPr marL="0" indent="0" algn="l">
              <a:lnSpc>
                <a:spcPct val="130263"/>
              </a:lnSpc>
              <a:buNone/>
            </a:pPr>
            <a:r>
              <a:rPr lang="en-US" sz="2475" b="1" dirty="0">
                <a:solidFill>
                  <a:srgbClr val="374151"/>
                </a:solidFill>
                <a:latin typeface="Arial" pitchFamily="34" charset="0"/>
                <a:ea typeface="Arial" pitchFamily="34" charset="-122"/>
                <a:cs typeface="Arial" pitchFamily="34" charset="-120"/>
              </a:rPr>
              <a:t>10 puntos</a:t>
            </a:r>
            <a:endParaRPr lang="en-US" sz="2475" dirty="0"/>
          </a:p>
        </p:txBody>
      </p:sp>
      <p:sp>
        <p:nvSpPr>
          <p:cNvPr id="19" name="Text 17"/>
          <p:cNvSpPr/>
          <p:nvPr/>
        </p:nvSpPr>
        <p:spPr>
          <a:xfrm>
            <a:off x="6150322" y="4643438"/>
            <a:ext cx="4203906" cy="409575"/>
          </a:xfrm>
          <a:prstGeom prst="rect">
            <a:avLst/>
          </a:prstGeom>
          <a:noFill/>
          <a:ln/>
        </p:spPr>
        <p:txBody>
          <a:bodyPr wrap="square" lIns="0" tIns="0" rIns="0" bIns="0" rtlCol="0" anchor="t">
            <a:normAutofit fontScale="92500" lnSpcReduction="10000"/>
          </a:bodyPr>
          <a:lstStyle/>
          <a:p>
            <a:pPr marL="0" indent="0" algn="l">
              <a:lnSpc>
                <a:spcPct val="130263"/>
              </a:lnSpc>
              <a:buNone/>
            </a:pPr>
            <a:r>
              <a:rPr lang="en-US" sz="2475" dirty="0">
                <a:solidFill>
                  <a:srgbClr val="374151"/>
                </a:solidFill>
                <a:latin typeface="Arial" pitchFamily="34" charset="0"/>
                <a:ea typeface="Arial" pitchFamily="34" charset="-122"/>
                <a:cs typeface="Arial" pitchFamily="34" charset="-120"/>
              </a:rPr>
              <a:t>más de cobertura se asocian a</a:t>
            </a:r>
            <a:endParaRPr lang="en-US" sz="2475" dirty="0"/>
          </a:p>
        </p:txBody>
      </p:sp>
      <p:sp>
        <p:nvSpPr>
          <p:cNvPr id="20" name="Text 18"/>
          <p:cNvSpPr/>
          <p:nvPr/>
        </p:nvSpPr>
        <p:spPr>
          <a:xfrm>
            <a:off x="10300097" y="4643438"/>
            <a:ext cx="1732225" cy="409575"/>
          </a:xfrm>
          <a:prstGeom prst="rect">
            <a:avLst/>
          </a:prstGeom>
          <a:noFill/>
          <a:ln/>
        </p:spPr>
        <p:txBody>
          <a:bodyPr wrap="square" lIns="25400" tIns="25400" rIns="25400" bIns="25400" rtlCol="0" anchor="t">
            <a:normAutofit fontScale="85000" lnSpcReduction="10000"/>
          </a:bodyPr>
          <a:lstStyle/>
          <a:p>
            <a:pPr marL="0" indent="0" algn="l">
              <a:lnSpc>
                <a:spcPct val="130263"/>
              </a:lnSpc>
              <a:buNone/>
            </a:pPr>
            <a:r>
              <a:rPr lang="en-US" sz="2475" b="1" dirty="0">
                <a:solidFill>
                  <a:srgbClr val="374151"/>
                </a:solidFill>
                <a:latin typeface="Arial" pitchFamily="34" charset="0"/>
                <a:ea typeface="Arial" pitchFamily="34" charset="-122"/>
                <a:cs typeface="Arial" pitchFamily="34" charset="-120"/>
              </a:rPr>
              <a:t>0,6 puntos</a:t>
            </a:r>
            <a:endParaRPr lang="en-US" sz="2475" dirty="0"/>
          </a:p>
        </p:txBody>
      </p:sp>
      <p:sp>
        <p:nvSpPr>
          <p:cNvPr id="21" name="Text 19"/>
          <p:cNvSpPr/>
          <p:nvPr/>
        </p:nvSpPr>
        <p:spPr>
          <a:xfrm>
            <a:off x="1333500" y="5053013"/>
            <a:ext cx="13979552" cy="881063"/>
          </a:xfrm>
          <a:prstGeom prst="rect">
            <a:avLst/>
          </a:prstGeom>
          <a:noFill/>
          <a:ln/>
        </p:spPr>
        <p:txBody>
          <a:bodyPr wrap="square" lIns="0" tIns="0" rIns="0" bIns="0" rtlCol="0" anchor="t">
            <a:normAutofit/>
          </a:bodyPr>
          <a:lstStyle/>
          <a:p>
            <a:pPr marL="0" indent="0" algn="l">
              <a:lnSpc>
                <a:spcPct val="130263"/>
              </a:lnSpc>
              <a:buNone/>
            </a:pPr>
            <a:r>
              <a:rPr lang="en-US" sz="2475" dirty="0">
                <a:solidFill>
                  <a:srgbClr val="374151"/>
                </a:solidFill>
                <a:latin typeface="Arial" pitchFamily="34" charset="0"/>
                <a:ea typeface="Arial" pitchFamily="34" charset="-122"/>
                <a:cs typeface="Arial" pitchFamily="34" charset="-120"/>
              </a:rPr>
              <a:t>menos de crecimiento proyectado del empleo.</a:t>
            </a:r>
            <a:endParaRPr lang="en-US" sz="2475" dirty="0"/>
          </a:p>
        </p:txBody>
      </p:sp>
      <p:sp>
        <p:nvSpPr>
          <p:cNvPr id="22" name="Shape 20"/>
          <p:cNvSpPr/>
          <p:nvPr/>
        </p:nvSpPr>
        <p:spPr>
          <a:xfrm>
            <a:off x="952500" y="8905875"/>
            <a:ext cx="16383000" cy="28575"/>
          </a:xfrm>
          <a:prstGeom prst="rect">
            <a:avLst/>
          </a:prstGeom>
          <a:solidFill>
            <a:srgbClr val="E2E6EE"/>
          </a:solidFill>
          <a:ln/>
        </p:spPr>
        <p:txBody>
          <a:bodyPr/>
          <a:lstStyle/>
          <a:p>
            <a:endParaRPr lang="es-ES_tradnl"/>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1C3F7F"/>
        </a:solidFill>
        <a:effectLst/>
      </p:bgPr>
    </p:bg>
    <p:spTree>
      <p:nvGrpSpPr>
        <p:cNvPr id="1" name=""/>
        <p:cNvGrpSpPr/>
        <p:nvPr/>
      </p:nvGrpSpPr>
      <p:grpSpPr>
        <a:xfrm>
          <a:off x="0" y="0"/>
          <a:ext cx="0" cy="0"/>
          <a:chOff x="0" y="0"/>
          <a:chExt cx="0" cy="0"/>
        </a:xfrm>
      </p:grpSpPr>
      <p:sp>
        <p:nvSpPr>
          <p:cNvPr id="2" name="Text 0"/>
          <p:cNvSpPr/>
          <p:nvPr/>
        </p:nvSpPr>
        <p:spPr>
          <a:xfrm>
            <a:off x="13894862" y="4191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FFFFFF"/>
                </a:solidFill>
                <a:latin typeface="Arial" pitchFamily="34" charset="0"/>
                <a:ea typeface="Arial" pitchFamily="34" charset="-122"/>
                <a:cs typeface="Arial" pitchFamily="34" charset="-120"/>
              </a:rPr>
              <a:t>FEN · Universidad de Chile</a:t>
            </a:r>
            <a:endParaRPr lang="en-US" sz="1800" dirty="0"/>
          </a:p>
        </p:txBody>
      </p:sp>
      <p:sp>
        <p:nvSpPr>
          <p:cNvPr id="3" name="Text 1"/>
          <p:cNvSpPr/>
          <p:nvPr/>
        </p:nvSpPr>
        <p:spPr>
          <a:xfrm>
            <a:off x="13894862" y="7276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FFFFFF">
                    <a:alpha val="55000"/>
                  </a:srgbClr>
                </a:solidFill>
                <a:latin typeface="Arial" pitchFamily="34" charset="0"/>
                <a:ea typeface="Arial" pitchFamily="34" charset="-122"/>
                <a:cs typeface="Arial" pitchFamily="34" charset="-120"/>
              </a:rPr>
              <a:t>IA Generativa para Organizaciones</a:t>
            </a:r>
            <a:endParaRPr lang="en-US" sz="1800" dirty="0"/>
          </a:p>
        </p:txBody>
      </p:sp>
      <p:sp>
        <p:nvSpPr>
          <p:cNvPr id="6" name="Text 3">
            <a:extLst>
              <a:ext uri="{FF2B5EF4-FFF2-40B4-BE49-F238E27FC236}">
                <a16:creationId xmlns:a16="http://schemas.microsoft.com/office/drawing/2014/main" id="{9778D0D3-907A-07E0-21E4-98EA88E1ECB0}"/>
              </a:ext>
            </a:extLst>
          </p:cNvPr>
          <p:cNvSpPr/>
          <p:nvPr/>
        </p:nvSpPr>
        <p:spPr>
          <a:xfrm>
            <a:off x="2945740" y="4671120"/>
            <a:ext cx="12396520" cy="1226790"/>
          </a:xfrm>
          <a:prstGeom prst="rect">
            <a:avLst/>
          </a:prstGeom>
          <a:noFill/>
          <a:ln/>
        </p:spPr>
        <p:txBody>
          <a:bodyPr wrap="square" lIns="25400" tIns="25400" rIns="25400" bIns="25400" rtlCol="0" anchor="t">
            <a:normAutofit/>
          </a:bodyPr>
          <a:lstStyle/>
          <a:p>
            <a:pPr marL="0" indent="0" algn="ctr">
              <a:lnSpc>
                <a:spcPct val="113455"/>
              </a:lnSpc>
              <a:buNone/>
            </a:pPr>
            <a:r>
              <a:rPr lang="en-US" sz="7200" b="1" dirty="0">
                <a:solidFill>
                  <a:srgbClr val="1F2937"/>
                </a:solidFill>
                <a:latin typeface="Arial" pitchFamily="34" charset="0"/>
                <a:ea typeface="Arial" pitchFamily="34" charset="-122"/>
                <a:cs typeface="Arial" pitchFamily="34" charset="-120"/>
              </a:rPr>
              <a:t>All you need is</a:t>
            </a:r>
            <a:r>
              <a:rPr lang="en-US" sz="7200" b="1" strike="sngStrike" dirty="0">
                <a:solidFill>
                  <a:srgbClr val="9AA3B2"/>
                </a:solidFill>
                <a:latin typeface="Arial" pitchFamily="34" charset="0"/>
                <a:ea typeface="Arial" pitchFamily="34" charset="-122"/>
                <a:cs typeface="Arial" pitchFamily="34" charset="-120"/>
              </a:rPr>
              <a:t>love </a:t>
            </a:r>
            <a:r>
              <a:rPr lang="en-US" sz="7200" b="1" dirty="0">
                <a:solidFill>
                  <a:srgbClr val="00B050"/>
                </a:solidFill>
                <a:latin typeface="Arial" pitchFamily="34" charset="0"/>
                <a:ea typeface="Arial" pitchFamily="34" charset="-122"/>
                <a:cs typeface="Arial" pitchFamily="34" charset="-120"/>
              </a:rPr>
              <a:t>context</a:t>
            </a:r>
            <a:endParaRPr lang="en-US" sz="7200" dirty="0">
              <a:solidFill>
                <a:srgbClr val="00B05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IA sin contexto = ChatGPT Wrapper</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Context engineering: la línea de tiempo</a:t>
            </a:r>
            <a:endParaRPr lang="en-US" sz="4200" dirty="0"/>
          </a:p>
        </p:txBody>
      </p:sp>
      <p:sp>
        <p:nvSpPr>
          <p:cNvPr id="7" name="Text 5"/>
          <p:cNvSpPr/>
          <p:nvPr/>
        </p:nvSpPr>
        <p:spPr>
          <a:xfrm>
            <a:off x="747713" y="4582567"/>
            <a:ext cx="4505325" cy="714375"/>
          </a:xfrm>
          <a:prstGeom prst="rect">
            <a:avLst/>
          </a:prstGeom>
          <a:noFill/>
          <a:ln/>
        </p:spPr>
        <p:txBody>
          <a:bodyPr wrap="square" lIns="25400" tIns="25400" rIns="25400" bIns="25400" rtlCol="0" anchor="t">
            <a:normAutofit lnSpcReduction="10000"/>
          </a:bodyPr>
          <a:lstStyle/>
          <a:p>
            <a:pPr marL="0" indent="0" algn="ctr">
              <a:buNone/>
            </a:pPr>
            <a:r>
              <a:rPr lang="en-US" sz="4500" b="1" dirty="0">
                <a:solidFill>
                  <a:srgbClr val="1C3F7F"/>
                </a:solidFill>
                <a:latin typeface="Arial" pitchFamily="34" charset="0"/>
                <a:ea typeface="Arial" pitchFamily="34" charset="-122"/>
                <a:cs typeface="Arial" pitchFamily="34" charset="-120"/>
              </a:rPr>
              <a:t>2024</a:t>
            </a:r>
            <a:endParaRPr lang="en-US" sz="4500" dirty="0"/>
          </a:p>
        </p:txBody>
      </p:sp>
      <p:sp>
        <p:nvSpPr>
          <p:cNvPr id="8" name="Text 6"/>
          <p:cNvSpPr/>
          <p:nvPr/>
        </p:nvSpPr>
        <p:spPr>
          <a:xfrm>
            <a:off x="4843463" y="4582567"/>
            <a:ext cx="4505325" cy="714375"/>
          </a:xfrm>
          <a:prstGeom prst="rect">
            <a:avLst/>
          </a:prstGeom>
          <a:noFill/>
          <a:ln/>
        </p:spPr>
        <p:txBody>
          <a:bodyPr wrap="square" lIns="25400" tIns="25400" rIns="25400" bIns="25400" rtlCol="0" anchor="t">
            <a:normAutofit lnSpcReduction="10000"/>
          </a:bodyPr>
          <a:lstStyle/>
          <a:p>
            <a:pPr marL="0" indent="0" algn="ctr">
              <a:buNone/>
            </a:pPr>
            <a:r>
              <a:rPr lang="en-US" sz="4500" b="1" dirty="0">
                <a:solidFill>
                  <a:srgbClr val="1C3F7F"/>
                </a:solidFill>
                <a:latin typeface="Arial" pitchFamily="34" charset="0"/>
                <a:ea typeface="Arial" pitchFamily="34" charset="-122"/>
                <a:cs typeface="Arial" pitchFamily="34" charset="-120"/>
              </a:rPr>
              <a:t>2025</a:t>
            </a:r>
            <a:endParaRPr lang="en-US" sz="4500" dirty="0"/>
          </a:p>
        </p:txBody>
      </p:sp>
      <p:sp>
        <p:nvSpPr>
          <p:cNvPr id="9" name="Text 7"/>
          <p:cNvSpPr/>
          <p:nvPr/>
        </p:nvSpPr>
        <p:spPr>
          <a:xfrm>
            <a:off x="8939213" y="4582567"/>
            <a:ext cx="4505325" cy="714375"/>
          </a:xfrm>
          <a:prstGeom prst="rect">
            <a:avLst/>
          </a:prstGeom>
          <a:noFill/>
          <a:ln/>
        </p:spPr>
        <p:txBody>
          <a:bodyPr wrap="square" lIns="25400" tIns="25400" rIns="25400" bIns="25400" rtlCol="0" anchor="t">
            <a:normAutofit lnSpcReduction="10000"/>
          </a:bodyPr>
          <a:lstStyle/>
          <a:p>
            <a:pPr marL="0" indent="0" algn="ctr">
              <a:buNone/>
            </a:pPr>
            <a:r>
              <a:rPr lang="en-US" sz="4500" b="1" dirty="0">
                <a:solidFill>
                  <a:srgbClr val="1C3F7F"/>
                </a:solidFill>
                <a:latin typeface="Arial" pitchFamily="34" charset="0"/>
                <a:ea typeface="Arial" pitchFamily="34" charset="-122"/>
                <a:cs typeface="Arial" pitchFamily="34" charset="-120"/>
              </a:rPr>
              <a:t>2026</a:t>
            </a:r>
            <a:endParaRPr lang="en-US" sz="4500" dirty="0"/>
          </a:p>
        </p:txBody>
      </p:sp>
      <p:sp>
        <p:nvSpPr>
          <p:cNvPr id="10" name="Text 8"/>
          <p:cNvSpPr/>
          <p:nvPr/>
        </p:nvSpPr>
        <p:spPr>
          <a:xfrm>
            <a:off x="13034962" y="4582567"/>
            <a:ext cx="4505325" cy="714375"/>
          </a:xfrm>
          <a:prstGeom prst="rect">
            <a:avLst/>
          </a:prstGeom>
          <a:noFill/>
          <a:ln/>
        </p:spPr>
        <p:txBody>
          <a:bodyPr wrap="square" lIns="25400" tIns="25400" rIns="25400" bIns="25400" rtlCol="0" anchor="t">
            <a:normAutofit lnSpcReduction="10000"/>
          </a:bodyPr>
          <a:lstStyle/>
          <a:p>
            <a:pPr marL="0" indent="0" algn="ctr">
              <a:buNone/>
            </a:pPr>
            <a:r>
              <a:rPr lang="en-US" sz="4500" b="1" dirty="0">
                <a:solidFill>
                  <a:srgbClr val="9AA3B2"/>
                </a:solidFill>
                <a:latin typeface="Arial" pitchFamily="34" charset="0"/>
                <a:ea typeface="Arial" pitchFamily="34" charset="-122"/>
                <a:cs typeface="Arial" pitchFamily="34" charset="-120"/>
              </a:rPr>
              <a:t>¿2027?</a:t>
            </a:r>
            <a:endParaRPr lang="en-US" sz="4500" dirty="0"/>
          </a:p>
        </p:txBody>
      </p:sp>
      <p:sp>
        <p:nvSpPr>
          <p:cNvPr id="11" name="Shape 9"/>
          <p:cNvSpPr/>
          <p:nvPr/>
        </p:nvSpPr>
        <p:spPr>
          <a:xfrm>
            <a:off x="2095500" y="5677942"/>
            <a:ext cx="14097000" cy="38100"/>
          </a:xfrm>
          <a:prstGeom prst="rect">
            <a:avLst/>
          </a:prstGeom>
          <a:solidFill>
            <a:srgbClr val="C7CEDC"/>
          </a:solidFill>
          <a:ln/>
        </p:spPr>
        <p:txBody>
          <a:bodyPr/>
          <a:lstStyle/>
          <a:p>
            <a:endParaRPr lang="es-ES_tradnl"/>
          </a:p>
        </p:txBody>
      </p:sp>
      <p:sp>
        <p:nvSpPr>
          <p:cNvPr id="12" name="Shape 10"/>
          <p:cNvSpPr/>
          <p:nvPr/>
        </p:nvSpPr>
        <p:spPr>
          <a:xfrm>
            <a:off x="2807940" y="5563642"/>
            <a:ext cx="266700" cy="266700"/>
          </a:xfrm>
          <a:prstGeom prst="ellipse">
            <a:avLst/>
          </a:prstGeom>
          <a:solidFill>
            <a:srgbClr val="1C3F7F"/>
          </a:solidFill>
          <a:ln/>
        </p:spPr>
        <p:txBody>
          <a:bodyPr/>
          <a:lstStyle/>
          <a:p>
            <a:endParaRPr lang="es-ES_tradnl"/>
          </a:p>
        </p:txBody>
      </p:sp>
      <p:sp>
        <p:nvSpPr>
          <p:cNvPr id="13" name="Shape 11"/>
          <p:cNvSpPr/>
          <p:nvPr/>
        </p:nvSpPr>
        <p:spPr>
          <a:xfrm>
            <a:off x="7177980" y="5563642"/>
            <a:ext cx="266700" cy="266700"/>
          </a:xfrm>
          <a:prstGeom prst="ellipse">
            <a:avLst/>
          </a:prstGeom>
          <a:solidFill>
            <a:srgbClr val="1C3F7F"/>
          </a:solidFill>
          <a:ln/>
        </p:spPr>
        <p:txBody>
          <a:bodyPr/>
          <a:lstStyle/>
          <a:p>
            <a:endParaRPr lang="es-ES_tradnl"/>
          </a:p>
        </p:txBody>
      </p:sp>
      <p:sp>
        <p:nvSpPr>
          <p:cNvPr id="14" name="Shape 12"/>
          <p:cNvSpPr/>
          <p:nvPr/>
        </p:nvSpPr>
        <p:spPr>
          <a:xfrm>
            <a:off x="11548021" y="5563642"/>
            <a:ext cx="266700" cy="266700"/>
          </a:xfrm>
          <a:prstGeom prst="ellipse">
            <a:avLst/>
          </a:prstGeom>
          <a:solidFill>
            <a:srgbClr val="1C3F7F"/>
          </a:solidFill>
          <a:ln/>
        </p:spPr>
        <p:txBody>
          <a:bodyPr/>
          <a:lstStyle/>
          <a:p>
            <a:endParaRPr lang="es-ES_tradnl"/>
          </a:p>
        </p:txBody>
      </p:sp>
      <p:sp>
        <p:nvSpPr>
          <p:cNvPr id="15" name="Shape 13"/>
          <p:cNvSpPr/>
          <p:nvPr/>
        </p:nvSpPr>
        <p:spPr>
          <a:xfrm>
            <a:off x="15879961" y="5525542"/>
            <a:ext cx="342900" cy="342900"/>
          </a:xfrm>
          <a:prstGeom prst="ellipse">
            <a:avLst/>
          </a:prstGeom>
          <a:solidFill>
            <a:srgbClr val="FFFFFF"/>
          </a:solidFill>
          <a:ln w="38100">
            <a:solidFill>
              <a:srgbClr val="9AA3B2"/>
            </a:solidFill>
            <a:prstDash val="solid"/>
          </a:ln>
        </p:spPr>
        <p:txBody>
          <a:bodyPr/>
          <a:lstStyle/>
          <a:p>
            <a:endParaRPr lang="es-ES_tradnl"/>
          </a:p>
        </p:txBody>
      </p:sp>
      <p:sp>
        <p:nvSpPr>
          <p:cNvPr id="16" name="Text 14"/>
          <p:cNvSpPr/>
          <p:nvPr/>
        </p:nvSpPr>
        <p:spPr>
          <a:xfrm>
            <a:off x="1176814" y="6135142"/>
            <a:ext cx="3647123" cy="864691"/>
          </a:xfrm>
          <a:prstGeom prst="rect">
            <a:avLst/>
          </a:prstGeom>
          <a:noFill/>
          <a:ln/>
        </p:spPr>
        <p:txBody>
          <a:bodyPr wrap="square" lIns="25400" tIns="25400" rIns="25400" bIns="25400" rtlCol="0" anchor="t">
            <a:normAutofit/>
          </a:bodyPr>
          <a:lstStyle/>
          <a:p>
            <a:pPr marL="0" indent="0" algn="ctr">
              <a:lnSpc>
                <a:spcPct val="120556"/>
              </a:lnSpc>
              <a:buNone/>
            </a:pPr>
            <a:r>
              <a:rPr lang="en-US" sz="2325" dirty="0">
                <a:solidFill>
                  <a:srgbClr val="374151"/>
                </a:solidFill>
                <a:latin typeface="Arial" pitchFamily="34" charset="0"/>
                <a:ea typeface="Arial" pitchFamily="34" charset="-122"/>
                <a:cs typeface="Arial" pitchFamily="34" charset="-120"/>
              </a:rPr>
              <a:t>Tools + ReAct </a:t>
            </a:r>
            <a:r>
              <a:rPr lang="en-US" sz="2325" i="1" dirty="0">
                <a:solidFill>
                  <a:srgbClr val="8A93A6"/>
                </a:solidFill>
                <a:latin typeface="Arial" pitchFamily="34" charset="0"/>
                <a:ea typeface="Arial" pitchFamily="34" charset="-122"/>
                <a:cs typeface="Arial" pitchFamily="34" charset="-120"/>
              </a:rPr>
              <a:t>aka agentes</a:t>
            </a:r>
            <a:endParaRPr lang="en-US" sz="2325" dirty="0"/>
          </a:p>
        </p:txBody>
      </p:sp>
      <p:sp>
        <p:nvSpPr>
          <p:cNvPr id="17" name="Text 15"/>
          <p:cNvSpPr/>
          <p:nvPr/>
        </p:nvSpPr>
        <p:spPr>
          <a:xfrm>
            <a:off x="5272564" y="6135142"/>
            <a:ext cx="3647123" cy="864691"/>
          </a:xfrm>
          <a:prstGeom prst="rect">
            <a:avLst/>
          </a:prstGeom>
          <a:noFill/>
          <a:ln/>
        </p:spPr>
        <p:txBody>
          <a:bodyPr wrap="square" lIns="25400" tIns="25400" rIns="25400" bIns="25400" rtlCol="0" anchor="t">
            <a:normAutofit/>
          </a:bodyPr>
          <a:lstStyle/>
          <a:p>
            <a:pPr marL="0" indent="0" algn="ctr">
              <a:lnSpc>
                <a:spcPct val="120556"/>
              </a:lnSpc>
              <a:buNone/>
            </a:pPr>
            <a:r>
              <a:rPr lang="en-US" sz="2325" dirty="0">
                <a:solidFill>
                  <a:srgbClr val="374151"/>
                </a:solidFill>
                <a:latin typeface="Arial" pitchFamily="34" charset="0"/>
                <a:ea typeface="Arial" pitchFamily="34" charset="-122"/>
                <a:cs typeface="Arial" pitchFamily="34" charset="-120"/>
              </a:rPr>
              <a:t>MCP · multiagentes</a:t>
            </a:r>
            <a:endParaRPr lang="en-US" sz="2325" dirty="0"/>
          </a:p>
        </p:txBody>
      </p:sp>
      <p:sp>
        <p:nvSpPr>
          <p:cNvPr id="18" name="Text 16"/>
          <p:cNvSpPr/>
          <p:nvPr/>
        </p:nvSpPr>
        <p:spPr>
          <a:xfrm>
            <a:off x="9368314" y="6135142"/>
            <a:ext cx="3647123" cy="864691"/>
          </a:xfrm>
          <a:prstGeom prst="rect">
            <a:avLst/>
          </a:prstGeom>
          <a:noFill/>
          <a:ln/>
        </p:spPr>
        <p:txBody>
          <a:bodyPr wrap="square" lIns="25400" tIns="25400" rIns="25400" bIns="25400" rtlCol="0" anchor="t">
            <a:normAutofit lnSpcReduction="10000"/>
          </a:bodyPr>
          <a:lstStyle/>
          <a:p>
            <a:pPr marL="0" indent="0" algn="ctr">
              <a:lnSpc>
                <a:spcPct val="120556"/>
              </a:lnSpc>
              <a:buNone/>
            </a:pPr>
            <a:r>
              <a:rPr lang="en-US" sz="2325" dirty="0">
                <a:solidFill>
                  <a:srgbClr val="374151"/>
                </a:solidFill>
                <a:latin typeface="Arial" pitchFamily="34" charset="0"/>
                <a:ea typeface="Arial" pitchFamily="34" charset="-122"/>
                <a:cs typeface="Arial" pitchFamily="34" charset="-120"/>
              </a:rPr>
              <a:t>Filesystem + CLI · Skills, Plugins</a:t>
            </a:r>
            <a:endParaRPr lang="en-US" sz="2325" dirty="0"/>
          </a:p>
        </p:txBody>
      </p:sp>
      <p:sp>
        <p:nvSpPr>
          <p:cNvPr id="19" name="Text 17"/>
          <p:cNvSpPr/>
          <p:nvPr/>
        </p:nvSpPr>
        <p:spPr>
          <a:xfrm>
            <a:off x="13464064" y="6135142"/>
            <a:ext cx="3647123" cy="864691"/>
          </a:xfrm>
          <a:prstGeom prst="rect">
            <a:avLst/>
          </a:prstGeom>
          <a:noFill/>
          <a:ln/>
        </p:spPr>
        <p:txBody>
          <a:bodyPr wrap="square" lIns="25400" tIns="25400" rIns="25400" bIns="25400" rtlCol="0" anchor="t">
            <a:normAutofit/>
          </a:bodyPr>
          <a:lstStyle/>
          <a:p>
            <a:pPr marL="0" indent="0" algn="ctr">
              <a:lnSpc>
                <a:spcPct val="120556"/>
              </a:lnSpc>
              <a:buNone/>
            </a:pPr>
            <a:r>
              <a:rPr lang="en-US" sz="2325" dirty="0">
                <a:solidFill>
                  <a:srgbClr val="9AA3B2"/>
                </a:solidFill>
                <a:latin typeface="Arial" pitchFamily="34" charset="0"/>
                <a:ea typeface="Arial" pitchFamily="34" charset="-122"/>
                <a:cs typeface="Arial" pitchFamily="34" charset="-120"/>
              </a:rPr>
              <a:t>—</a:t>
            </a:r>
            <a:endParaRPr lang="en-US" sz="23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IA sin contexto = ChatGPT Wrapper</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El mecanismo cambia, los desafíos no</a:t>
            </a:r>
            <a:endParaRPr lang="en-US" sz="4200" dirty="0"/>
          </a:p>
        </p:txBody>
      </p:sp>
      <p:sp>
        <p:nvSpPr>
          <p:cNvPr id="7" name="Text 5"/>
          <p:cNvSpPr/>
          <p:nvPr/>
        </p:nvSpPr>
        <p:spPr>
          <a:xfrm>
            <a:off x="7445127" y="4224338"/>
            <a:ext cx="3737357" cy="514350"/>
          </a:xfrm>
          <a:prstGeom prst="rect">
            <a:avLst/>
          </a:prstGeom>
          <a:noFill/>
          <a:ln/>
        </p:spPr>
        <p:txBody>
          <a:bodyPr wrap="square" lIns="25400" tIns="25400" rIns="25400" bIns="25400" rtlCol="0" anchor="t">
            <a:normAutofit lnSpcReduction="10000"/>
          </a:bodyPr>
          <a:lstStyle/>
          <a:p>
            <a:pPr marL="0" indent="0" algn="l">
              <a:buNone/>
            </a:pPr>
            <a:r>
              <a:rPr lang="en-US" sz="3150" dirty="0">
                <a:solidFill>
                  <a:srgbClr val="6B7280"/>
                </a:solidFill>
                <a:latin typeface="Arial" pitchFamily="34" charset="0"/>
                <a:ea typeface="Arial" pitchFamily="34" charset="-122"/>
                <a:cs typeface="Arial" pitchFamily="34" charset="-120"/>
              </a:rPr>
              <a:t>El buen contexto es:</a:t>
            </a:r>
            <a:endParaRPr lang="en-US" sz="3150" dirty="0"/>
          </a:p>
        </p:txBody>
      </p:sp>
      <p:sp>
        <p:nvSpPr>
          <p:cNvPr id="8" name="Shape 6"/>
          <p:cNvSpPr/>
          <p:nvPr/>
        </p:nvSpPr>
        <p:spPr>
          <a:xfrm>
            <a:off x="1522184" y="5272088"/>
            <a:ext cx="2693640" cy="1143000"/>
          </a:xfrm>
          <a:prstGeom prst="roundRect">
            <a:avLst>
              <a:gd name="adj" fmla="val 13333"/>
            </a:avLst>
          </a:prstGeom>
          <a:ln w="28575">
            <a:solidFill>
              <a:srgbClr val="1C3F7F"/>
            </a:solidFill>
            <a:prstDash val="solid"/>
          </a:ln>
        </p:spPr>
        <p:txBody>
          <a:bodyPr/>
          <a:lstStyle/>
          <a:p>
            <a:endParaRPr lang="es-ES_tradnl"/>
          </a:p>
        </p:txBody>
      </p:sp>
      <p:sp>
        <p:nvSpPr>
          <p:cNvPr id="9" name="Text 7"/>
          <p:cNvSpPr/>
          <p:nvPr/>
        </p:nvSpPr>
        <p:spPr>
          <a:xfrm>
            <a:off x="1950809" y="5605463"/>
            <a:ext cx="1917199" cy="514350"/>
          </a:xfrm>
          <a:prstGeom prst="rect">
            <a:avLst/>
          </a:prstGeom>
          <a:noFill/>
          <a:ln/>
        </p:spPr>
        <p:txBody>
          <a:bodyPr wrap="square" lIns="25400" tIns="25400" rIns="25400" bIns="25400" rtlCol="0" anchor="t">
            <a:normAutofit fontScale="92500"/>
          </a:bodyPr>
          <a:lstStyle/>
          <a:p>
            <a:pPr marL="0" indent="0" algn="l">
              <a:buNone/>
            </a:pPr>
            <a:r>
              <a:rPr lang="en-US" sz="3150" b="1" dirty="0">
                <a:solidFill>
                  <a:srgbClr val="1C3F7F"/>
                </a:solidFill>
                <a:latin typeface="Arial" pitchFamily="34" charset="0"/>
                <a:ea typeface="Arial" pitchFamily="34" charset="-122"/>
                <a:cs typeface="Arial" pitchFamily="34" charset="-120"/>
              </a:rPr>
              <a:t>Relevante</a:t>
            </a:r>
            <a:endParaRPr lang="en-US" sz="3150" dirty="0"/>
          </a:p>
        </p:txBody>
      </p:sp>
      <p:sp>
        <p:nvSpPr>
          <p:cNvPr id="10" name="Shape 8"/>
          <p:cNvSpPr/>
          <p:nvPr/>
        </p:nvSpPr>
        <p:spPr>
          <a:xfrm>
            <a:off x="4501575" y="5272088"/>
            <a:ext cx="2239119" cy="1143000"/>
          </a:xfrm>
          <a:prstGeom prst="roundRect">
            <a:avLst>
              <a:gd name="adj" fmla="val 13333"/>
            </a:avLst>
          </a:prstGeom>
          <a:ln w="28575">
            <a:solidFill>
              <a:srgbClr val="1C3F7F"/>
            </a:solidFill>
            <a:prstDash val="solid"/>
          </a:ln>
        </p:spPr>
        <p:txBody>
          <a:bodyPr/>
          <a:lstStyle/>
          <a:p>
            <a:endParaRPr lang="es-ES_tradnl"/>
          </a:p>
        </p:txBody>
      </p:sp>
      <p:sp>
        <p:nvSpPr>
          <p:cNvPr id="11" name="Text 9"/>
          <p:cNvSpPr/>
          <p:nvPr/>
        </p:nvSpPr>
        <p:spPr>
          <a:xfrm>
            <a:off x="4930200" y="5605463"/>
            <a:ext cx="1458069" cy="514350"/>
          </a:xfrm>
          <a:prstGeom prst="rect">
            <a:avLst/>
          </a:prstGeom>
          <a:noFill/>
          <a:ln/>
        </p:spPr>
        <p:txBody>
          <a:bodyPr wrap="square" lIns="25400" tIns="25400" rIns="25400" bIns="25400" rtlCol="0" anchor="t">
            <a:normAutofit fontScale="92500"/>
          </a:bodyPr>
          <a:lstStyle/>
          <a:p>
            <a:pPr marL="0" indent="0" algn="l">
              <a:buNone/>
            </a:pPr>
            <a:r>
              <a:rPr lang="en-US" sz="3150" b="1" dirty="0">
                <a:solidFill>
                  <a:srgbClr val="1C3F7F"/>
                </a:solidFill>
                <a:latin typeface="Arial" pitchFamily="34" charset="0"/>
                <a:ea typeface="Arial" pitchFamily="34" charset="-122"/>
                <a:cs typeface="Arial" pitchFamily="34" charset="-120"/>
              </a:rPr>
              <a:t>Preciso</a:t>
            </a:r>
            <a:endParaRPr lang="en-US" sz="3150" dirty="0"/>
          </a:p>
        </p:txBody>
      </p:sp>
      <p:sp>
        <p:nvSpPr>
          <p:cNvPr id="12" name="Shape 10"/>
          <p:cNvSpPr/>
          <p:nvPr/>
        </p:nvSpPr>
        <p:spPr>
          <a:xfrm>
            <a:off x="7026444" y="5272088"/>
            <a:ext cx="2188666" cy="1143000"/>
          </a:xfrm>
          <a:prstGeom prst="roundRect">
            <a:avLst>
              <a:gd name="adj" fmla="val 13333"/>
            </a:avLst>
          </a:prstGeom>
          <a:ln w="28575">
            <a:solidFill>
              <a:srgbClr val="1C3F7F"/>
            </a:solidFill>
            <a:prstDash val="solid"/>
          </a:ln>
        </p:spPr>
        <p:txBody>
          <a:bodyPr/>
          <a:lstStyle/>
          <a:p>
            <a:endParaRPr lang="es-ES_tradnl"/>
          </a:p>
        </p:txBody>
      </p:sp>
      <p:sp>
        <p:nvSpPr>
          <p:cNvPr id="13" name="Text 11"/>
          <p:cNvSpPr/>
          <p:nvPr/>
        </p:nvSpPr>
        <p:spPr>
          <a:xfrm>
            <a:off x="7455069" y="5605463"/>
            <a:ext cx="1407616" cy="514350"/>
          </a:xfrm>
          <a:prstGeom prst="rect">
            <a:avLst/>
          </a:prstGeom>
          <a:noFill/>
          <a:ln/>
        </p:spPr>
        <p:txBody>
          <a:bodyPr wrap="square" lIns="25400" tIns="25400" rIns="25400" bIns="25400" rtlCol="0" anchor="t">
            <a:normAutofit fontScale="92500"/>
          </a:bodyPr>
          <a:lstStyle/>
          <a:p>
            <a:pPr marL="0" indent="0" algn="l">
              <a:buNone/>
            </a:pPr>
            <a:r>
              <a:rPr lang="en-US" sz="3150" b="1" dirty="0">
                <a:solidFill>
                  <a:srgbClr val="1C3F7F"/>
                </a:solidFill>
                <a:latin typeface="Arial" pitchFamily="34" charset="0"/>
                <a:ea typeface="Arial" pitchFamily="34" charset="-122"/>
                <a:cs typeface="Arial" pitchFamily="34" charset="-120"/>
              </a:rPr>
              <a:t>Seguro</a:t>
            </a:r>
            <a:endParaRPr lang="en-US" sz="3150" dirty="0"/>
          </a:p>
        </p:txBody>
      </p:sp>
      <p:sp>
        <p:nvSpPr>
          <p:cNvPr id="14" name="Shape 12"/>
          <p:cNvSpPr/>
          <p:nvPr/>
        </p:nvSpPr>
        <p:spPr>
          <a:xfrm>
            <a:off x="9500860" y="5272088"/>
            <a:ext cx="2054126" cy="1143000"/>
          </a:xfrm>
          <a:prstGeom prst="roundRect">
            <a:avLst>
              <a:gd name="adj" fmla="val 13333"/>
            </a:avLst>
          </a:prstGeom>
          <a:ln w="28575">
            <a:solidFill>
              <a:srgbClr val="1C3F7F"/>
            </a:solidFill>
            <a:prstDash val="solid"/>
          </a:ln>
        </p:spPr>
        <p:txBody>
          <a:bodyPr/>
          <a:lstStyle/>
          <a:p>
            <a:endParaRPr lang="es-ES_tradnl"/>
          </a:p>
        </p:txBody>
      </p:sp>
      <p:sp>
        <p:nvSpPr>
          <p:cNvPr id="15" name="Text 13"/>
          <p:cNvSpPr/>
          <p:nvPr/>
        </p:nvSpPr>
        <p:spPr>
          <a:xfrm>
            <a:off x="9929485" y="5605463"/>
            <a:ext cx="1273076" cy="514350"/>
          </a:xfrm>
          <a:prstGeom prst="rect">
            <a:avLst/>
          </a:prstGeom>
          <a:noFill/>
          <a:ln/>
        </p:spPr>
        <p:txBody>
          <a:bodyPr wrap="square" lIns="25400" tIns="25400" rIns="25400" bIns="25400" rtlCol="0" anchor="t">
            <a:normAutofit fontScale="92500"/>
          </a:bodyPr>
          <a:lstStyle/>
          <a:p>
            <a:pPr marL="0" indent="0" algn="l">
              <a:buNone/>
            </a:pPr>
            <a:r>
              <a:rPr lang="en-US" sz="3150" b="1" dirty="0">
                <a:solidFill>
                  <a:srgbClr val="1C3F7F"/>
                </a:solidFill>
                <a:latin typeface="Arial" pitchFamily="34" charset="0"/>
                <a:ea typeface="Arial" pitchFamily="34" charset="-122"/>
                <a:cs typeface="Arial" pitchFamily="34" charset="-120"/>
              </a:rPr>
              <a:t>Actual</a:t>
            </a:r>
            <a:endParaRPr lang="en-US" sz="3150" dirty="0"/>
          </a:p>
        </p:txBody>
      </p:sp>
      <p:sp>
        <p:nvSpPr>
          <p:cNvPr id="16" name="Shape 14"/>
          <p:cNvSpPr/>
          <p:nvPr/>
        </p:nvSpPr>
        <p:spPr>
          <a:xfrm>
            <a:off x="14180612" y="5272088"/>
            <a:ext cx="2932212" cy="1143000"/>
          </a:xfrm>
          <a:prstGeom prst="roundRect">
            <a:avLst>
              <a:gd name="adj" fmla="val 13333"/>
            </a:avLst>
          </a:prstGeom>
          <a:ln w="28575">
            <a:solidFill>
              <a:srgbClr val="1C3F7F"/>
            </a:solidFill>
            <a:prstDash val="solid"/>
          </a:ln>
        </p:spPr>
        <p:txBody>
          <a:bodyPr/>
          <a:lstStyle/>
          <a:p>
            <a:endParaRPr lang="es-ES_tradnl"/>
          </a:p>
        </p:txBody>
      </p:sp>
      <p:sp>
        <p:nvSpPr>
          <p:cNvPr id="17" name="Text 15"/>
          <p:cNvSpPr/>
          <p:nvPr/>
        </p:nvSpPr>
        <p:spPr>
          <a:xfrm>
            <a:off x="14609237" y="5605463"/>
            <a:ext cx="2162928" cy="514350"/>
          </a:xfrm>
          <a:prstGeom prst="rect">
            <a:avLst/>
          </a:prstGeom>
          <a:noFill/>
          <a:ln/>
        </p:spPr>
        <p:txBody>
          <a:bodyPr wrap="square" lIns="25400" tIns="25400" rIns="25400" bIns="25400" rtlCol="0" anchor="t">
            <a:normAutofit fontScale="92500"/>
          </a:bodyPr>
          <a:lstStyle/>
          <a:p>
            <a:pPr marL="0" indent="0" algn="l">
              <a:buNone/>
            </a:pPr>
            <a:r>
              <a:rPr lang="en-US" sz="3150" b="1" dirty="0">
                <a:solidFill>
                  <a:srgbClr val="1C3F7F"/>
                </a:solidFill>
                <a:latin typeface="Arial" pitchFamily="34" charset="0"/>
                <a:ea typeface="Arial" pitchFamily="34" charset="-122"/>
                <a:cs typeface="Arial" pitchFamily="34" charset="-120"/>
              </a:rPr>
              <a:t>Gobernado</a:t>
            </a:r>
            <a:endParaRPr lang="en-US" sz="3150" dirty="0"/>
          </a:p>
        </p:txBody>
      </p:sp>
      <p:sp>
        <p:nvSpPr>
          <p:cNvPr id="18" name="Text 16"/>
          <p:cNvSpPr/>
          <p:nvPr/>
        </p:nvSpPr>
        <p:spPr>
          <a:xfrm>
            <a:off x="3438971" y="6986588"/>
            <a:ext cx="12551063" cy="37147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8A93A6"/>
                </a:solidFill>
                <a:latin typeface="Arial" pitchFamily="34" charset="0"/>
                <a:ea typeface="Arial" pitchFamily="34" charset="-122"/>
                <a:cs typeface="Arial" pitchFamily="34" charset="-120"/>
              </a:rPr>
              <a:t>Ninguna es una propiedad del modelo. Las cinco son propiedades de tu arquitectura de datos.</a:t>
            </a:r>
            <a:endParaRPr lang="en-US" sz="2250" dirty="0"/>
          </a:p>
        </p:txBody>
      </p:sp>
      <p:sp>
        <p:nvSpPr>
          <p:cNvPr id="19" name="Shape 12">
            <a:extLst>
              <a:ext uri="{FF2B5EF4-FFF2-40B4-BE49-F238E27FC236}">
                <a16:creationId xmlns:a16="http://schemas.microsoft.com/office/drawing/2014/main" id="{3CFDCF3F-A1EB-7E56-2080-D37ACD3C1832}"/>
              </a:ext>
            </a:extLst>
          </p:cNvPr>
          <p:cNvSpPr/>
          <p:nvPr/>
        </p:nvSpPr>
        <p:spPr>
          <a:xfrm>
            <a:off x="11840736" y="5272088"/>
            <a:ext cx="2054126" cy="1143000"/>
          </a:xfrm>
          <a:prstGeom prst="roundRect">
            <a:avLst>
              <a:gd name="adj" fmla="val 13333"/>
            </a:avLst>
          </a:prstGeom>
          <a:ln w="28575">
            <a:solidFill>
              <a:srgbClr val="1C3F7F"/>
            </a:solidFill>
            <a:prstDash val="solid"/>
          </a:ln>
        </p:spPr>
        <p:txBody>
          <a:bodyPr/>
          <a:lstStyle/>
          <a:p>
            <a:endParaRPr lang="es-ES_tradnl"/>
          </a:p>
        </p:txBody>
      </p:sp>
      <p:sp>
        <p:nvSpPr>
          <p:cNvPr id="20" name="Text 13">
            <a:extLst>
              <a:ext uri="{FF2B5EF4-FFF2-40B4-BE49-F238E27FC236}">
                <a16:creationId xmlns:a16="http://schemas.microsoft.com/office/drawing/2014/main" id="{30F32E67-F62E-1CBD-E143-F99AF7DF8821}"/>
              </a:ext>
            </a:extLst>
          </p:cNvPr>
          <p:cNvSpPr/>
          <p:nvPr/>
        </p:nvSpPr>
        <p:spPr>
          <a:xfrm>
            <a:off x="11996737" y="5727033"/>
            <a:ext cx="1789688" cy="514350"/>
          </a:xfrm>
          <a:prstGeom prst="rect">
            <a:avLst/>
          </a:prstGeom>
          <a:noFill/>
          <a:ln/>
        </p:spPr>
        <p:txBody>
          <a:bodyPr wrap="square" lIns="25400" tIns="25400" rIns="25400" bIns="25400" rtlCol="0" anchor="t">
            <a:normAutofit fontScale="77500" lnSpcReduction="20000"/>
          </a:bodyPr>
          <a:lstStyle/>
          <a:p>
            <a:pPr marL="0" indent="0" algn="ctr">
              <a:buNone/>
            </a:pPr>
            <a:r>
              <a:rPr lang="en-US" sz="3150" b="1" dirty="0" err="1">
                <a:solidFill>
                  <a:srgbClr val="1C3F7F"/>
                </a:solidFill>
                <a:latin typeface="Arial" pitchFamily="34" charset="0"/>
                <a:ea typeface="Arial" pitchFamily="34" charset="-122"/>
                <a:cs typeface="Arial" pitchFamily="34" charset="-120"/>
              </a:rPr>
              <a:t>Entendible</a:t>
            </a:r>
            <a:endParaRPr lang="en-US" sz="3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1">
    <p:bg>
      <p:bgPr>
        <a:solidFill>
          <a:srgbClr val="1C3F7F"/>
        </a:solidFill>
        <a:effectLst/>
      </p:bgPr>
    </p:bg>
    <p:spTree>
      <p:nvGrpSpPr>
        <p:cNvPr id="1" name=""/>
        <p:cNvGrpSpPr/>
        <p:nvPr/>
      </p:nvGrpSpPr>
      <p:grpSpPr>
        <a:xfrm>
          <a:off x="0" y="0"/>
          <a:ext cx="0" cy="0"/>
          <a:chOff x="0" y="0"/>
          <a:chExt cx="0" cy="0"/>
        </a:xfrm>
      </p:grpSpPr>
      <p:sp>
        <p:nvSpPr>
          <p:cNvPr id="2" name="Text 0"/>
          <p:cNvSpPr/>
          <p:nvPr/>
        </p:nvSpPr>
        <p:spPr>
          <a:xfrm>
            <a:off x="13894862" y="4191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FFFFFF"/>
                </a:solidFill>
                <a:latin typeface="Arial" pitchFamily="34" charset="0"/>
                <a:ea typeface="Arial" pitchFamily="34" charset="-122"/>
                <a:cs typeface="Arial" pitchFamily="34" charset="-120"/>
              </a:rPr>
              <a:t>FEN · Universidad de Chile</a:t>
            </a:r>
            <a:endParaRPr lang="en-US" sz="1800" dirty="0"/>
          </a:p>
        </p:txBody>
      </p:sp>
      <p:sp>
        <p:nvSpPr>
          <p:cNvPr id="3" name="Text 1"/>
          <p:cNvSpPr/>
          <p:nvPr/>
        </p:nvSpPr>
        <p:spPr>
          <a:xfrm>
            <a:off x="13894862" y="7276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FFFFFF">
                    <a:alpha val="55000"/>
                  </a:srgbClr>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6199495" y="4613970"/>
            <a:ext cx="5889010" cy="1001911"/>
          </a:xfrm>
          <a:prstGeom prst="rect">
            <a:avLst/>
          </a:prstGeom>
          <a:noFill/>
          <a:ln/>
        </p:spPr>
        <p:txBody>
          <a:bodyPr wrap="square" lIns="25400" tIns="25400" rIns="25400" bIns="25400" rtlCol="0" anchor="t">
            <a:normAutofit lnSpcReduction="10000"/>
          </a:bodyPr>
          <a:lstStyle/>
          <a:p>
            <a:pPr marL="0" indent="0" algn="ctr">
              <a:lnSpc>
                <a:spcPct val="99216"/>
              </a:lnSpc>
              <a:buNone/>
            </a:pPr>
            <a:r>
              <a:rPr lang="en-US" sz="6600" b="1" dirty="0">
                <a:solidFill>
                  <a:srgbClr val="FFFFFF"/>
                </a:solidFill>
                <a:latin typeface="Arial" pitchFamily="34" charset="0"/>
                <a:ea typeface="Arial" pitchFamily="34" charset="-122"/>
                <a:cs typeface="Arial" pitchFamily="34" charset="-120"/>
              </a:rPr>
              <a:t>“Temas clave”</a:t>
            </a:r>
            <a:endParaRPr lang="en-US" sz="6600" dirty="0"/>
          </a:p>
        </p:txBody>
      </p:sp>
      <p:sp>
        <p:nvSpPr>
          <p:cNvPr id="6" name="Text 4"/>
          <p:cNvSpPr/>
          <p:nvPr/>
        </p:nvSpPr>
        <p:spPr>
          <a:xfrm>
            <a:off x="5714702" y="5958780"/>
            <a:ext cx="7544455" cy="342900"/>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FFFFFF">
                    <a:alpha val="60000"/>
                  </a:srgbClr>
                </a:solidFill>
                <a:latin typeface="Arial" pitchFamily="34" charset="0"/>
                <a:ea typeface="Arial" pitchFamily="34" charset="-122"/>
                <a:cs typeface="Arial" pitchFamily="34" charset="-120"/>
              </a:rPr>
              <a:t>AI Engineer World's Fair 2026 · San Francisco · 500+ sesiones</a:t>
            </a:r>
            <a:endParaRPr lang="en-US" sz="20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Gobernanza y regulación</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Tokenomics</a:t>
            </a:r>
            <a:endParaRPr lang="en-US" sz="4200" dirty="0"/>
          </a:p>
        </p:txBody>
      </p:sp>
      <p:pic>
        <p:nvPicPr>
          <p:cNvPr id="7" name="Image 0" descr="preencoded.png"/>
          <p:cNvPicPr>
            <a:picLocks noChangeAspect="1"/>
          </p:cNvPicPr>
          <p:nvPr/>
        </p:nvPicPr>
        <p:blipFill>
          <a:blip r:embed="rId3"/>
          <a:stretch>
            <a:fillRect/>
          </a:stretch>
        </p:blipFill>
        <p:spPr>
          <a:xfrm>
            <a:off x="1238250" y="2395984"/>
            <a:ext cx="15811500" cy="688553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Temas clave · AI Engineer World's Fair 2026</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Tu modelo de datos es </a:t>
            </a:r>
            <a:r>
              <a:rPr lang="en-US" sz="4200" b="1" kern="0" spc="-37" dirty="0" err="1">
                <a:solidFill>
                  <a:srgbClr val="1C3F7F"/>
                </a:solidFill>
                <a:latin typeface="Arial" pitchFamily="34" charset="0"/>
                <a:ea typeface="Arial" pitchFamily="34" charset="-122"/>
                <a:cs typeface="Arial" pitchFamily="34" charset="-120"/>
              </a:rPr>
              <a:t>tu</a:t>
            </a:r>
            <a:r>
              <a:rPr lang="en-US" sz="4200" b="1" kern="0" spc="-37" dirty="0">
                <a:solidFill>
                  <a:srgbClr val="1C3F7F"/>
                </a:solidFill>
                <a:latin typeface="Arial" pitchFamily="34" charset="0"/>
                <a:ea typeface="Arial" pitchFamily="34" charset="-122"/>
                <a:cs typeface="Arial" pitchFamily="34" charset="-120"/>
              </a:rPr>
              <a:t> principal </a:t>
            </a:r>
            <a:r>
              <a:rPr lang="en-US" sz="4200" b="1" kern="0" spc="-37" dirty="0" err="1">
                <a:solidFill>
                  <a:srgbClr val="1C3F7F"/>
                </a:solidFill>
                <a:latin typeface="Arial" pitchFamily="34" charset="0"/>
                <a:ea typeface="Arial" pitchFamily="34" charset="-122"/>
                <a:cs typeface="Arial" pitchFamily="34" charset="-120"/>
              </a:rPr>
              <a:t>diferenciador</a:t>
            </a:r>
            <a:endParaRPr lang="en-US" sz="4200" dirty="0"/>
          </a:p>
        </p:txBody>
      </p:sp>
      <p:sp>
        <p:nvSpPr>
          <p:cNvPr id="7" name="Text 5"/>
          <p:cNvSpPr/>
          <p:nvPr/>
        </p:nvSpPr>
        <p:spPr>
          <a:xfrm>
            <a:off x="952500" y="2190750"/>
            <a:ext cx="7995761" cy="11565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2025" b="1" dirty="0">
                <a:solidFill>
                  <a:srgbClr val="1C3F7F"/>
                </a:solidFill>
                <a:latin typeface="Arial" pitchFamily="34" charset="0"/>
                <a:ea typeface="Arial" pitchFamily="34" charset="-122"/>
                <a:cs typeface="Arial" pitchFamily="34" charset="-120"/>
              </a:rPr>
              <a:t>La capa semántica como activo defendible. </a:t>
            </a:r>
            <a:r>
              <a:rPr lang="en-US" sz="2025" dirty="0">
                <a:solidFill>
                  <a:srgbClr val="374151"/>
                </a:solidFill>
                <a:latin typeface="Arial" pitchFamily="34" charset="0"/>
                <a:ea typeface="Arial" pitchFamily="34" charset="-122"/>
                <a:cs typeface="Arial" pitchFamily="34" charset="-120"/>
              </a:rPr>
              <a:t>Ninguna versión nueva de un modelo te la quita: codifica conocimiento tácito de tu organización.</a:t>
            </a:r>
            <a:endParaRPr lang="en-US" sz="2025" dirty="0"/>
          </a:p>
        </p:txBody>
      </p:sp>
      <p:sp>
        <p:nvSpPr>
          <p:cNvPr id="8" name="Text 6"/>
          <p:cNvSpPr/>
          <p:nvPr/>
        </p:nvSpPr>
        <p:spPr>
          <a:xfrm>
            <a:off x="9572625" y="2190750"/>
            <a:ext cx="7995761" cy="11565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2025" b="1" dirty="0">
                <a:solidFill>
                  <a:srgbClr val="1C3F7F"/>
                </a:solidFill>
                <a:latin typeface="Arial" pitchFamily="34" charset="0"/>
                <a:ea typeface="Arial" pitchFamily="34" charset="-122"/>
                <a:cs typeface="Arial" pitchFamily="34" charset="-120"/>
              </a:rPr>
              <a:t>Gates Foundation. </a:t>
            </a:r>
            <a:r>
              <a:rPr lang="en-US" sz="2025" dirty="0">
                <a:solidFill>
                  <a:srgbClr val="374151"/>
                </a:solidFill>
                <a:latin typeface="Arial" pitchFamily="34" charset="0"/>
                <a:ea typeface="Arial" pitchFamily="34" charset="-122"/>
                <a:cs typeface="Arial" pitchFamily="34" charset="-120"/>
              </a:rPr>
              <a:t>Un grafo semántico que cruza personas, presupuesto, documentos y organización sobre cuatro sistemas de origen.</a:t>
            </a:r>
            <a:endParaRPr lang="en-US" sz="2025" dirty="0"/>
          </a:p>
        </p:txBody>
      </p:sp>
      <p:sp>
        <p:nvSpPr>
          <p:cNvPr id="9" name="Text 7"/>
          <p:cNvSpPr/>
          <p:nvPr/>
        </p:nvSpPr>
        <p:spPr>
          <a:xfrm>
            <a:off x="952500" y="3728293"/>
            <a:ext cx="7995761" cy="11565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2025" b="1" dirty="0">
                <a:solidFill>
                  <a:srgbClr val="1C3F7F"/>
                </a:solidFill>
                <a:latin typeface="Arial" pitchFamily="34" charset="0"/>
                <a:ea typeface="Arial" pitchFamily="34" charset="-122"/>
                <a:cs typeface="Arial" pitchFamily="34" charset="-120"/>
              </a:rPr>
              <a:t>Neo4j. </a:t>
            </a:r>
            <a:r>
              <a:rPr lang="en-US" sz="2025" dirty="0">
                <a:solidFill>
                  <a:srgbClr val="374151"/>
                </a:solidFill>
                <a:latin typeface="Arial" pitchFamily="34" charset="0"/>
                <a:ea typeface="Arial" pitchFamily="34" charset="-122"/>
                <a:cs typeface="Arial" pitchFamily="34" charset="-120"/>
              </a:rPr>
              <a:t>Ontología de negocio + ontología técnica + trazas de ejecución. Los agentes se vuelven colectivamente más inteligentes al compartir la ontología (DRY).</a:t>
            </a:r>
            <a:endParaRPr lang="en-US" sz="2025" dirty="0"/>
          </a:p>
        </p:txBody>
      </p:sp>
      <p:sp>
        <p:nvSpPr>
          <p:cNvPr id="10" name="Text 8"/>
          <p:cNvSpPr/>
          <p:nvPr/>
        </p:nvSpPr>
        <p:spPr>
          <a:xfrm>
            <a:off x="9572625" y="3728293"/>
            <a:ext cx="7995761" cy="11565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2025" b="1" dirty="0">
                <a:solidFill>
                  <a:srgbClr val="1C3F7F"/>
                </a:solidFill>
                <a:latin typeface="Arial" pitchFamily="34" charset="0"/>
                <a:ea typeface="Arial" pitchFamily="34" charset="-122"/>
                <a:cs typeface="Arial" pitchFamily="34" charset="-120"/>
              </a:rPr>
              <a:t>Berkeley, neurosimbólico. </a:t>
            </a:r>
            <a:r>
              <a:rPr lang="en-US" sz="2025" dirty="0">
                <a:solidFill>
                  <a:srgbClr val="374151"/>
                </a:solidFill>
                <a:latin typeface="Arial" pitchFamily="34" charset="0"/>
                <a:ea typeface="Arial" pitchFamily="34" charset="-122"/>
                <a:cs typeface="Arial" pitchFamily="34" charset="-120"/>
              </a:rPr>
              <a:t>El agente propone, la ontología permite. La alucinación necesita barandas, no eliminación: validar la forma a la entrada, las reglas de dominio después de ejecutar.</a:t>
            </a:r>
            <a:endParaRPr lang="en-US" sz="2025" dirty="0"/>
          </a:p>
        </p:txBody>
      </p:sp>
      <p:sp>
        <p:nvSpPr>
          <p:cNvPr id="11" name="Text 9"/>
          <p:cNvSpPr/>
          <p:nvPr/>
        </p:nvSpPr>
        <p:spPr>
          <a:xfrm>
            <a:off x="952500" y="5265837"/>
            <a:ext cx="7995761" cy="11565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2025" b="1" dirty="0">
                <a:solidFill>
                  <a:srgbClr val="1C3F7F"/>
                </a:solidFill>
                <a:latin typeface="Arial" pitchFamily="34" charset="0"/>
                <a:ea typeface="Arial" pitchFamily="34" charset="-122"/>
                <a:cs typeface="Arial" pitchFamily="34" charset="-120"/>
              </a:rPr>
              <a:t>El contexto viene en formas, no en queries. </a:t>
            </a:r>
            <a:r>
              <a:rPr lang="en-US" sz="2025" dirty="0">
                <a:solidFill>
                  <a:srgbClr val="374151"/>
                </a:solidFill>
                <a:latin typeface="Arial" pitchFamily="34" charset="0"/>
                <a:ea typeface="Arial" pitchFamily="34" charset="-122"/>
                <a:cs typeface="Arial" pitchFamily="34" charset="-120"/>
              </a:rPr>
              <a:t>Recorridos de árbol, búsqueda de texto completo, grafos de conexiones. La búsqueda vectorial sola no alcanza.</a:t>
            </a:r>
            <a:endParaRPr lang="en-US" sz="2025" dirty="0"/>
          </a:p>
        </p:txBody>
      </p:sp>
      <p:sp>
        <p:nvSpPr>
          <p:cNvPr id="12" name="Text 10"/>
          <p:cNvSpPr/>
          <p:nvPr/>
        </p:nvSpPr>
        <p:spPr>
          <a:xfrm>
            <a:off x="9572625" y="5265837"/>
            <a:ext cx="7995761" cy="11565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2025" b="1" dirty="0">
                <a:solidFill>
                  <a:srgbClr val="1C3F7F"/>
                </a:solidFill>
                <a:latin typeface="Arial" pitchFamily="34" charset="0"/>
                <a:ea typeface="Arial" pitchFamily="34" charset="-122"/>
                <a:cs typeface="Arial" pitchFamily="34" charset="-120"/>
              </a:rPr>
              <a:t>Por qué los agentes de código fallan en stacks de datos. </a:t>
            </a:r>
            <a:r>
              <a:rPr lang="en-US" sz="2025" dirty="0">
                <a:solidFill>
                  <a:srgbClr val="374151"/>
                </a:solidFill>
                <a:latin typeface="Arial" pitchFamily="34" charset="0"/>
                <a:ea typeface="Arial" pitchFamily="34" charset="-122"/>
                <a:cs typeface="Arial" pitchFamily="34" charset="-120"/>
              </a:rPr>
              <a:t>Les faltan cuatro hechos: granularidad, seguridad de los joins, semántica de las métricas, dependencias.</a:t>
            </a:r>
            <a:endParaRPr lang="en-US" sz="20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Temas clave · AI Engineer World's Fair 2026</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MCPs, CLIs y Skills: cuándo cada uno</a:t>
            </a:r>
            <a:endParaRPr lang="en-US" sz="4200" dirty="0"/>
          </a:p>
        </p:txBody>
      </p:sp>
      <p:sp>
        <p:nvSpPr>
          <p:cNvPr id="7" name="Shape 5"/>
          <p:cNvSpPr/>
          <p:nvPr/>
        </p:nvSpPr>
        <p:spPr>
          <a:xfrm>
            <a:off x="952500" y="3162300"/>
            <a:ext cx="16383000" cy="9525"/>
          </a:xfrm>
          <a:prstGeom prst="rect">
            <a:avLst/>
          </a:prstGeom>
          <a:solidFill>
            <a:srgbClr val="E2E6EE"/>
          </a:solidFill>
          <a:ln/>
        </p:spPr>
        <p:txBody>
          <a:bodyPr/>
          <a:lstStyle/>
          <a:p>
            <a:endParaRPr lang="es-ES_tradnl"/>
          </a:p>
        </p:txBody>
      </p:sp>
      <p:sp>
        <p:nvSpPr>
          <p:cNvPr id="8" name="Text 6"/>
          <p:cNvSpPr/>
          <p:nvPr/>
        </p:nvSpPr>
        <p:spPr>
          <a:xfrm>
            <a:off x="952500" y="2486025"/>
            <a:ext cx="5867400" cy="390525"/>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C3F7F"/>
                </a:solidFill>
                <a:latin typeface="Arial" pitchFamily="34" charset="0"/>
                <a:ea typeface="Arial" pitchFamily="34" charset="-122"/>
                <a:cs typeface="Arial" pitchFamily="34" charset="-120"/>
              </a:rPr>
              <a:t>¿Quién más necesita esto?</a:t>
            </a:r>
            <a:endParaRPr lang="en-US" sz="2325" dirty="0"/>
          </a:p>
        </p:txBody>
      </p:sp>
      <p:sp>
        <p:nvSpPr>
          <p:cNvPr id="9" name="Text 7"/>
          <p:cNvSpPr/>
          <p:nvPr/>
        </p:nvSpPr>
        <p:spPr>
          <a:xfrm>
            <a:off x="6858000" y="2476500"/>
            <a:ext cx="11525250" cy="438150"/>
          </a:xfrm>
          <a:prstGeom prst="rect">
            <a:avLst/>
          </a:prstGeom>
          <a:noFill/>
          <a:ln/>
        </p:spPr>
        <p:txBody>
          <a:bodyPr wrap="square" lIns="25400" tIns="25400" rIns="25400" bIns="25400" rtlCol="0" anchor="t">
            <a:normAutofit/>
          </a:bodyPr>
          <a:lstStyle/>
          <a:p>
            <a:pPr marL="0" indent="0" algn="l">
              <a:lnSpc>
                <a:spcPct val="131250"/>
              </a:lnSpc>
              <a:buNone/>
            </a:pPr>
            <a:r>
              <a:rPr lang="en-US" sz="2100" dirty="0">
                <a:solidFill>
                  <a:srgbClr val="374151"/>
                </a:solidFill>
                <a:latin typeface="Arial" pitchFamily="34" charset="0"/>
                <a:ea typeface="Arial" pitchFamily="34" charset="-122"/>
                <a:cs typeface="Arial" pitchFamily="34" charset="-120"/>
              </a:rPr>
              <a:t>solo este agente → </a:t>
            </a:r>
            <a:r>
              <a:rPr lang="en-US" sz="2100" b="1" dirty="0">
                <a:solidFill>
                  <a:srgbClr val="374151"/>
                </a:solidFill>
                <a:latin typeface="Arial" pitchFamily="34" charset="0"/>
                <a:ea typeface="Arial" pitchFamily="34" charset="-122"/>
                <a:cs typeface="Arial" pitchFamily="34" charset="-120"/>
              </a:rPr>
              <a:t>CLI </a:t>
            </a:r>
            <a:r>
              <a:rPr lang="en-US" sz="2100" dirty="0">
                <a:solidFill>
                  <a:srgbClr val="374151"/>
                </a:solidFill>
                <a:latin typeface="Arial" pitchFamily="34" charset="0"/>
                <a:ea typeface="Arial" pitchFamily="34" charset="-122"/>
                <a:cs typeface="Arial" pitchFamily="34" charset="-120"/>
              </a:rPr>
              <a:t>· varios agentes → </a:t>
            </a:r>
            <a:r>
              <a:rPr lang="en-US" sz="2100" b="1" dirty="0">
                <a:solidFill>
                  <a:srgbClr val="374151"/>
                </a:solidFill>
                <a:latin typeface="Arial" pitchFamily="34" charset="0"/>
                <a:ea typeface="Arial" pitchFamily="34" charset="-122"/>
                <a:cs typeface="Arial" pitchFamily="34" charset="-120"/>
              </a:rPr>
              <a:t>MCP </a:t>
            </a:r>
            <a:r>
              <a:rPr lang="en-US" sz="2100" dirty="0">
                <a:solidFill>
                  <a:srgbClr val="374151"/>
                </a:solidFill>
                <a:latin typeface="Arial" pitchFamily="34" charset="0"/>
                <a:ea typeface="Arial" pitchFamily="34" charset="-122"/>
                <a:cs typeface="Arial" pitchFamily="34" charset="-120"/>
              </a:rPr>
              <a:t>· un procedimiento compartido → </a:t>
            </a:r>
            <a:r>
              <a:rPr lang="en-US" sz="2100" b="1" dirty="0">
                <a:solidFill>
                  <a:srgbClr val="374151"/>
                </a:solidFill>
                <a:latin typeface="Arial" pitchFamily="34" charset="0"/>
                <a:ea typeface="Arial" pitchFamily="34" charset="-122"/>
                <a:cs typeface="Arial" pitchFamily="34" charset="-120"/>
              </a:rPr>
              <a:t>Skill</a:t>
            </a:r>
            <a:endParaRPr lang="en-US" sz="2100" dirty="0"/>
          </a:p>
        </p:txBody>
      </p:sp>
      <p:sp>
        <p:nvSpPr>
          <p:cNvPr id="10" name="Shape 8"/>
          <p:cNvSpPr/>
          <p:nvPr/>
        </p:nvSpPr>
        <p:spPr>
          <a:xfrm>
            <a:off x="952500" y="4457700"/>
            <a:ext cx="16383000" cy="9525"/>
          </a:xfrm>
          <a:prstGeom prst="rect">
            <a:avLst/>
          </a:prstGeom>
          <a:solidFill>
            <a:srgbClr val="E2E6EE"/>
          </a:solidFill>
          <a:ln/>
        </p:spPr>
        <p:txBody>
          <a:bodyPr/>
          <a:lstStyle/>
          <a:p>
            <a:endParaRPr lang="es-ES_tradnl"/>
          </a:p>
        </p:txBody>
      </p:sp>
      <p:sp>
        <p:nvSpPr>
          <p:cNvPr id="11" name="Text 9"/>
          <p:cNvSpPr/>
          <p:nvPr/>
        </p:nvSpPr>
        <p:spPr>
          <a:xfrm>
            <a:off x="952500" y="3467100"/>
            <a:ext cx="5494020" cy="74295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C3F7F"/>
                </a:solidFill>
                <a:latin typeface="Arial" pitchFamily="34" charset="0"/>
                <a:ea typeface="Arial" pitchFamily="34" charset="-122"/>
                <a:cs typeface="Arial" pitchFamily="34" charset="-120"/>
              </a:rPr>
              <a:t>¿Cuál es el modo de falla más apretado?</a:t>
            </a:r>
            <a:endParaRPr lang="en-US" sz="2325" dirty="0"/>
          </a:p>
        </p:txBody>
      </p:sp>
      <p:sp>
        <p:nvSpPr>
          <p:cNvPr id="12" name="Text 10"/>
          <p:cNvSpPr/>
          <p:nvPr/>
        </p:nvSpPr>
        <p:spPr>
          <a:xfrm>
            <a:off x="6858000" y="3457575"/>
            <a:ext cx="11525250" cy="438150"/>
          </a:xfrm>
          <a:prstGeom prst="rect">
            <a:avLst/>
          </a:prstGeom>
          <a:noFill/>
          <a:ln/>
        </p:spPr>
        <p:txBody>
          <a:bodyPr wrap="square" lIns="25400" tIns="25400" rIns="25400" bIns="25400" rtlCol="0" anchor="t">
            <a:normAutofit/>
          </a:bodyPr>
          <a:lstStyle/>
          <a:p>
            <a:pPr marL="0" indent="0" algn="l">
              <a:lnSpc>
                <a:spcPct val="131250"/>
              </a:lnSpc>
              <a:buNone/>
            </a:pPr>
            <a:r>
              <a:rPr lang="en-US" sz="2100" dirty="0">
                <a:solidFill>
                  <a:srgbClr val="374151"/>
                </a:solidFill>
                <a:latin typeface="Arial" pitchFamily="34" charset="0"/>
                <a:ea typeface="Arial" pitchFamily="34" charset="-122"/>
                <a:cs typeface="Arial" pitchFamily="34" charset="-120"/>
              </a:rPr>
              <a:t>transparencia → </a:t>
            </a:r>
            <a:r>
              <a:rPr lang="en-US" sz="2100" b="1" dirty="0">
                <a:solidFill>
                  <a:srgbClr val="374151"/>
                </a:solidFill>
                <a:latin typeface="Arial" pitchFamily="34" charset="0"/>
                <a:ea typeface="Arial" pitchFamily="34" charset="-122"/>
                <a:cs typeface="Arial" pitchFamily="34" charset="-120"/>
              </a:rPr>
              <a:t>CLI </a:t>
            </a:r>
            <a:r>
              <a:rPr lang="en-US" sz="2100" dirty="0">
                <a:solidFill>
                  <a:srgbClr val="374151"/>
                </a:solidFill>
                <a:latin typeface="Arial" pitchFamily="34" charset="0"/>
                <a:ea typeface="Arial" pitchFamily="34" charset="-122"/>
                <a:cs typeface="Arial" pitchFamily="34" charset="-120"/>
              </a:rPr>
              <a:t>· aislamiento de inquilinos → </a:t>
            </a:r>
            <a:r>
              <a:rPr lang="en-US" sz="2100" b="1" dirty="0">
                <a:solidFill>
                  <a:srgbClr val="374151"/>
                </a:solidFill>
                <a:latin typeface="Arial" pitchFamily="34" charset="0"/>
                <a:ea typeface="Arial" pitchFamily="34" charset="-122"/>
                <a:cs typeface="Arial" pitchFamily="34" charset="-120"/>
              </a:rPr>
              <a:t>MCP </a:t>
            </a:r>
            <a:r>
              <a:rPr lang="en-US" sz="2100" dirty="0">
                <a:solidFill>
                  <a:srgbClr val="374151"/>
                </a:solidFill>
                <a:latin typeface="Arial" pitchFamily="34" charset="0"/>
                <a:ea typeface="Arial" pitchFamily="34" charset="-122"/>
                <a:cs typeface="Arial" pitchFamily="34" charset="-120"/>
              </a:rPr>
              <a:t>· secuenciamiento → </a:t>
            </a:r>
            <a:r>
              <a:rPr lang="en-US" sz="2100" b="1" dirty="0">
                <a:solidFill>
                  <a:srgbClr val="374151"/>
                </a:solidFill>
                <a:latin typeface="Arial" pitchFamily="34" charset="0"/>
                <a:ea typeface="Arial" pitchFamily="34" charset="-122"/>
                <a:cs typeface="Arial" pitchFamily="34" charset="-120"/>
              </a:rPr>
              <a:t>Skill</a:t>
            </a:r>
            <a:endParaRPr lang="en-US" sz="2100" dirty="0"/>
          </a:p>
        </p:txBody>
      </p:sp>
      <p:sp>
        <p:nvSpPr>
          <p:cNvPr id="13" name="Shape 11"/>
          <p:cNvSpPr/>
          <p:nvPr/>
        </p:nvSpPr>
        <p:spPr>
          <a:xfrm>
            <a:off x="952500" y="5753100"/>
            <a:ext cx="16383000" cy="9525"/>
          </a:xfrm>
          <a:prstGeom prst="rect">
            <a:avLst/>
          </a:prstGeom>
          <a:solidFill>
            <a:srgbClr val="E2E6EE"/>
          </a:solidFill>
          <a:ln/>
        </p:spPr>
        <p:txBody>
          <a:bodyPr/>
          <a:lstStyle/>
          <a:p>
            <a:endParaRPr lang="es-ES_tradnl"/>
          </a:p>
        </p:txBody>
      </p:sp>
      <p:sp>
        <p:nvSpPr>
          <p:cNvPr id="14" name="Text 12"/>
          <p:cNvSpPr/>
          <p:nvPr/>
        </p:nvSpPr>
        <p:spPr>
          <a:xfrm>
            <a:off x="952500" y="4762500"/>
            <a:ext cx="5494020" cy="74295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C3F7F"/>
                </a:solidFill>
                <a:latin typeface="Arial" pitchFamily="34" charset="0"/>
                <a:ea typeface="Arial" pitchFamily="34" charset="-122"/>
                <a:cs typeface="Arial" pitchFamily="34" charset="-120"/>
              </a:rPr>
              <a:t>¿Cómo está el presupuesto de contexto?</a:t>
            </a:r>
            <a:endParaRPr lang="en-US" sz="2325" dirty="0"/>
          </a:p>
        </p:txBody>
      </p:sp>
      <p:sp>
        <p:nvSpPr>
          <p:cNvPr id="15" name="Text 13"/>
          <p:cNvSpPr/>
          <p:nvPr/>
        </p:nvSpPr>
        <p:spPr>
          <a:xfrm>
            <a:off x="6858000" y="4752975"/>
            <a:ext cx="11525250" cy="438150"/>
          </a:xfrm>
          <a:prstGeom prst="rect">
            <a:avLst/>
          </a:prstGeom>
          <a:noFill/>
          <a:ln/>
        </p:spPr>
        <p:txBody>
          <a:bodyPr wrap="square" lIns="25400" tIns="25400" rIns="25400" bIns="25400" rtlCol="0" anchor="t">
            <a:normAutofit/>
          </a:bodyPr>
          <a:lstStyle/>
          <a:p>
            <a:pPr marL="0" indent="0" algn="l">
              <a:lnSpc>
                <a:spcPct val="131250"/>
              </a:lnSpc>
              <a:buNone/>
            </a:pPr>
            <a:r>
              <a:rPr lang="en-US" sz="2100" dirty="0">
                <a:solidFill>
                  <a:srgbClr val="374151"/>
                </a:solidFill>
                <a:latin typeface="Arial" pitchFamily="34" charset="0"/>
                <a:ea typeface="Arial" pitchFamily="34" charset="-122"/>
                <a:cs typeface="Arial" pitchFamily="34" charset="-120"/>
              </a:rPr>
              <a:t>apretado → </a:t>
            </a:r>
            <a:r>
              <a:rPr lang="en-US" sz="2100" b="1" dirty="0">
                <a:solidFill>
                  <a:srgbClr val="374151"/>
                </a:solidFill>
                <a:latin typeface="Arial" pitchFamily="34" charset="0"/>
                <a:ea typeface="Arial" pitchFamily="34" charset="-122"/>
                <a:cs typeface="Arial" pitchFamily="34" charset="-120"/>
              </a:rPr>
              <a:t>Skills</a:t>
            </a:r>
            <a:r>
              <a:rPr lang="en-US" sz="2100" dirty="0">
                <a:solidFill>
                  <a:srgbClr val="374151"/>
                </a:solidFill>
                <a:latin typeface="Arial" pitchFamily="34" charset="0"/>
                <a:ea typeface="Arial" pitchFamily="34" charset="-122"/>
                <a:cs typeface="Arial" pitchFamily="34" charset="-120"/>
              </a:rPr>
              <a:t>, que cargan bajo demanda</a:t>
            </a:r>
            <a:endParaRPr lang="en-US" sz="2100" dirty="0"/>
          </a:p>
        </p:txBody>
      </p:sp>
      <p:sp>
        <p:nvSpPr>
          <p:cNvPr id="16" name="Text 14"/>
          <p:cNvSpPr/>
          <p:nvPr/>
        </p:nvSpPr>
        <p:spPr>
          <a:xfrm>
            <a:off x="952500" y="9196388"/>
            <a:ext cx="18021300"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b="1" dirty="0">
                <a:solidFill>
                  <a:srgbClr val="1C3F7F"/>
                </a:solidFill>
                <a:latin typeface="Arial" pitchFamily="34" charset="0"/>
                <a:ea typeface="Arial" pitchFamily="34" charset="-122"/>
                <a:cs typeface="Arial" pitchFamily="34" charset="-120"/>
              </a:rPr>
              <a:t>Seguridad, transversal: </a:t>
            </a:r>
            <a:r>
              <a:rPr lang="en-US" sz="2025" dirty="0">
                <a:solidFill>
                  <a:srgbClr val="374151"/>
                </a:solidFill>
                <a:latin typeface="Arial" pitchFamily="34" charset="0"/>
                <a:ea typeface="Arial" pitchFamily="34" charset="-122"/>
                <a:cs typeface="Arial" pitchFamily="34" charset="-120"/>
              </a:rPr>
              <a:t>el agente nunca construye credenciales · aislamiento de inquilinos a nivel del servidor MCP · mínimo privilegio por tarea.</a:t>
            </a:r>
            <a:endParaRPr lang="en-US" sz="20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Temas clave · AI Engineer World's Fair 2026</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Evaluar y observar</a:t>
            </a:r>
            <a:endParaRPr lang="en-US" sz="4200" dirty="0"/>
          </a:p>
        </p:txBody>
      </p:sp>
      <p:sp>
        <p:nvSpPr>
          <p:cNvPr id="7" name="Text 5"/>
          <p:cNvSpPr/>
          <p:nvPr/>
        </p:nvSpPr>
        <p:spPr>
          <a:xfrm>
            <a:off x="952500" y="2811957"/>
            <a:ext cx="244673" cy="466725"/>
          </a:xfrm>
          <a:prstGeom prst="rect">
            <a:avLst/>
          </a:prstGeom>
          <a:noFill/>
          <a:ln/>
        </p:spPr>
        <p:txBody>
          <a:bodyPr wrap="square" lIns="25400" tIns="25400" rIns="25400" bIns="25400" rtlCol="0" anchor="t">
            <a:normAutofit/>
          </a:bodyPr>
          <a:lstStyle/>
          <a:p>
            <a:pPr marL="0" indent="0" algn="l">
              <a:lnSpc>
                <a:spcPct val="132353"/>
              </a:lnSpc>
              <a:buNone/>
            </a:pPr>
            <a:r>
              <a:rPr lang="en-US" sz="2250" b="1" dirty="0">
                <a:solidFill>
                  <a:srgbClr val="1C3F7F"/>
                </a:solidFill>
                <a:latin typeface="Arial" pitchFamily="34" charset="0"/>
                <a:ea typeface="Arial" pitchFamily="34" charset="-122"/>
                <a:cs typeface="Arial" pitchFamily="34" charset="-120"/>
              </a:rPr>
              <a:t>–</a:t>
            </a:r>
            <a:endParaRPr lang="en-US" sz="2250" dirty="0"/>
          </a:p>
        </p:txBody>
      </p:sp>
      <p:sp>
        <p:nvSpPr>
          <p:cNvPr id="8" name="Text 6"/>
          <p:cNvSpPr/>
          <p:nvPr/>
        </p:nvSpPr>
        <p:spPr>
          <a:xfrm>
            <a:off x="1333500" y="2859582"/>
            <a:ext cx="4391077" cy="371475"/>
          </a:xfrm>
          <a:prstGeom prst="rect">
            <a:avLst/>
          </a:prstGeom>
          <a:noFill/>
          <a:ln/>
        </p:spPr>
        <p:txBody>
          <a:bodyPr wrap="square" lIns="0" tIns="0" rIns="0" bIns="0" rtlCol="0" anchor="t">
            <a:normAutofit fontScale="92500" lnSpcReduction="10000"/>
          </a:bodyPr>
          <a:lstStyle/>
          <a:p>
            <a:pPr marL="0" indent="0" algn="l">
              <a:lnSpc>
                <a:spcPct val="132353"/>
              </a:lnSpc>
              <a:buNone/>
            </a:pPr>
            <a:r>
              <a:rPr lang="en-US" sz="2250" dirty="0">
                <a:solidFill>
                  <a:srgbClr val="374151"/>
                </a:solidFill>
                <a:latin typeface="Arial" pitchFamily="34" charset="0"/>
                <a:ea typeface="Arial" pitchFamily="34" charset="-122"/>
                <a:cs typeface="Arial" pitchFamily="34" charset="-120"/>
              </a:rPr>
              <a:t>Evaluar agentes es un problema de</a:t>
            </a:r>
            <a:endParaRPr lang="en-US" sz="2250" dirty="0"/>
          </a:p>
        </p:txBody>
      </p:sp>
      <p:sp>
        <p:nvSpPr>
          <p:cNvPr id="9" name="Text 7"/>
          <p:cNvSpPr/>
          <p:nvPr/>
        </p:nvSpPr>
        <p:spPr>
          <a:xfrm>
            <a:off x="5659041" y="2859582"/>
            <a:ext cx="2427669" cy="371475"/>
          </a:xfrm>
          <a:prstGeom prst="rect">
            <a:avLst/>
          </a:prstGeom>
          <a:noFill/>
          <a:ln/>
        </p:spPr>
        <p:txBody>
          <a:bodyPr wrap="square" lIns="25400" tIns="25400" rIns="25400" bIns="25400" rtlCol="0" anchor="t">
            <a:normAutofit fontScale="85000" lnSpcReduction="20000"/>
          </a:bodyPr>
          <a:lstStyle/>
          <a:p>
            <a:pPr marL="0" indent="0" algn="l">
              <a:lnSpc>
                <a:spcPct val="132353"/>
              </a:lnSpc>
              <a:buNone/>
            </a:pPr>
            <a:r>
              <a:rPr lang="en-US" sz="2250" b="1" dirty="0">
                <a:solidFill>
                  <a:srgbClr val="374151"/>
                </a:solidFill>
                <a:latin typeface="Arial" pitchFamily="34" charset="0"/>
                <a:ea typeface="Arial" pitchFamily="34" charset="-122"/>
                <a:cs typeface="Arial" pitchFamily="34" charset="-120"/>
              </a:rPr>
              <a:t>minería de datos</a:t>
            </a:r>
            <a:endParaRPr lang="en-US" sz="2250" dirty="0"/>
          </a:p>
        </p:txBody>
      </p:sp>
      <p:sp>
        <p:nvSpPr>
          <p:cNvPr id="10" name="Text 8"/>
          <p:cNvSpPr/>
          <p:nvPr/>
        </p:nvSpPr>
        <p:spPr>
          <a:xfrm>
            <a:off x="7661672" y="2835769"/>
            <a:ext cx="1608981" cy="371475"/>
          </a:xfrm>
          <a:prstGeom prst="rect">
            <a:avLst/>
          </a:prstGeom>
          <a:noFill/>
          <a:ln/>
        </p:spPr>
        <p:txBody>
          <a:bodyPr wrap="square" lIns="0" tIns="0" rIns="0" bIns="0" rtlCol="0" anchor="t">
            <a:normAutofit fontScale="92500" lnSpcReduction="10000"/>
          </a:bodyPr>
          <a:lstStyle/>
          <a:p>
            <a:pPr marL="0" indent="0" algn="l">
              <a:lnSpc>
                <a:spcPct val="132353"/>
              </a:lnSpc>
              <a:buNone/>
            </a:pPr>
            <a:r>
              <a:rPr lang="en-US" sz="2250" dirty="0">
                <a:solidFill>
                  <a:srgbClr val="374151"/>
                </a:solidFill>
                <a:latin typeface="Arial" pitchFamily="34" charset="0"/>
                <a:ea typeface="Arial" pitchFamily="34" charset="-122"/>
                <a:cs typeface="Arial" pitchFamily="34" charset="-120"/>
              </a:rPr>
              <a:t>: enciende el</a:t>
            </a:r>
            <a:endParaRPr lang="en-US" sz="2250" dirty="0"/>
          </a:p>
        </p:txBody>
      </p:sp>
      <p:sp>
        <p:nvSpPr>
          <p:cNvPr id="11" name="Text 9"/>
          <p:cNvSpPr/>
          <p:nvPr/>
        </p:nvSpPr>
        <p:spPr>
          <a:xfrm>
            <a:off x="9270653" y="2847675"/>
            <a:ext cx="2244477" cy="371475"/>
          </a:xfrm>
          <a:prstGeom prst="rect">
            <a:avLst/>
          </a:prstGeom>
          <a:noFill/>
          <a:ln/>
        </p:spPr>
        <p:txBody>
          <a:bodyPr wrap="square" lIns="25400" tIns="25400" rIns="25400" bIns="25400" rtlCol="0" anchor="t">
            <a:normAutofit fontScale="85000" lnSpcReduction="20000"/>
          </a:bodyPr>
          <a:lstStyle/>
          <a:p>
            <a:pPr marL="0" indent="0" algn="l">
              <a:lnSpc>
                <a:spcPct val="132353"/>
              </a:lnSpc>
              <a:buNone/>
            </a:pPr>
            <a:r>
              <a:rPr lang="en-US" sz="2250" b="1" dirty="0">
                <a:solidFill>
                  <a:srgbClr val="374151"/>
                </a:solidFill>
                <a:latin typeface="Arial" pitchFamily="34" charset="0"/>
                <a:ea typeface="Arial" pitchFamily="34" charset="-122"/>
                <a:cs typeface="Arial" pitchFamily="34" charset="-120"/>
              </a:rPr>
              <a:t>tracing primero</a:t>
            </a:r>
            <a:endParaRPr lang="en-US" sz="2250" dirty="0"/>
          </a:p>
        </p:txBody>
      </p:sp>
      <p:sp>
        <p:nvSpPr>
          <p:cNvPr id="12" name="Text 10"/>
          <p:cNvSpPr/>
          <p:nvPr/>
        </p:nvSpPr>
        <p:spPr>
          <a:xfrm>
            <a:off x="11311086" y="2847675"/>
            <a:ext cx="4385559" cy="371475"/>
          </a:xfrm>
          <a:prstGeom prst="rect">
            <a:avLst/>
          </a:prstGeom>
          <a:noFill/>
          <a:ln/>
        </p:spPr>
        <p:txBody>
          <a:bodyPr wrap="square" lIns="0" tIns="0" rIns="0" bIns="0" rtlCol="0" anchor="t">
            <a:normAutofit fontScale="92500" lnSpcReduction="10000"/>
          </a:bodyPr>
          <a:lstStyle/>
          <a:p>
            <a:pPr marL="0" indent="0" algn="l">
              <a:lnSpc>
                <a:spcPct val="132353"/>
              </a:lnSpc>
              <a:buNone/>
            </a:pPr>
            <a:r>
              <a:rPr lang="en-US" sz="2250" dirty="0">
                <a:solidFill>
                  <a:srgbClr val="374151"/>
                </a:solidFill>
                <a:latin typeface="Arial" pitchFamily="34" charset="0"/>
                <a:ea typeface="Arial" pitchFamily="34" charset="-122"/>
                <a:cs typeface="Arial" pitchFamily="34" charset="-120"/>
              </a:rPr>
              <a:t>, antes de optimizar cualquier cosa.</a:t>
            </a:r>
            <a:endParaRPr lang="en-US" sz="2250" dirty="0"/>
          </a:p>
        </p:txBody>
      </p:sp>
      <p:sp>
        <p:nvSpPr>
          <p:cNvPr id="13" name="Text 11"/>
          <p:cNvSpPr/>
          <p:nvPr/>
        </p:nvSpPr>
        <p:spPr>
          <a:xfrm>
            <a:off x="1333500" y="1702892"/>
            <a:ext cx="15309522" cy="800100"/>
          </a:xfrm>
          <a:prstGeom prst="rect">
            <a:avLst/>
          </a:prstGeom>
          <a:noFill/>
          <a:ln/>
        </p:spPr>
        <p:txBody>
          <a:bodyPr wrap="square" lIns="25400" tIns="25400" rIns="25400" bIns="25400" rtlCol="0" anchor="t">
            <a:normAutofit/>
          </a:bodyPr>
          <a:lstStyle/>
          <a:p>
            <a:pPr marL="0" indent="0" algn="l">
              <a:lnSpc>
                <a:spcPct val="132353"/>
              </a:lnSpc>
              <a:buNone/>
            </a:pPr>
            <a:r>
              <a:rPr lang="en-US" sz="2250" b="1" dirty="0">
                <a:solidFill>
                  <a:srgbClr val="1C3F7F"/>
                </a:solidFill>
                <a:latin typeface="Arial" pitchFamily="34" charset="0"/>
                <a:ea typeface="Arial" pitchFamily="34" charset="-122"/>
                <a:cs typeface="Arial" pitchFamily="34" charset="-120"/>
              </a:rPr>
              <a:t>No puedes gobernar lo que no ves.</a:t>
            </a:r>
            <a:endParaRPr lang="en-US" sz="2250" dirty="0"/>
          </a:p>
        </p:txBody>
      </p:sp>
      <p:sp>
        <p:nvSpPr>
          <p:cNvPr id="14" name="Text 12"/>
          <p:cNvSpPr/>
          <p:nvPr/>
        </p:nvSpPr>
        <p:spPr>
          <a:xfrm>
            <a:off x="952500" y="3832058"/>
            <a:ext cx="244673" cy="466725"/>
          </a:xfrm>
          <a:prstGeom prst="rect">
            <a:avLst/>
          </a:prstGeom>
          <a:noFill/>
          <a:ln/>
        </p:spPr>
        <p:txBody>
          <a:bodyPr wrap="square" lIns="25400" tIns="25400" rIns="25400" bIns="25400" rtlCol="0" anchor="t">
            <a:normAutofit/>
          </a:bodyPr>
          <a:lstStyle/>
          <a:p>
            <a:pPr marL="0" indent="0" algn="l">
              <a:lnSpc>
                <a:spcPct val="132353"/>
              </a:lnSpc>
              <a:buNone/>
            </a:pPr>
            <a:r>
              <a:rPr lang="en-US" sz="2250" b="1" dirty="0">
                <a:solidFill>
                  <a:srgbClr val="1C3F7F"/>
                </a:solidFill>
                <a:latin typeface="Arial" pitchFamily="34" charset="0"/>
                <a:ea typeface="Arial" pitchFamily="34" charset="-122"/>
                <a:cs typeface="Arial" pitchFamily="34" charset="-120"/>
              </a:rPr>
              <a:t>–</a:t>
            </a:r>
            <a:endParaRPr lang="en-US" sz="2250" dirty="0"/>
          </a:p>
        </p:txBody>
      </p:sp>
      <p:sp>
        <p:nvSpPr>
          <p:cNvPr id="15" name="Text 13"/>
          <p:cNvSpPr/>
          <p:nvPr/>
        </p:nvSpPr>
        <p:spPr>
          <a:xfrm>
            <a:off x="1333500" y="3879683"/>
            <a:ext cx="3211641" cy="371475"/>
          </a:xfrm>
          <a:prstGeom prst="rect">
            <a:avLst/>
          </a:prstGeom>
          <a:noFill/>
          <a:ln/>
        </p:spPr>
        <p:txBody>
          <a:bodyPr wrap="square" lIns="0" tIns="0" rIns="0" bIns="0" rtlCol="0" anchor="t">
            <a:normAutofit fontScale="92500" lnSpcReduction="10000"/>
          </a:bodyPr>
          <a:lstStyle/>
          <a:p>
            <a:pPr marL="0" indent="0" algn="l">
              <a:lnSpc>
                <a:spcPct val="132353"/>
              </a:lnSpc>
              <a:buNone/>
            </a:pPr>
            <a:r>
              <a:rPr lang="en-US" sz="2250" dirty="0">
                <a:solidFill>
                  <a:srgbClr val="374151"/>
                </a:solidFill>
                <a:latin typeface="Arial" pitchFamily="34" charset="0"/>
                <a:ea typeface="Arial" pitchFamily="34" charset="-122"/>
                <a:cs typeface="Arial" pitchFamily="34" charset="-120"/>
              </a:rPr>
              <a:t>Modelos abiertos pueden</a:t>
            </a:r>
            <a:endParaRPr lang="en-US" sz="2250" dirty="0"/>
          </a:p>
        </p:txBody>
      </p:sp>
      <p:sp>
        <p:nvSpPr>
          <p:cNvPr id="16" name="Text 14"/>
          <p:cNvSpPr/>
          <p:nvPr/>
        </p:nvSpPr>
        <p:spPr>
          <a:xfrm>
            <a:off x="4513957" y="3879683"/>
            <a:ext cx="5132338" cy="371475"/>
          </a:xfrm>
          <a:prstGeom prst="rect">
            <a:avLst/>
          </a:prstGeom>
          <a:noFill/>
          <a:ln/>
        </p:spPr>
        <p:txBody>
          <a:bodyPr wrap="square" lIns="25400" tIns="25400" rIns="25400" bIns="25400" rtlCol="0" anchor="t">
            <a:normAutofit fontScale="85000" lnSpcReduction="20000"/>
          </a:bodyPr>
          <a:lstStyle/>
          <a:p>
            <a:pPr marL="0" indent="0" algn="l">
              <a:lnSpc>
                <a:spcPct val="132353"/>
              </a:lnSpc>
              <a:buNone/>
            </a:pPr>
            <a:r>
              <a:rPr lang="en-US" sz="2250" b="1" dirty="0">
                <a:solidFill>
                  <a:srgbClr val="374151"/>
                </a:solidFill>
                <a:latin typeface="Arial" pitchFamily="34" charset="0"/>
                <a:ea typeface="Arial" pitchFamily="34" charset="-122"/>
                <a:cs typeface="Arial" pitchFamily="34" charset="-120"/>
              </a:rPr>
              <a:t>juzgar trazas a ~100× menos costo</a:t>
            </a:r>
            <a:endParaRPr lang="en-US" sz="2250" dirty="0"/>
          </a:p>
        </p:txBody>
      </p:sp>
      <p:sp>
        <p:nvSpPr>
          <p:cNvPr id="17" name="Text 15"/>
          <p:cNvSpPr/>
          <p:nvPr/>
        </p:nvSpPr>
        <p:spPr>
          <a:xfrm>
            <a:off x="9242078" y="3879683"/>
            <a:ext cx="2417118" cy="371475"/>
          </a:xfrm>
          <a:prstGeom prst="rect">
            <a:avLst/>
          </a:prstGeom>
          <a:noFill/>
          <a:ln/>
        </p:spPr>
        <p:txBody>
          <a:bodyPr wrap="square" lIns="0" tIns="0" rIns="0" bIns="0" rtlCol="0" anchor="t">
            <a:normAutofit fontScale="92500" lnSpcReduction="10000"/>
          </a:bodyPr>
          <a:lstStyle/>
          <a:p>
            <a:pPr marL="0" indent="0" algn="l">
              <a:lnSpc>
                <a:spcPct val="132353"/>
              </a:lnSpc>
              <a:buNone/>
            </a:pPr>
            <a:r>
              <a:rPr lang="en-US" sz="2250" dirty="0">
                <a:solidFill>
                  <a:srgbClr val="374151"/>
                </a:solidFill>
                <a:latin typeface="Arial" pitchFamily="34" charset="0"/>
                <a:ea typeface="Arial" pitchFamily="34" charset="-122"/>
                <a:cs typeface="Arial" pitchFamily="34" charset="-120"/>
              </a:rPr>
              <a:t>que los de frontera.</a:t>
            </a:r>
            <a:endParaRPr lang="en-US" sz="2250" dirty="0"/>
          </a:p>
        </p:txBody>
      </p:sp>
      <p:sp>
        <p:nvSpPr>
          <p:cNvPr id="18" name="Text 16"/>
          <p:cNvSpPr/>
          <p:nvPr/>
        </p:nvSpPr>
        <p:spPr>
          <a:xfrm>
            <a:off x="952500" y="4855995"/>
            <a:ext cx="244673" cy="466725"/>
          </a:xfrm>
          <a:prstGeom prst="rect">
            <a:avLst/>
          </a:prstGeom>
          <a:noFill/>
          <a:ln/>
        </p:spPr>
        <p:txBody>
          <a:bodyPr wrap="square" lIns="25400" tIns="25400" rIns="25400" bIns="25400" rtlCol="0" anchor="t">
            <a:normAutofit/>
          </a:bodyPr>
          <a:lstStyle/>
          <a:p>
            <a:pPr marL="0" indent="0" algn="l">
              <a:lnSpc>
                <a:spcPct val="132353"/>
              </a:lnSpc>
              <a:buNone/>
            </a:pPr>
            <a:r>
              <a:rPr lang="en-US" sz="2250" b="1" dirty="0">
                <a:solidFill>
                  <a:srgbClr val="1C3F7F"/>
                </a:solidFill>
                <a:latin typeface="Arial" pitchFamily="34" charset="0"/>
                <a:ea typeface="Arial" pitchFamily="34" charset="-122"/>
                <a:cs typeface="Arial" pitchFamily="34" charset="-120"/>
              </a:rPr>
              <a:t>–</a:t>
            </a:r>
            <a:endParaRPr lang="en-US" sz="2250" dirty="0"/>
          </a:p>
        </p:txBody>
      </p:sp>
      <p:sp>
        <p:nvSpPr>
          <p:cNvPr id="19" name="Text 17"/>
          <p:cNvSpPr/>
          <p:nvPr/>
        </p:nvSpPr>
        <p:spPr>
          <a:xfrm>
            <a:off x="1333500" y="4903620"/>
            <a:ext cx="5201997" cy="371475"/>
          </a:xfrm>
          <a:prstGeom prst="rect">
            <a:avLst/>
          </a:prstGeom>
          <a:noFill/>
          <a:ln/>
        </p:spPr>
        <p:txBody>
          <a:bodyPr wrap="square" lIns="0" tIns="0" rIns="0" bIns="0" rtlCol="0" anchor="t">
            <a:normAutofit fontScale="92500" lnSpcReduction="10000"/>
          </a:bodyPr>
          <a:lstStyle/>
          <a:p>
            <a:pPr marL="0" indent="0" algn="l">
              <a:lnSpc>
                <a:spcPct val="132353"/>
              </a:lnSpc>
              <a:buNone/>
            </a:pPr>
            <a:r>
              <a:rPr lang="en-US" sz="2250" dirty="0">
                <a:solidFill>
                  <a:srgbClr val="374151"/>
                </a:solidFill>
                <a:latin typeface="Arial" pitchFamily="34" charset="0"/>
                <a:ea typeface="Arial" pitchFamily="34" charset="-122"/>
                <a:cs typeface="Arial" pitchFamily="34" charset="-120"/>
              </a:rPr>
              <a:t>Trata los benchmarks como software, con</a:t>
            </a:r>
            <a:endParaRPr lang="en-US" sz="2250" dirty="0"/>
          </a:p>
        </p:txBody>
      </p:sp>
      <p:sp>
        <p:nvSpPr>
          <p:cNvPr id="20" name="Text 18"/>
          <p:cNvSpPr/>
          <p:nvPr/>
        </p:nvSpPr>
        <p:spPr>
          <a:xfrm>
            <a:off x="6446341" y="4903620"/>
            <a:ext cx="864394" cy="371475"/>
          </a:xfrm>
          <a:prstGeom prst="rect">
            <a:avLst/>
          </a:prstGeom>
          <a:noFill/>
          <a:ln/>
        </p:spPr>
        <p:txBody>
          <a:bodyPr wrap="square" lIns="25400" tIns="25400" rIns="25400" bIns="25400" rtlCol="0" anchor="t">
            <a:normAutofit fontScale="85000" lnSpcReduction="20000"/>
          </a:bodyPr>
          <a:lstStyle/>
          <a:p>
            <a:pPr marL="0" indent="0" algn="l">
              <a:lnSpc>
                <a:spcPct val="132353"/>
              </a:lnSpc>
              <a:buNone/>
            </a:pPr>
            <a:r>
              <a:rPr lang="en-US" sz="2250" b="1" dirty="0">
                <a:solidFill>
                  <a:srgbClr val="374151"/>
                </a:solidFill>
                <a:latin typeface="Arial" pitchFamily="34" charset="0"/>
                <a:ea typeface="Arial" pitchFamily="34" charset="-122"/>
                <a:cs typeface="Arial" pitchFamily="34" charset="-120"/>
              </a:rPr>
              <a:t>CI/CD</a:t>
            </a:r>
            <a:endParaRPr lang="en-US" sz="2250" dirty="0"/>
          </a:p>
        </p:txBody>
      </p:sp>
      <p:sp>
        <p:nvSpPr>
          <p:cNvPr id="22" name="Text 20"/>
          <p:cNvSpPr/>
          <p:nvPr/>
        </p:nvSpPr>
        <p:spPr>
          <a:xfrm>
            <a:off x="952500" y="5879933"/>
            <a:ext cx="244673" cy="466725"/>
          </a:xfrm>
          <a:prstGeom prst="rect">
            <a:avLst/>
          </a:prstGeom>
          <a:noFill/>
          <a:ln/>
        </p:spPr>
        <p:txBody>
          <a:bodyPr wrap="square" lIns="25400" tIns="25400" rIns="25400" bIns="25400" rtlCol="0" anchor="t">
            <a:normAutofit/>
          </a:bodyPr>
          <a:lstStyle/>
          <a:p>
            <a:pPr marL="0" indent="0" algn="l">
              <a:lnSpc>
                <a:spcPct val="132353"/>
              </a:lnSpc>
              <a:buNone/>
            </a:pPr>
            <a:r>
              <a:rPr lang="en-US" sz="2250" b="1" dirty="0">
                <a:solidFill>
                  <a:srgbClr val="1C3F7F"/>
                </a:solidFill>
                <a:latin typeface="Arial" pitchFamily="34" charset="0"/>
                <a:ea typeface="Arial" pitchFamily="34" charset="-122"/>
                <a:cs typeface="Arial" pitchFamily="34" charset="-120"/>
              </a:rPr>
              <a:t>–</a:t>
            </a:r>
            <a:endParaRPr lang="en-US" sz="2250" dirty="0"/>
          </a:p>
        </p:txBody>
      </p:sp>
      <p:sp>
        <p:nvSpPr>
          <p:cNvPr id="23" name="Text 21"/>
          <p:cNvSpPr/>
          <p:nvPr/>
        </p:nvSpPr>
        <p:spPr>
          <a:xfrm>
            <a:off x="1333500" y="5927558"/>
            <a:ext cx="4966499" cy="371475"/>
          </a:xfrm>
          <a:prstGeom prst="rect">
            <a:avLst/>
          </a:prstGeom>
          <a:noFill/>
          <a:ln/>
        </p:spPr>
        <p:txBody>
          <a:bodyPr wrap="square" lIns="25400" tIns="25400" rIns="25400" bIns="25400" rtlCol="0" anchor="t">
            <a:normAutofit fontScale="85000" lnSpcReduction="20000"/>
          </a:bodyPr>
          <a:lstStyle/>
          <a:p>
            <a:pPr marL="0" indent="0" algn="l">
              <a:lnSpc>
                <a:spcPct val="132353"/>
              </a:lnSpc>
              <a:buNone/>
            </a:pPr>
            <a:r>
              <a:rPr lang="en-US" sz="2250" b="1" dirty="0">
                <a:solidFill>
                  <a:srgbClr val="374151"/>
                </a:solidFill>
                <a:latin typeface="Arial" pitchFamily="34" charset="0"/>
                <a:ea typeface="Arial" pitchFamily="34" charset="-122"/>
                <a:cs typeface="Arial" pitchFamily="34" charset="-120"/>
              </a:rPr>
              <a:t>Verificación antes que generación</a:t>
            </a:r>
            <a:endParaRPr lang="en-US" sz="2250" dirty="0"/>
          </a:p>
        </p:txBody>
      </p:sp>
      <p:sp>
        <p:nvSpPr>
          <p:cNvPr id="24" name="Text 22"/>
          <p:cNvSpPr/>
          <p:nvPr/>
        </p:nvSpPr>
        <p:spPr>
          <a:xfrm>
            <a:off x="5319110" y="5927557"/>
            <a:ext cx="10767111" cy="371475"/>
          </a:xfrm>
          <a:prstGeom prst="rect">
            <a:avLst/>
          </a:prstGeom>
          <a:noFill/>
          <a:ln/>
        </p:spPr>
        <p:txBody>
          <a:bodyPr wrap="square" lIns="0" tIns="0" rIns="0" bIns="0" rtlCol="0" anchor="t">
            <a:normAutofit fontScale="85000" lnSpcReduction="10000"/>
          </a:bodyPr>
          <a:lstStyle/>
          <a:p>
            <a:pPr marL="0" indent="0" algn="l">
              <a:lnSpc>
                <a:spcPct val="132353"/>
              </a:lnSpc>
              <a:buNone/>
            </a:pPr>
            <a:r>
              <a:rPr lang="en-US" sz="2250" dirty="0">
                <a:solidFill>
                  <a:srgbClr val="374151"/>
                </a:solidFill>
                <a:latin typeface="Arial" pitchFamily="34" charset="0"/>
                <a:ea typeface="Arial" pitchFamily="34" charset="-122"/>
                <a:cs typeface="Arial" pitchFamily="34" charset="-120"/>
              </a:rPr>
              <a:t>: TDD con agentes, validación corrida hacia la izquierda, </a:t>
            </a:r>
            <a:r>
              <a:rPr lang="en-US" sz="2250" dirty="0" err="1">
                <a:solidFill>
                  <a:srgbClr val="374151"/>
                </a:solidFill>
                <a:latin typeface="Arial" pitchFamily="34" charset="0"/>
                <a:ea typeface="Arial" pitchFamily="34" charset="-122"/>
                <a:cs typeface="Arial" pitchFamily="34" charset="-120"/>
              </a:rPr>
              <a:t>planificación</a:t>
            </a:r>
            <a:r>
              <a:rPr lang="en-US" sz="2250" dirty="0">
                <a:solidFill>
                  <a:srgbClr val="374151"/>
                </a:solidFill>
                <a:latin typeface="Arial" pitchFamily="34" charset="0"/>
                <a:ea typeface="Arial" pitchFamily="34" charset="-122"/>
                <a:cs typeface="Arial" pitchFamily="34" charset="-120"/>
              </a:rPr>
              <a:t> </a:t>
            </a:r>
            <a:r>
              <a:rPr lang="en-US" sz="2250" dirty="0" err="1">
                <a:solidFill>
                  <a:srgbClr val="374151"/>
                </a:solidFill>
                <a:latin typeface="Arial" pitchFamily="34" charset="0"/>
                <a:ea typeface="Arial" pitchFamily="34" charset="-122"/>
                <a:cs typeface="Arial" pitchFamily="34" charset="-120"/>
              </a:rPr>
              <a:t>detallada</a:t>
            </a:r>
            <a:r>
              <a:rPr lang="en-US" sz="2250" dirty="0">
                <a:solidFill>
                  <a:srgbClr val="374151"/>
                </a:solidFill>
                <a:latin typeface="Arial" pitchFamily="34" charset="0"/>
                <a:ea typeface="Arial" pitchFamily="34" charset="-122"/>
                <a:cs typeface="Arial" pitchFamily="34" charset="-120"/>
              </a:rPr>
              <a:t> antes de </a:t>
            </a:r>
            <a:r>
              <a:rPr lang="en-US" sz="2250" dirty="0" err="1">
                <a:solidFill>
                  <a:srgbClr val="374151"/>
                </a:solidFill>
                <a:latin typeface="Arial" pitchFamily="34" charset="0"/>
                <a:ea typeface="Arial" pitchFamily="34" charset="-122"/>
                <a:cs typeface="Arial" pitchFamily="34" charset="-120"/>
              </a:rPr>
              <a:t>ejecutar</a:t>
            </a:r>
            <a:endParaRPr lang="en-US" sz="2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Gobernanza y regulación</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La brecha de gobernanza</a:t>
            </a:r>
            <a:endParaRPr lang="en-US" sz="4200" dirty="0"/>
          </a:p>
        </p:txBody>
      </p:sp>
      <p:pic>
        <p:nvPicPr>
          <p:cNvPr id="7" name="Image 0" descr="preencoded.png"/>
          <p:cNvPicPr>
            <a:picLocks noChangeAspect="1"/>
          </p:cNvPicPr>
          <p:nvPr/>
        </p:nvPicPr>
        <p:blipFill>
          <a:blip r:embed="rId3"/>
          <a:stretch>
            <a:fillRect/>
          </a:stretch>
        </p:blipFill>
        <p:spPr>
          <a:xfrm>
            <a:off x="1238250" y="2013496"/>
            <a:ext cx="15811500" cy="765065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Temas clave · AI Engineer World's Fair 2026</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a:solidFill>
                  <a:srgbClr val="1C3F7F"/>
                </a:solidFill>
                <a:latin typeface="Arial" pitchFamily="34" charset="0"/>
                <a:ea typeface="Arial" pitchFamily="34" charset="-122"/>
                <a:cs typeface="Arial" pitchFamily="34" charset="-120"/>
              </a:rPr>
              <a:t>Quién es dueño de esto</a:t>
            </a:r>
            <a:endParaRPr lang="en-US" sz="4200" dirty="0"/>
          </a:p>
        </p:txBody>
      </p:sp>
      <p:pic>
        <p:nvPicPr>
          <p:cNvPr id="7" name="Image 0" descr="preencoded.png"/>
          <p:cNvPicPr>
            <a:picLocks noChangeAspect="1"/>
          </p:cNvPicPr>
          <p:nvPr/>
        </p:nvPicPr>
        <p:blipFill>
          <a:blip r:embed="rId3"/>
          <a:stretch>
            <a:fillRect/>
          </a:stretch>
        </p:blipFill>
        <p:spPr>
          <a:xfrm>
            <a:off x="1238250" y="2141041"/>
            <a:ext cx="15811500" cy="739556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6">
    <p:bg>
      <p:bgPr>
        <a:solidFill>
          <a:srgbClr val="1C3F7F"/>
        </a:solidFill>
        <a:effectLst/>
      </p:bgPr>
    </p:bg>
    <p:spTree>
      <p:nvGrpSpPr>
        <p:cNvPr id="1" name=""/>
        <p:cNvGrpSpPr/>
        <p:nvPr/>
      </p:nvGrpSpPr>
      <p:grpSpPr>
        <a:xfrm>
          <a:off x="0" y="0"/>
          <a:ext cx="0" cy="0"/>
          <a:chOff x="0" y="0"/>
          <a:chExt cx="0" cy="0"/>
        </a:xfrm>
      </p:grpSpPr>
      <p:sp>
        <p:nvSpPr>
          <p:cNvPr id="2" name="Text 0"/>
          <p:cNvSpPr/>
          <p:nvPr/>
        </p:nvSpPr>
        <p:spPr>
          <a:xfrm>
            <a:off x="13894862" y="4191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FFFFFF"/>
                </a:solidFill>
                <a:latin typeface="Arial" pitchFamily="34" charset="0"/>
                <a:ea typeface="Arial" pitchFamily="34" charset="-122"/>
                <a:cs typeface="Arial" pitchFamily="34" charset="-120"/>
              </a:rPr>
              <a:t>FEN · Universidad de Chile</a:t>
            </a:r>
            <a:endParaRPr lang="en-US" sz="1800" dirty="0"/>
          </a:p>
        </p:txBody>
      </p:sp>
      <p:sp>
        <p:nvSpPr>
          <p:cNvPr id="3" name="Text 1"/>
          <p:cNvSpPr/>
          <p:nvPr/>
        </p:nvSpPr>
        <p:spPr>
          <a:xfrm>
            <a:off x="13894862" y="7276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FFFFFF">
                    <a:alpha val="55000"/>
                  </a:srgbClr>
                </a:solidFill>
                <a:latin typeface="Arial" pitchFamily="34" charset="0"/>
                <a:ea typeface="Arial" pitchFamily="34" charset="-122"/>
                <a:cs typeface="Arial" pitchFamily="34" charset="-120"/>
              </a:rPr>
              <a:t>IA Generativa para Organizaciones</a:t>
            </a:r>
            <a:endParaRPr lang="en-US" sz="1800" dirty="0"/>
          </a:p>
        </p:txBody>
      </p:sp>
      <p:sp>
        <p:nvSpPr>
          <p:cNvPr id="4" name="Text 2"/>
          <p:cNvSpPr/>
          <p:nvPr/>
        </p:nvSpPr>
        <p:spPr>
          <a:xfrm>
            <a:off x="8589020" y="3884414"/>
            <a:ext cx="1186011"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450" dirty="0">
                <a:solidFill>
                  <a:srgbClr val="FFFFFF">
                    <a:alpha val="55000"/>
                  </a:srgbClr>
                </a:solidFill>
                <a:latin typeface="Arial" pitchFamily="34" charset="0"/>
                <a:ea typeface="Arial" pitchFamily="34" charset="-122"/>
                <a:cs typeface="Arial" pitchFamily="34" charset="-120"/>
              </a:rPr>
              <a:t>ACTO 7</a:t>
            </a:r>
            <a:endParaRPr lang="en-US" sz="1800" dirty="0"/>
          </a:p>
        </p:txBody>
      </p:sp>
      <p:sp>
        <p:nvSpPr>
          <p:cNvPr id="5" name="Text 3"/>
          <p:cNvSpPr/>
          <p:nvPr/>
        </p:nvSpPr>
        <p:spPr>
          <a:xfrm>
            <a:off x="1491615" y="4474964"/>
            <a:ext cx="15304770" cy="1965722"/>
          </a:xfrm>
          <a:prstGeom prst="rect">
            <a:avLst/>
          </a:prstGeom>
          <a:noFill/>
          <a:ln/>
        </p:spPr>
        <p:txBody>
          <a:bodyPr wrap="square" lIns="25400" tIns="25400" rIns="25400" bIns="25400" rtlCol="0" anchor="t">
            <a:normAutofit lnSpcReduction="10000"/>
          </a:bodyPr>
          <a:lstStyle/>
          <a:p>
            <a:pPr marL="0" indent="0" algn="ctr">
              <a:lnSpc>
                <a:spcPct val="99216"/>
              </a:lnSpc>
              <a:buNone/>
            </a:pPr>
            <a:r>
              <a:rPr lang="en-US" sz="6600" b="1" dirty="0">
                <a:solidFill>
                  <a:srgbClr val="FFFFFF"/>
                </a:solidFill>
                <a:latin typeface="Arial" pitchFamily="34" charset="0"/>
                <a:ea typeface="Arial" pitchFamily="34" charset="-122"/>
                <a:cs typeface="Arial" pitchFamily="34" charset="-120"/>
              </a:rPr>
              <a:t>“Tercer año del GenAI, algunas reflexiones”</a:t>
            </a:r>
            <a:endParaRPr lang="en-US" sz="6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Reflexiones y cierre</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err="1">
                <a:solidFill>
                  <a:srgbClr val="1C3F7F"/>
                </a:solidFill>
                <a:latin typeface="Arial" pitchFamily="34" charset="0"/>
                <a:ea typeface="Arial" pitchFamily="34" charset="-122"/>
                <a:cs typeface="Arial" pitchFamily="34" charset="-120"/>
              </a:rPr>
              <a:t>Reflexiones</a:t>
            </a:r>
            <a:r>
              <a:rPr lang="en-US" sz="4200" b="1" kern="0" spc="-37" dirty="0">
                <a:solidFill>
                  <a:srgbClr val="1C3F7F"/>
                </a:solidFill>
                <a:latin typeface="Arial" pitchFamily="34" charset="0"/>
                <a:ea typeface="Arial" pitchFamily="34" charset="-122"/>
                <a:cs typeface="Arial" pitchFamily="34" charset="-120"/>
              </a:rPr>
              <a:t>: IA </a:t>
            </a:r>
            <a:r>
              <a:rPr lang="en-US" sz="4200" b="1" kern="0" spc="-37" dirty="0" err="1">
                <a:solidFill>
                  <a:srgbClr val="1C3F7F"/>
                </a:solidFill>
                <a:latin typeface="Arial" pitchFamily="34" charset="0"/>
                <a:ea typeface="Arial" pitchFamily="34" charset="-122"/>
                <a:cs typeface="Arial" pitchFamily="34" charset="-120"/>
              </a:rPr>
              <a:t>como</a:t>
            </a:r>
            <a:r>
              <a:rPr lang="en-US" sz="4200" b="1" kern="0" spc="-37" dirty="0">
                <a:solidFill>
                  <a:srgbClr val="1C3F7F"/>
                </a:solidFill>
                <a:latin typeface="Arial" pitchFamily="34" charset="0"/>
                <a:ea typeface="Arial" pitchFamily="34" charset="-122"/>
                <a:cs typeface="Arial" pitchFamily="34" charset="-120"/>
              </a:rPr>
              <a:t> dev</a:t>
            </a:r>
            <a:endParaRPr lang="en-US" sz="4200" dirty="0"/>
          </a:p>
        </p:txBody>
      </p:sp>
      <p:sp>
        <p:nvSpPr>
          <p:cNvPr id="7" name="Text 5"/>
          <p:cNvSpPr/>
          <p:nvPr/>
        </p:nvSpPr>
        <p:spPr>
          <a:xfrm>
            <a:off x="952500" y="2247900"/>
            <a:ext cx="239167" cy="452438"/>
          </a:xfrm>
          <a:prstGeom prst="rect">
            <a:avLst/>
          </a:prstGeom>
          <a:noFill/>
          <a:ln/>
        </p:spPr>
        <p:txBody>
          <a:bodyPr wrap="square" lIns="25400" tIns="25400" rIns="25400" bIns="25400" rtlCol="0" anchor="t">
            <a:normAutofit/>
          </a:bodyPr>
          <a:lstStyle/>
          <a:p>
            <a:pPr marL="0" indent="0" algn="l">
              <a:lnSpc>
                <a:spcPct val="131818"/>
              </a:lnSpc>
              <a:buNone/>
            </a:pPr>
            <a:r>
              <a:rPr lang="en-US" sz="2000" b="1" dirty="0">
                <a:solidFill>
                  <a:srgbClr val="1C3F7F"/>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1333500" y="2286000"/>
            <a:ext cx="7135669" cy="361950"/>
          </a:xfrm>
          <a:prstGeom prst="rect">
            <a:avLst/>
          </a:prstGeom>
          <a:noFill/>
          <a:ln/>
        </p:spPr>
        <p:txBody>
          <a:bodyPr wrap="square" lIns="25400" tIns="25400" rIns="25400" bIns="25400" rtlCol="0" anchor="t">
            <a:noAutofit/>
          </a:bodyPr>
          <a:lstStyle/>
          <a:p>
            <a:pPr marL="0" indent="0" algn="l">
              <a:lnSpc>
                <a:spcPct val="131818"/>
              </a:lnSpc>
              <a:buNone/>
            </a:pPr>
            <a:r>
              <a:rPr lang="en-US" sz="2000" b="1" dirty="0">
                <a:solidFill>
                  <a:srgbClr val="374151"/>
                </a:solidFill>
                <a:latin typeface="Arial" pitchFamily="34" charset="0"/>
                <a:ea typeface="Arial" pitchFamily="34" charset="-122"/>
                <a:cs typeface="Arial" pitchFamily="34" charset="-120"/>
              </a:rPr>
              <a:t>Los frameworks todavía cambian constantemente.</a:t>
            </a:r>
            <a:endParaRPr lang="en-US" sz="2000" dirty="0"/>
          </a:p>
        </p:txBody>
      </p:sp>
      <p:sp>
        <p:nvSpPr>
          <p:cNvPr id="9" name="Text 7"/>
          <p:cNvSpPr/>
          <p:nvPr/>
        </p:nvSpPr>
        <p:spPr>
          <a:xfrm>
            <a:off x="1364959" y="2593182"/>
            <a:ext cx="14208419" cy="776287"/>
          </a:xfrm>
          <a:prstGeom prst="rect">
            <a:avLst/>
          </a:prstGeom>
          <a:noFill/>
          <a:ln/>
        </p:spPr>
        <p:txBody>
          <a:bodyPr wrap="square" lIns="0" tIns="0" rIns="0" bIns="0" rtlCol="0" anchor="t">
            <a:normAutofit/>
          </a:bodyPr>
          <a:lstStyle/>
          <a:p>
            <a:pPr marL="0" indent="0" algn="l">
              <a:lnSpc>
                <a:spcPct val="131818"/>
              </a:lnSpc>
              <a:buNone/>
            </a:pPr>
            <a:r>
              <a:rPr lang="en-US" sz="2000" dirty="0">
                <a:solidFill>
                  <a:srgbClr val="374151"/>
                </a:solidFill>
                <a:latin typeface="Arial" pitchFamily="34" charset="0"/>
                <a:ea typeface="Arial" pitchFamily="34" charset="-122"/>
                <a:cs typeface="Arial" pitchFamily="34" charset="-120"/>
              </a:rPr>
              <a:t>Programa sabiendo que vas a refactorizar pronto: modular, sin sobreabstraer, simplicidad sobre optimalidad.</a:t>
            </a:r>
            <a:endParaRPr lang="en-US" sz="2000" dirty="0"/>
          </a:p>
        </p:txBody>
      </p:sp>
      <p:sp>
        <p:nvSpPr>
          <p:cNvPr id="10" name="Text 8"/>
          <p:cNvSpPr/>
          <p:nvPr/>
        </p:nvSpPr>
        <p:spPr>
          <a:xfrm>
            <a:off x="952500" y="3400425"/>
            <a:ext cx="239167" cy="452438"/>
          </a:xfrm>
          <a:prstGeom prst="rect">
            <a:avLst/>
          </a:prstGeom>
          <a:noFill/>
          <a:ln/>
        </p:spPr>
        <p:txBody>
          <a:bodyPr wrap="square" lIns="25400" tIns="25400" rIns="25400" bIns="25400" rtlCol="0" anchor="t">
            <a:normAutofit/>
          </a:bodyPr>
          <a:lstStyle/>
          <a:p>
            <a:pPr marL="0" indent="0" algn="l">
              <a:lnSpc>
                <a:spcPct val="131818"/>
              </a:lnSpc>
              <a:buNone/>
            </a:pPr>
            <a:r>
              <a:rPr lang="en-US" sz="2000" b="1" dirty="0">
                <a:solidFill>
                  <a:srgbClr val="1C3F7F"/>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1333500" y="3438525"/>
            <a:ext cx="11404922" cy="361950"/>
          </a:xfrm>
          <a:prstGeom prst="rect">
            <a:avLst/>
          </a:prstGeom>
          <a:noFill/>
          <a:ln/>
        </p:spPr>
        <p:txBody>
          <a:bodyPr wrap="square" lIns="25400" tIns="25400" rIns="25400" bIns="25400" rtlCol="0" anchor="t">
            <a:noAutofit/>
          </a:bodyPr>
          <a:lstStyle/>
          <a:p>
            <a:pPr marL="0" indent="0" algn="l">
              <a:lnSpc>
                <a:spcPct val="131818"/>
              </a:lnSpc>
              <a:buNone/>
            </a:pPr>
            <a:r>
              <a:rPr lang="en-US" sz="2000" b="1" dirty="0">
                <a:solidFill>
                  <a:srgbClr val="374151"/>
                </a:solidFill>
                <a:latin typeface="Arial" pitchFamily="34" charset="0"/>
                <a:ea typeface="Arial" pitchFamily="34" charset="-122"/>
                <a:cs typeface="Arial" pitchFamily="34" charset="-120"/>
              </a:rPr>
              <a:t>Los copilots aumentan la eficiencia, </a:t>
            </a:r>
            <a:r>
              <a:rPr lang="en-US" sz="2000" b="1" dirty="0" err="1">
                <a:solidFill>
                  <a:srgbClr val="374151"/>
                </a:solidFill>
                <a:latin typeface="Arial" pitchFamily="34" charset="0"/>
                <a:ea typeface="Arial" pitchFamily="34" charset="-122"/>
                <a:cs typeface="Arial" pitchFamily="34" charset="-120"/>
              </a:rPr>
              <a:t>pero</a:t>
            </a:r>
            <a:r>
              <a:rPr lang="en-US" sz="2000" b="1" dirty="0">
                <a:solidFill>
                  <a:srgbClr val="374151"/>
                </a:solidFill>
                <a:latin typeface="Arial" pitchFamily="34" charset="0"/>
                <a:ea typeface="Arial" pitchFamily="34" charset="-122"/>
                <a:cs typeface="Arial" pitchFamily="34" charset="-120"/>
              </a:rPr>
              <a:t> </a:t>
            </a:r>
            <a:r>
              <a:rPr lang="en-US" sz="2000" b="1" dirty="0" err="1">
                <a:solidFill>
                  <a:srgbClr val="374151"/>
                </a:solidFill>
                <a:latin typeface="Arial" pitchFamily="34" charset="0"/>
                <a:ea typeface="Arial" pitchFamily="34" charset="-122"/>
                <a:cs typeface="Arial" pitchFamily="34" charset="-120"/>
              </a:rPr>
              <a:t>sobre</a:t>
            </a:r>
            <a:r>
              <a:rPr lang="en-US" sz="2000" b="1" dirty="0">
                <a:solidFill>
                  <a:srgbClr val="374151"/>
                </a:solidFill>
                <a:latin typeface="Arial" pitchFamily="34" charset="0"/>
                <a:ea typeface="Arial" pitchFamily="34" charset="-122"/>
                <a:cs typeface="Arial" pitchFamily="34" charset="-120"/>
              </a:rPr>
              <a:t> todo </a:t>
            </a:r>
            <a:r>
              <a:rPr lang="en-US" sz="2000" b="1" dirty="0" err="1">
                <a:solidFill>
                  <a:srgbClr val="374151"/>
                </a:solidFill>
                <a:latin typeface="Arial" pitchFamily="34" charset="0"/>
                <a:ea typeface="Arial" pitchFamily="34" charset="-122"/>
                <a:cs typeface="Arial" pitchFamily="34" charset="-120"/>
              </a:rPr>
              <a:t>en</a:t>
            </a:r>
            <a:r>
              <a:rPr lang="en-US" sz="2000" b="1" dirty="0">
                <a:solidFill>
                  <a:srgbClr val="374151"/>
                </a:solidFill>
                <a:latin typeface="Arial" pitchFamily="34" charset="0"/>
                <a:ea typeface="Arial" pitchFamily="34" charset="-122"/>
                <a:cs typeface="Arial" pitchFamily="34" charset="-120"/>
              </a:rPr>
              <a:t> </a:t>
            </a:r>
            <a:r>
              <a:rPr lang="en-US" sz="2000" b="1" dirty="0" err="1">
                <a:solidFill>
                  <a:srgbClr val="374151"/>
                </a:solidFill>
                <a:latin typeface="Arial" pitchFamily="34" charset="0"/>
                <a:ea typeface="Arial" pitchFamily="34" charset="-122"/>
                <a:cs typeface="Arial" pitchFamily="34" charset="-120"/>
              </a:rPr>
              <a:t>escalas</a:t>
            </a:r>
            <a:r>
              <a:rPr lang="en-US" sz="2000" b="1" dirty="0">
                <a:solidFill>
                  <a:srgbClr val="374151"/>
                </a:solidFill>
                <a:latin typeface="Arial" pitchFamily="34" charset="0"/>
                <a:ea typeface="Arial" pitchFamily="34" charset="-122"/>
                <a:cs typeface="Arial" pitchFamily="34" charset="-120"/>
              </a:rPr>
              <a:t> </a:t>
            </a:r>
            <a:r>
              <a:rPr lang="en-US" sz="2000" b="1" dirty="0" err="1">
                <a:solidFill>
                  <a:srgbClr val="374151"/>
                </a:solidFill>
                <a:latin typeface="Arial" pitchFamily="34" charset="0"/>
                <a:ea typeface="Arial" pitchFamily="34" charset="-122"/>
                <a:cs typeface="Arial" pitchFamily="34" charset="-120"/>
              </a:rPr>
              <a:t>medianas</a:t>
            </a:r>
            <a:r>
              <a:rPr lang="en-US" sz="2000" b="1" dirty="0">
                <a:solidFill>
                  <a:srgbClr val="374151"/>
                </a:solidFill>
                <a:latin typeface="Arial" pitchFamily="34" charset="0"/>
                <a:ea typeface="Arial" pitchFamily="34" charset="-122"/>
                <a:cs typeface="Arial" pitchFamily="34" charset="-120"/>
              </a:rPr>
              <a:t> o </a:t>
            </a:r>
            <a:r>
              <a:rPr lang="en-US" sz="2000" b="1" dirty="0" err="1">
                <a:solidFill>
                  <a:srgbClr val="374151"/>
                </a:solidFill>
                <a:latin typeface="Arial" pitchFamily="34" charset="0"/>
                <a:ea typeface="Arial" pitchFamily="34" charset="-122"/>
                <a:cs typeface="Arial" pitchFamily="34" charset="-120"/>
              </a:rPr>
              <a:t>pequeñas</a:t>
            </a:r>
            <a:r>
              <a:rPr lang="en-US" sz="2000" b="1" dirty="0">
                <a:solidFill>
                  <a:srgbClr val="374151"/>
                </a:solidFill>
                <a:latin typeface="Arial" pitchFamily="34" charset="0"/>
                <a:ea typeface="Arial" pitchFamily="34" charset="-122"/>
                <a:cs typeface="Arial" pitchFamily="34" charset="-120"/>
              </a:rPr>
              <a:t>.</a:t>
            </a:r>
            <a:endParaRPr lang="en-US" sz="2000" dirty="0"/>
          </a:p>
        </p:txBody>
      </p:sp>
      <p:sp>
        <p:nvSpPr>
          <p:cNvPr id="12" name="Text 10"/>
          <p:cNvSpPr/>
          <p:nvPr/>
        </p:nvSpPr>
        <p:spPr>
          <a:xfrm>
            <a:off x="1333500" y="3764757"/>
            <a:ext cx="14932115" cy="776287"/>
          </a:xfrm>
          <a:prstGeom prst="rect">
            <a:avLst/>
          </a:prstGeom>
          <a:noFill/>
          <a:ln/>
        </p:spPr>
        <p:txBody>
          <a:bodyPr wrap="square" lIns="0" tIns="0" rIns="0" bIns="0" rtlCol="0" anchor="t">
            <a:normAutofit/>
          </a:bodyPr>
          <a:lstStyle/>
          <a:p>
            <a:pPr marL="0" indent="0" algn="l">
              <a:lnSpc>
                <a:spcPct val="131818"/>
              </a:lnSpc>
              <a:buNone/>
            </a:pPr>
            <a:r>
              <a:rPr lang="en-US" sz="2000" dirty="0" err="1">
                <a:solidFill>
                  <a:srgbClr val="374151"/>
                </a:solidFill>
                <a:latin typeface="Arial" pitchFamily="34" charset="0"/>
                <a:ea typeface="Arial" pitchFamily="34" charset="-122"/>
                <a:cs typeface="Arial" pitchFamily="34" charset="-120"/>
              </a:rPr>
              <a:t>Evitar</a:t>
            </a:r>
            <a:r>
              <a:rPr lang="en-US" sz="2000" dirty="0">
                <a:solidFill>
                  <a:srgbClr val="374151"/>
                </a:solidFill>
                <a:latin typeface="Arial" pitchFamily="34" charset="0"/>
                <a:ea typeface="Arial" pitchFamily="34" charset="-122"/>
                <a:cs typeface="Arial" pitchFamily="34" charset="-120"/>
              </a:rPr>
              <a:t> codebases </a:t>
            </a:r>
            <a:r>
              <a:rPr lang="en-US" sz="2000" dirty="0" err="1">
                <a:solidFill>
                  <a:srgbClr val="374151"/>
                </a:solidFill>
                <a:latin typeface="Arial" pitchFamily="34" charset="0"/>
                <a:ea typeface="Arial" pitchFamily="34" charset="-122"/>
                <a:cs typeface="Arial" pitchFamily="34" charset="-120"/>
              </a:rPr>
              <a:t>grandes</a:t>
            </a:r>
            <a:r>
              <a:rPr lang="en-US" sz="2000" dirty="0">
                <a:solidFill>
                  <a:srgbClr val="374151"/>
                </a:solidFill>
                <a:latin typeface="Arial" pitchFamily="34" charset="0"/>
                <a:ea typeface="Arial" pitchFamily="34" charset="-122"/>
                <a:cs typeface="Arial" pitchFamily="34" charset="-120"/>
              </a:rPr>
              <a:t> y code inflation; quebrar sistemas en módulos pequeños apalanca mejor la aceleración.</a:t>
            </a:r>
            <a:endParaRPr lang="en-US" sz="2000" dirty="0"/>
          </a:p>
        </p:txBody>
      </p:sp>
      <p:sp>
        <p:nvSpPr>
          <p:cNvPr id="13" name="Text 11"/>
          <p:cNvSpPr/>
          <p:nvPr/>
        </p:nvSpPr>
        <p:spPr>
          <a:xfrm>
            <a:off x="1333500" y="6983892"/>
            <a:ext cx="15174471" cy="776287"/>
          </a:xfrm>
          <a:prstGeom prst="rect">
            <a:avLst/>
          </a:prstGeom>
          <a:noFill/>
          <a:ln/>
        </p:spPr>
        <p:txBody>
          <a:bodyPr wrap="square" lIns="25400" tIns="25400" rIns="25400" bIns="25400" rtlCol="0" anchor="t">
            <a:normAutofit/>
          </a:bodyPr>
          <a:lstStyle/>
          <a:p>
            <a:pPr marL="0" indent="0" algn="l">
              <a:lnSpc>
                <a:spcPct val="131818"/>
              </a:lnSpc>
              <a:buNone/>
            </a:pPr>
            <a:r>
              <a:rPr lang="en-US" sz="2000" b="1" dirty="0">
                <a:solidFill>
                  <a:srgbClr val="374151"/>
                </a:solidFill>
                <a:latin typeface="Arial" pitchFamily="34" charset="0"/>
                <a:ea typeface="Arial" pitchFamily="34" charset="-122"/>
                <a:cs typeface="Arial" pitchFamily="34" charset="-120"/>
              </a:rPr>
              <a:t>La IA No hacen más experto a un experto: lo hacen más polivalente.</a:t>
            </a:r>
            <a:endParaRPr lang="en-US" sz="2000" dirty="0"/>
          </a:p>
        </p:txBody>
      </p:sp>
      <p:sp>
        <p:nvSpPr>
          <p:cNvPr id="14" name="Text 12"/>
          <p:cNvSpPr/>
          <p:nvPr/>
        </p:nvSpPr>
        <p:spPr>
          <a:xfrm>
            <a:off x="952500" y="4558308"/>
            <a:ext cx="239167" cy="452438"/>
          </a:xfrm>
          <a:prstGeom prst="rect">
            <a:avLst/>
          </a:prstGeom>
          <a:noFill/>
          <a:ln/>
        </p:spPr>
        <p:txBody>
          <a:bodyPr wrap="square" lIns="25400" tIns="25400" rIns="25400" bIns="25400" rtlCol="0" anchor="t">
            <a:normAutofit/>
          </a:bodyPr>
          <a:lstStyle/>
          <a:p>
            <a:pPr marL="0" indent="0" algn="l">
              <a:lnSpc>
                <a:spcPct val="131818"/>
              </a:lnSpc>
              <a:buNone/>
            </a:pPr>
            <a:r>
              <a:rPr lang="en-US" sz="2000" b="1" dirty="0">
                <a:solidFill>
                  <a:srgbClr val="1C3F7F"/>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1333500" y="4596408"/>
            <a:ext cx="4170864" cy="361950"/>
          </a:xfrm>
          <a:prstGeom prst="rect">
            <a:avLst/>
          </a:prstGeom>
          <a:noFill/>
          <a:ln/>
        </p:spPr>
        <p:txBody>
          <a:bodyPr wrap="square" lIns="25400" tIns="25400" rIns="25400" bIns="25400" rtlCol="0" anchor="t">
            <a:noAutofit/>
          </a:bodyPr>
          <a:lstStyle/>
          <a:p>
            <a:pPr marL="0" indent="0" algn="l">
              <a:lnSpc>
                <a:spcPct val="131818"/>
              </a:lnSpc>
              <a:buNone/>
            </a:pPr>
            <a:r>
              <a:rPr lang="en-US" sz="2000" b="1" dirty="0">
                <a:solidFill>
                  <a:srgbClr val="374151"/>
                </a:solidFill>
                <a:latin typeface="Arial" pitchFamily="34" charset="0"/>
                <a:ea typeface="Arial" pitchFamily="34" charset="-122"/>
                <a:cs typeface="Arial" pitchFamily="34" charset="-120"/>
              </a:rPr>
              <a:t>El tracing es «gratis»: úsenlo.</a:t>
            </a:r>
            <a:endParaRPr lang="en-US" sz="2000" dirty="0"/>
          </a:p>
        </p:txBody>
      </p:sp>
      <p:sp>
        <p:nvSpPr>
          <p:cNvPr id="16" name="Text 14"/>
          <p:cNvSpPr/>
          <p:nvPr/>
        </p:nvSpPr>
        <p:spPr>
          <a:xfrm>
            <a:off x="952500" y="5334878"/>
            <a:ext cx="239167" cy="452438"/>
          </a:xfrm>
          <a:prstGeom prst="rect">
            <a:avLst/>
          </a:prstGeom>
          <a:noFill/>
          <a:ln/>
        </p:spPr>
        <p:txBody>
          <a:bodyPr wrap="square" lIns="25400" tIns="25400" rIns="25400" bIns="25400" rtlCol="0" anchor="t">
            <a:normAutofit/>
          </a:bodyPr>
          <a:lstStyle/>
          <a:p>
            <a:pPr marL="0" indent="0" algn="l">
              <a:lnSpc>
                <a:spcPct val="131818"/>
              </a:lnSpc>
              <a:buNone/>
            </a:pPr>
            <a:r>
              <a:rPr lang="en-US" sz="2000" b="1" dirty="0">
                <a:solidFill>
                  <a:srgbClr val="1C3F7F"/>
                </a:solidFill>
                <a:latin typeface="Arial" pitchFamily="34" charset="0"/>
                <a:ea typeface="Arial" pitchFamily="34" charset="-122"/>
                <a:cs typeface="Arial" pitchFamily="34" charset="-120"/>
              </a:rPr>
              <a:t>–</a:t>
            </a:r>
            <a:endParaRPr lang="en-US" sz="2000" dirty="0"/>
          </a:p>
        </p:txBody>
      </p:sp>
      <p:sp>
        <p:nvSpPr>
          <p:cNvPr id="17" name="Text 15"/>
          <p:cNvSpPr/>
          <p:nvPr/>
        </p:nvSpPr>
        <p:spPr>
          <a:xfrm>
            <a:off x="1333500" y="5372978"/>
            <a:ext cx="4013823" cy="361950"/>
          </a:xfrm>
          <a:prstGeom prst="rect">
            <a:avLst/>
          </a:prstGeom>
          <a:noFill/>
          <a:ln/>
        </p:spPr>
        <p:txBody>
          <a:bodyPr wrap="square" lIns="0" tIns="0" rIns="0" bIns="0" rtlCol="0" anchor="t">
            <a:noAutofit/>
          </a:bodyPr>
          <a:lstStyle/>
          <a:p>
            <a:pPr marL="0" indent="0" algn="l">
              <a:lnSpc>
                <a:spcPct val="131818"/>
              </a:lnSpc>
              <a:buNone/>
            </a:pPr>
            <a:r>
              <a:rPr lang="en-US" sz="2000" dirty="0">
                <a:solidFill>
                  <a:srgbClr val="374151"/>
                </a:solidFill>
                <a:latin typeface="Arial" pitchFamily="34" charset="0"/>
                <a:ea typeface="Arial" pitchFamily="34" charset="-122"/>
                <a:cs typeface="Arial" pitchFamily="34" charset="-120"/>
              </a:rPr>
              <a:t>Independiente de la complejidad,</a:t>
            </a:r>
            <a:endParaRPr lang="en-US" sz="2000" dirty="0"/>
          </a:p>
        </p:txBody>
      </p:sp>
      <p:sp>
        <p:nvSpPr>
          <p:cNvPr id="18" name="Text 16"/>
          <p:cNvSpPr/>
          <p:nvPr/>
        </p:nvSpPr>
        <p:spPr>
          <a:xfrm>
            <a:off x="5122249" y="5324476"/>
            <a:ext cx="6206773" cy="361950"/>
          </a:xfrm>
          <a:prstGeom prst="rect">
            <a:avLst/>
          </a:prstGeom>
          <a:noFill/>
          <a:ln/>
        </p:spPr>
        <p:txBody>
          <a:bodyPr wrap="square" lIns="25400" tIns="25400" rIns="25400" bIns="25400" rtlCol="0" anchor="t">
            <a:noAutofit/>
          </a:bodyPr>
          <a:lstStyle/>
          <a:p>
            <a:pPr marL="0" indent="0" algn="l">
              <a:lnSpc>
                <a:spcPct val="131818"/>
              </a:lnSpc>
              <a:buNone/>
            </a:pPr>
            <a:r>
              <a:rPr lang="en-US" sz="2000" b="1" dirty="0">
                <a:solidFill>
                  <a:srgbClr val="374151"/>
                </a:solidFill>
                <a:latin typeface="Arial" pitchFamily="34" charset="0"/>
                <a:ea typeface="Arial" pitchFamily="34" charset="-122"/>
                <a:cs typeface="Arial" pitchFamily="34" charset="-120"/>
              </a:rPr>
              <a:t>el prompt compilado debe pasar el </a:t>
            </a:r>
            <a:r>
              <a:rPr lang="en-US" sz="2000" b="1" i="1" dirty="0">
                <a:solidFill>
                  <a:srgbClr val="374151"/>
                </a:solidFill>
                <a:latin typeface="Arial" pitchFamily="34" charset="0"/>
                <a:ea typeface="Arial" pitchFamily="34" charset="-122"/>
                <a:cs typeface="Arial" pitchFamily="34" charset="-120"/>
              </a:rPr>
              <a:t>sniff test</a:t>
            </a:r>
            <a:endParaRPr lang="en-US" sz="2000" dirty="0"/>
          </a:p>
        </p:txBody>
      </p:sp>
      <p:sp>
        <p:nvSpPr>
          <p:cNvPr id="19" name="Text 17"/>
          <p:cNvSpPr/>
          <p:nvPr/>
        </p:nvSpPr>
        <p:spPr>
          <a:xfrm>
            <a:off x="10933212" y="5372978"/>
            <a:ext cx="139303" cy="361950"/>
          </a:xfrm>
          <a:prstGeom prst="rect">
            <a:avLst/>
          </a:prstGeom>
          <a:noFill/>
          <a:ln/>
        </p:spPr>
        <p:txBody>
          <a:bodyPr wrap="square" lIns="0" tIns="0" rIns="0" bIns="0" rtlCol="0" anchor="t">
            <a:noAutofit/>
          </a:bodyPr>
          <a:lstStyle/>
          <a:p>
            <a:pPr marL="0" indent="0" algn="l">
              <a:lnSpc>
                <a:spcPct val="131818"/>
              </a:lnSpc>
              <a:buNone/>
            </a:pPr>
            <a:r>
              <a:rPr lang="en-US" sz="2000" dirty="0">
                <a:solidFill>
                  <a:srgbClr val="374151"/>
                </a:solidFill>
                <a:latin typeface="Arial" pitchFamily="34" charset="0"/>
                <a:ea typeface="Arial" pitchFamily="34" charset="-122"/>
                <a:cs typeface="Arial" pitchFamily="34" charset="-120"/>
              </a:rPr>
              <a:t>.</a:t>
            </a:r>
            <a:endParaRPr lang="en-US" sz="2000" dirty="0"/>
          </a:p>
        </p:txBody>
      </p:sp>
      <p:sp>
        <p:nvSpPr>
          <p:cNvPr id="20" name="Text 18"/>
          <p:cNvSpPr/>
          <p:nvPr/>
        </p:nvSpPr>
        <p:spPr>
          <a:xfrm>
            <a:off x="952500" y="6073066"/>
            <a:ext cx="239167" cy="452438"/>
          </a:xfrm>
          <a:prstGeom prst="rect">
            <a:avLst/>
          </a:prstGeom>
          <a:noFill/>
          <a:ln/>
        </p:spPr>
        <p:txBody>
          <a:bodyPr wrap="square" lIns="25400" tIns="25400" rIns="25400" bIns="25400" rtlCol="0" anchor="t">
            <a:normAutofit/>
          </a:bodyPr>
          <a:lstStyle/>
          <a:p>
            <a:pPr marL="0" indent="0" algn="l">
              <a:lnSpc>
                <a:spcPct val="131818"/>
              </a:lnSpc>
              <a:buNone/>
            </a:pPr>
            <a:r>
              <a:rPr lang="en-US" sz="2000" b="1" dirty="0">
                <a:solidFill>
                  <a:srgbClr val="1C3F7F"/>
                </a:solidFill>
                <a:latin typeface="Arial" pitchFamily="34" charset="0"/>
                <a:ea typeface="Arial" pitchFamily="34" charset="-122"/>
                <a:cs typeface="Arial" pitchFamily="34" charset="-120"/>
              </a:rPr>
              <a:t>–</a:t>
            </a:r>
            <a:endParaRPr lang="en-US" sz="2000" dirty="0"/>
          </a:p>
        </p:txBody>
      </p:sp>
      <p:sp>
        <p:nvSpPr>
          <p:cNvPr id="21" name="Text 19"/>
          <p:cNvSpPr/>
          <p:nvPr/>
        </p:nvSpPr>
        <p:spPr>
          <a:xfrm>
            <a:off x="1333500" y="6111166"/>
            <a:ext cx="8669640" cy="361950"/>
          </a:xfrm>
          <a:prstGeom prst="rect">
            <a:avLst/>
          </a:prstGeom>
          <a:noFill/>
          <a:ln/>
        </p:spPr>
        <p:txBody>
          <a:bodyPr wrap="square" lIns="25400" tIns="25400" rIns="25400" bIns="25400" rtlCol="0" anchor="t">
            <a:noAutofit/>
          </a:bodyPr>
          <a:lstStyle/>
          <a:p>
            <a:pPr marL="0" indent="0" algn="l">
              <a:lnSpc>
                <a:spcPct val="131818"/>
              </a:lnSpc>
              <a:buNone/>
            </a:pPr>
            <a:r>
              <a:rPr lang="en-US" sz="2000" b="1" dirty="0">
                <a:solidFill>
                  <a:srgbClr val="374151"/>
                </a:solidFill>
                <a:latin typeface="Arial" pitchFamily="34" charset="0"/>
                <a:ea typeface="Arial" pitchFamily="34" charset="-122"/>
                <a:cs typeface="Arial" pitchFamily="34" charset="-120"/>
              </a:rPr>
              <a:t>A mayor potencia de modelo, mayor simpleza de arquitectura.</a:t>
            </a:r>
            <a:endParaRPr lang="en-US" sz="2000" dirty="0"/>
          </a:p>
        </p:txBody>
      </p:sp>
      <p:sp>
        <p:nvSpPr>
          <p:cNvPr id="22" name="Text 18">
            <a:extLst>
              <a:ext uri="{FF2B5EF4-FFF2-40B4-BE49-F238E27FC236}">
                <a16:creationId xmlns:a16="http://schemas.microsoft.com/office/drawing/2014/main" id="{5E350FFC-B76B-4939-4982-FDB36D1648CF}"/>
              </a:ext>
            </a:extLst>
          </p:cNvPr>
          <p:cNvSpPr/>
          <p:nvPr/>
        </p:nvSpPr>
        <p:spPr>
          <a:xfrm>
            <a:off x="952500" y="6919598"/>
            <a:ext cx="239167" cy="452438"/>
          </a:xfrm>
          <a:prstGeom prst="rect">
            <a:avLst/>
          </a:prstGeom>
          <a:noFill/>
          <a:ln/>
        </p:spPr>
        <p:txBody>
          <a:bodyPr wrap="square" lIns="25400" tIns="25400" rIns="25400" bIns="25400" rtlCol="0" anchor="t">
            <a:normAutofit/>
          </a:bodyPr>
          <a:lstStyle/>
          <a:p>
            <a:pPr marL="0" indent="0" algn="l">
              <a:lnSpc>
                <a:spcPct val="131818"/>
              </a:lnSpc>
              <a:buNone/>
            </a:pPr>
            <a:r>
              <a:rPr lang="en-US" sz="2000" b="1" dirty="0">
                <a:solidFill>
                  <a:srgbClr val="1C3F7F"/>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Reflexiones y cierre</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pPr marL="0" indent="0" algn="l">
              <a:buNone/>
            </a:pPr>
            <a:r>
              <a:rPr lang="en-US" sz="4200" b="1" kern="0" spc="-37" dirty="0" err="1">
                <a:solidFill>
                  <a:srgbClr val="1C3F7F"/>
                </a:solidFill>
                <a:latin typeface="Arial" pitchFamily="34" charset="0"/>
                <a:ea typeface="Arial" pitchFamily="34" charset="-122"/>
                <a:cs typeface="Arial" pitchFamily="34" charset="-120"/>
              </a:rPr>
              <a:t>Reflexiones</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Que</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dicen</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tus</a:t>
            </a:r>
            <a:r>
              <a:rPr lang="en-US" sz="4200" b="1" kern="0" spc="-37" dirty="0">
                <a:solidFill>
                  <a:srgbClr val="1C3F7F"/>
                </a:solidFill>
                <a:latin typeface="Arial" pitchFamily="34" charset="0"/>
                <a:ea typeface="Arial" pitchFamily="34" charset="-122"/>
                <a:cs typeface="Arial" pitchFamily="34" charset="-120"/>
              </a:rPr>
              <a:t> evals?</a:t>
            </a:r>
            <a:endParaRPr lang="en-US" sz="4200" dirty="0"/>
          </a:p>
        </p:txBody>
      </p:sp>
      <p:pic>
        <p:nvPicPr>
          <p:cNvPr id="7" name="Image 0" descr="preencoded.png"/>
          <p:cNvPicPr>
            <a:picLocks noChangeAspect="1"/>
          </p:cNvPicPr>
          <p:nvPr/>
        </p:nvPicPr>
        <p:blipFill>
          <a:blip r:embed="rId3"/>
          <a:stretch>
            <a:fillRect/>
          </a:stretch>
        </p:blipFill>
        <p:spPr>
          <a:xfrm>
            <a:off x="1238250" y="2013496"/>
            <a:ext cx="15811500" cy="765065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solidFill>
            <a:srgbClr val="1C3F7F"/>
          </a:solidFill>
          <a:ln/>
        </p:spPr>
        <p:txBody>
          <a:bodyPr/>
          <a:lstStyle/>
          <a:p>
            <a:endParaRPr lang="es-ES_tradnl"/>
          </a:p>
        </p:txBody>
      </p:sp>
      <p:sp>
        <p:nvSpPr>
          <p:cNvPr id="3" name="Text 1"/>
          <p:cNvSpPr/>
          <p:nvPr/>
        </p:nvSpPr>
        <p:spPr>
          <a:xfrm>
            <a:off x="13894862" y="342900"/>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b="1" dirty="0">
                <a:solidFill>
                  <a:srgbClr val="1C3F7F"/>
                </a:solidFill>
                <a:latin typeface="Arial" pitchFamily="34" charset="0"/>
                <a:ea typeface="Arial" pitchFamily="34" charset="-122"/>
                <a:cs typeface="Arial" pitchFamily="34" charset="-120"/>
              </a:rPr>
              <a:t>FEN · Universidad de Chile</a:t>
            </a:r>
            <a:endParaRPr lang="en-US" sz="1800" dirty="0"/>
          </a:p>
        </p:txBody>
      </p:sp>
      <p:sp>
        <p:nvSpPr>
          <p:cNvPr id="4" name="Text 2"/>
          <p:cNvSpPr/>
          <p:nvPr/>
        </p:nvSpPr>
        <p:spPr>
          <a:xfrm>
            <a:off x="13894862" y="651421"/>
            <a:ext cx="3726388" cy="346621"/>
          </a:xfrm>
          <a:prstGeom prst="rect">
            <a:avLst/>
          </a:prstGeom>
          <a:noFill/>
          <a:ln/>
        </p:spPr>
        <p:txBody>
          <a:bodyPr wrap="square" lIns="25400" tIns="25400" rIns="25400" bIns="25400" rtlCol="0" anchor="t">
            <a:normAutofit lnSpcReduction="10000"/>
          </a:bodyPr>
          <a:lstStyle/>
          <a:p>
            <a:pPr marL="0" indent="0" algn="r">
              <a:lnSpc>
                <a:spcPct val="115714"/>
              </a:lnSpc>
              <a:buNone/>
            </a:pPr>
            <a:r>
              <a:rPr lang="en-US" sz="1800" dirty="0">
                <a:solidFill>
                  <a:srgbClr val="9AA3B2"/>
                </a:solidFill>
                <a:latin typeface="Arial" pitchFamily="34" charset="0"/>
                <a:ea typeface="Arial" pitchFamily="34" charset="-122"/>
                <a:cs typeface="Arial" pitchFamily="34" charset="-120"/>
              </a:rPr>
              <a:t>IA Generativa para Organizaciones</a:t>
            </a:r>
            <a:endParaRPr lang="en-US" sz="1800" dirty="0"/>
          </a:p>
        </p:txBody>
      </p:sp>
      <p:sp>
        <p:nvSpPr>
          <p:cNvPr id="5" name="Text 3"/>
          <p:cNvSpPr/>
          <p:nvPr/>
        </p:nvSpPr>
        <p:spPr>
          <a:xfrm>
            <a:off x="952500" y="8001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GenAI, consideraciones estratégicas</a:t>
            </a:r>
            <a:endParaRPr lang="en-US" sz="1800" dirty="0"/>
          </a:p>
        </p:txBody>
      </p:sp>
      <p:sp>
        <p:nvSpPr>
          <p:cNvPr id="6" name="Text 4"/>
          <p:cNvSpPr/>
          <p:nvPr/>
        </p:nvSpPr>
        <p:spPr>
          <a:xfrm>
            <a:off x="952500" y="1143000"/>
            <a:ext cx="18021300" cy="666750"/>
          </a:xfrm>
          <a:prstGeom prst="rect">
            <a:avLst/>
          </a:prstGeom>
          <a:noFill/>
          <a:ln/>
        </p:spPr>
        <p:txBody>
          <a:bodyPr wrap="square" lIns="25400" tIns="25400" rIns="25400" bIns="25400" rtlCol="0" anchor="t">
            <a:normAutofit lnSpcReduction="10000"/>
          </a:bodyPr>
          <a:lstStyle/>
          <a:p>
            <a:r>
              <a:rPr lang="en-US" sz="4200" b="1" kern="0" spc="-37" dirty="0" err="1">
                <a:solidFill>
                  <a:srgbClr val="1C3F7F"/>
                </a:solidFill>
                <a:latin typeface="Arial" pitchFamily="34" charset="0"/>
                <a:ea typeface="Arial" pitchFamily="34" charset="-122"/>
                <a:cs typeface="Arial" pitchFamily="34" charset="-120"/>
              </a:rPr>
              <a:t>Reflexiones</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Cual</a:t>
            </a:r>
            <a:r>
              <a:rPr lang="en-US" sz="4200" b="1" kern="0" spc="-37" dirty="0">
                <a:solidFill>
                  <a:srgbClr val="1C3F7F"/>
                </a:solidFill>
                <a:latin typeface="Arial" pitchFamily="34" charset="0"/>
                <a:ea typeface="Arial" pitchFamily="34" charset="-122"/>
                <a:cs typeface="Arial" pitchFamily="34" charset="-120"/>
              </a:rPr>
              <a:t> es la </a:t>
            </a:r>
            <a:r>
              <a:rPr lang="en-US" sz="4200" b="1" kern="0" spc="-37" dirty="0" err="1">
                <a:solidFill>
                  <a:srgbClr val="1C3F7F"/>
                </a:solidFill>
                <a:latin typeface="Arial" pitchFamily="34" charset="0"/>
                <a:ea typeface="Arial" pitchFamily="34" charset="-122"/>
                <a:cs typeface="Arial" pitchFamily="34" charset="-120"/>
              </a:rPr>
              <a:t>complejidad</a:t>
            </a:r>
            <a:r>
              <a:rPr lang="en-US" sz="4200" b="1" kern="0" spc="-37" dirty="0">
                <a:solidFill>
                  <a:srgbClr val="1C3F7F"/>
                </a:solidFill>
                <a:latin typeface="Arial" pitchFamily="34" charset="0"/>
                <a:ea typeface="Arial" pitchFamily="34" charset="-122"/>
                <a:cs typeface="Arial" pitchFamily="34" charset="-120"/>
              </a:rPr>
              <a:t> </a:t>
            </a:r>
            <a:r>
              <a:rPr lang="en-US" sz="4200" b="1" kern="0" spc="-37" dirty="0" err="1">
                <a:solidFill>
                  <a:srgbClr val="1C3F7F"/>
                </a:solidFill>
                <a:latin typeface="Arial" pitchFamily="34" charset="0"/>
                <a:ea typeface="Arial" pitchFamily="34" charset="-122"/>
                <a:cs typeface="Arial" pitchFamily="34" charset="-120"/>
              </a:rPr>
              <a:t>correcta</a:t>
            </a:r>
            <a:r>
              <a:rPr lang="en-US" sz="4200" b="1" kern="0" spc="-37" dirty="0">
                <a:solidFill>
                  <a:srgbClr val="1C3F7F"/>
                </a:solidFill>
                <a:latin typeface="Arial" pitchFamily="34" charset="0"/>
                <a:ea typeface="Arial" pitchFamily="34" charset="-122"/>
                <a:cs typeface="Arial" pitchFamily="34" charset="-120"/>
              </a:rPr>
              <a:t>?</a:t>
            </a:r>
            <a:endParaRPr lang="en-US" sz="4200" dirty="0"/>
          </a:p>
        </p:txBody>
      </p:sp>
      <p:sp>
        <p:nvSpPr>
          <p:cNvPr id="7" name="Text 5"/>
          <p:cNvSpPr/>
          <p:nvPr/>
        </p:nvSpPr>
        <p:spPr>
          <a:xfrm>
            <a:off x="2148074" y="4876800"/>
            <a:ext cx="5876404" cy="619125"/>
          </a:xfrm>
          <a:prstGeom prst="rect">
            <a:avLst/>
          </a:prstGeom>
          <a:noFill/>
          <a:ln/>
        </p:spPr>
        <p:txBody>
          <a:bodyPr wrap="square" lIns="25400" tIns="25400" rIns="25400" bIns="25400" rtlCol="0" anchor="t">
            <a:normAutofit lnSpcReduction="10000"/>
          </a:bodyPr>
          <a:lstStyle/>
          <a:p>
            <a:pPr marL="0" indent="0" algn="ctr">
              <a:buNone/>
            </a:pPr>
            <a:r>
              <a:rPr lang="en-US" sz="3900" b="1" dirty="0">
                <a:solidFill>
                  <a:srgbClr val="1C3F7F"/>
                </a:solidFill>
                <a:latin typeface="Arial" pitchFamily="34" charset="0"/>
                <a:ea typeface="Arial" pitchFamily="34" charset="-122"/>
                <a:cs typeface="Arial" pitchFamily="34" charset="-120"/>
              </a:rPr>
              <a:t>Potencia del modelo</a:t>
            </a:r>
            <a:endParaRPr lang="en-US" sz="3900" dirty="0"/>
          </a:p>
        </p:txBody>
      </p:sp>
      <p:sp>
        <p:nvSpPr>
          <p:cNvPr id="8" name="Shape 6"/>
          <p:cNvSpPr/>
          <p:nvPr/>
        </p:nvSpPr>
        <p:spPr>
          <a:xfrm>
            <a:off x="2415183" y="5743575"/>
            <a:ext cx="5342186" cy="57150"/>
          </a:xfrm>
          <a:prstGeom prst="roundRect">
            <a:avLst>
              <a:gd name="adj" fmla="val 50000"/>
            </a:avLst>
          </a:prstGeom>
          <a:solidFill>
            <a:srgbClr val="1F2937"/>
          </a:solidFill>
          <a:ln/>
        </p:spPr>
        <p:txBody>
          <a:bodyPr/>
          <a:lstStyle/>
          <a:p>
            <a:endParaRPr lang="es-ES_tradnl"/>
          </a:p>
        </p:txBody>
      </p:sp>
      <p:sp>
        <p:nvSpPr>
          <p:cNvPr id="9" name="Text 7"/>
          <p:cNvSpPr/>
          <p:nvPr/>
        </p:nvSpPr>
        <p:spPr>
          <a:xfrm>
            <a:off x="2148074" y="6086475"/>
            <a:ext cx="5876404" cy="619125"/>
          </a:xfrm>
          <a:prstGeom prst="rect">
            <a:avLst/>
          </a:prstGeom>
          <a:noFill/>
          <a:ln/>
        </p:spPr>
        <p:txBody>
          <a:bodyPr wrap="square" lIns="25400" tIns="25400" rIns="25400" bIns="25400" rtlCol="0" anchor="t">
            <a:normAutofit lnSpcReduction="10000"/>
          </a:bodyPr>
          <a:lstStyle/>
          <a:p>
            <a:pPr marL="0" indent="0" algn="ctr">
              <a:buNone/>
            </a:pPr>
            <a:r>
              <a:rPr lang="en-US" sz="3900" b="1" dirty="0">
                <a:solidFill>
                  <a:srgbClr val="1F2937"/>
                </a:solidFill>
                <a:latin typeface="Arial" pitchFamily="34" charset="0"/>
                <a:ea typeface="Arial" pitchFamily="34" charset="-122"/>
                <a:cs typeface="Arial" pitchFamily="34" charset="-120"/>
              </a:rPr>
              <a:t>Complejidad de la tarea</a:t>
            </a:r>
            <a:endParaRPr lang="en-US" sz="39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86118" y="4705350"/>
            <a:ext cx="1809750" cy="1619250"/>
          </a:xfrm>
          <a:prstGeom prst="rect">
            <a:avLst/>
          </a:prstGeom>
        </p:spPr>
      </p:pic>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29268" y="4705350"/>
            <a:ext cx="1809750" cy="1619250"/>
          </a:xfrm>
          <a:prstGeom prst="rect">
            <a:avLst/>
          </a:prstGeom>
        </p:spPr>
      </p:pic>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872418" y="4705350"/>
            <a:ext cx="2000250" cy="1619250"/>
          </a:xfrm>
          <a:prstGeom prst="rect">
            <a:avLst/>
          </a:prstGeom>
        </p:spPr>
      </p:pic>
      <p:sp>
        <p:nvSpPr>
          <p:cNvPr id="13" name="Text 8"/>
          <p:cNvSpPr/>
          <p:nvPr/>
        </p:nvSpPr>
        <p:spPr>
          <a:xfrm>
            <a:off x="8851791" y="6553200"/>
            <a:ext cx="7355205" cy="323850"/>
          </a:xfrm>
          <a:prstGeom prst="rect">
            <a:avLst/>
          </a:prstGeom>
          <a:noFill/>
          <a:ln/>
        </p:spPr>
        <p:txBody>
          <a:bodyPr wrap="square" lIns="25400" tIns="25400" rIns="25400" bIns="25400" rtlCol="0" anchor="t">
            <a:normAutofit lnSpcReduction="10000"/>
          </a:bodyPr>
          <a:lstStyle/>
          <a:p>
            <a:pPr marL="0" indent="0" algn="ctr">
              <a:buNone/>
            </a:pPr>
            <a:r>
              <a:rPr lang="en-US" sz="1950" dirty="0">
                <a:solidFill>
                  <a:srgbClr val="8A93A6"/>
                </a:solidFill>
                <a:latin typeface="Arial" pitchFamily="34" charset="0"/>
                <a:ea typeface="Arial" pitchFamily="34" charset="-122"/>
                <a:cs typeface="Arial" pitchFamily="34" charset="-120"/>
              </a:rPr>
              <a:t>complejidad de la tarea →</a:t>
            </a:r>
            <a:endParaRPr lang="en-US" sz="1950" dirty="0"/>
          </a:p>
        </p:txBody>
      </p:sp>
      <p:sp>
        <p:nvSpPr>
          <p:cNvPr id="14" name="Text 3">
            <a:extLst>
              <a:ext uri="{FF2B5EF4-FFF2-40B4-BE49-F238E27FC236}">
                <a16:creationId xmlns:a16="http://schemas.microsoft.com/office/drawing/2014/main" id="{099D7155-DB30-ABD7-779D-E58408FBB2D4}"/>
              </a:ext>
            </a:extLst>
          </p:cNvPr>
          <p:cNvSpPr/>
          <p:nvPr/>
        </p:nvSpPr>
        <p:spPr>
          <a:xfrm>
            <a:off x="1550068" y="180975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93A6"/>
                </a:solidFill>
                <a:latin typeface="Arial" pitchFamily="34" charset="0"/>
                <a:ea typeface="Arial" pitchFamily="34" charset="-122"/>
                <a:cs typeface="Arial" pitchFamily="34" charset="-120"/>
              </a:rPr>
              <a:t>Ratio de </a:t>
            </a:r>
            <a:r>
              <a:rPr lang="en-US" sz="1800" dirty="0" err="1">
                <a:solidFill>
                  <a:srgbClr val="8A93A6"/>
                </a:solidFill>
                <a:latin typeface="Arial" pitchFamily="34" charset="0"/>
                <a:ea typeface="Arial" pitchFamily="34" charset="-122"/>
                <a:cs typeface="Arial" pitchFamily="34" charset="-120"/>
              </a:rPr>
              <a:t>delegación</a:t>
            </a:r>
            <a:endParaRPr lang="en-US" sz="1800" dirty="0"/>
          </a:p>
        </p:txBody>
      </p:sp>
    </p:spTree>
    <p:extLst>
      <p:ext uri="{BB962C8B-B14F-4D97-AF65-F5344CB8AC3E}">
        <p14:creationId xmlns:p14="http://schemas.microsoft.com/office/powerpoint/2010/main" val="821795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5516</Words>
  <Application>Microsoft Macintosh PowerPoint</Application>
  <PresentationFormat>Custom</PresentationFormat>
  <Paragraphs>449</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Menlo</vt:lpstr>
      <vt:lpstr>Office Theme</vt:lpstr>
      <vt:lpstr>Diplomado de Extensión en IA Generativa para Organizaciones  Modulo 5, Clase 5: Estrategía y cierre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José Manuel Peña Mendez</cp:lastModifiedBy>
  <cp:revision>7</cp:revision>
  <dcterms:created xsi:type="dcterms:W3CDTF">2026-08-12T13:51:52Z</dcterms:created>
  <dcterms:modified xsi:type="dcterms:W3CDTF">2026-08-12T14:26:30Z</dcterms:modified>
</cp:coreProperties>
</file>