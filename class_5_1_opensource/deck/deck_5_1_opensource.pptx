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51"/>
  </p:notesMasterIdLst>
  <p:sldIdLst>
    <p:sldId id="256" r:id="rId2"/>
    <p:sldId id="257" r:id="rId3"/>
    <p:sldId id="258" r:id="rId4"/>
    <p:sldId id="261" r:id="rId5"/>
    <p:sldId id="259" r:id="rId6"/>
    <p:sldId id="297" r:id="rId7"/>
    <p:sldId id="260" r:id="rId8"/>
    <p:sldId id="298" r:id="rId9"/>
    <p:sldId id="299" r:id="rId10"/>
    <p:sldId id="319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320" r:id="rId22"/>
    <p:sldId id="321" r:id="rId23"/>
    <p:sldId id="322" r:id="rId24"/>
    <p:sldId id="323" r:id="rId25"/>
    <p:sldId id="325" r:id="rId26"/>
    <p:sldId id="275" r:id="rId27"/>
    <p:sldId id="276" r:id="rId28"/>
    <p:sldId id="277" r:id="rId29"/>
    <p:sldId id="278" r:id="rId30"/>
    <p:sldId id="300" r:id="rId31"/>
    <p:sldId id="301" r:id="rId32"/>
    <p:sldId id="284" r:id="rId33"/>
    <p:sldId id="303" r:id="rId34"/>
    <p:sldId id="304" r:id="rId35"/>
    <p:sldId id="305" r:id="rId36"/>
    <p:sldId id="306" r:id="rId37"/>
    <p:sldId id="307" r:id="rId38"/>
    <p:sldId id="308" r:id="rId39"/>
    <p:sldId id="309" r:id="rId40"/>
    <p:sldId id="310" r:id="rId41"/>
    <p:sldId id="313" r:id="rId42"/>
    <p:sldId id="315" r:id="rId43"/>
    <p:sldId id="316" r:id="rId44"/>
    <p:sldId id="317" r:id="rId45"/>
    <p:sldId id="318" r:id="rId46"/>
    <p:sldId id="291" r:id="rId47"/>
    <p:sldId id="294" r:id="rId48"/>
    <p:sldId id="295" r:id="rId49"/>
    <p:sldId id="296" r:id="rId50"/>
  </p:sldIdLst>
  <p:sldSz cx="9144000" cy="5143500" type="screen16x9"/>
  <p:notesSz cx="6858000" cy="9144000"/>
  <p:embeddedFontLst>
    <p:embeddedFont>
      <p:font typeface="Poppins" pitchFamily="2" charset="77"/>
      <p:regular r:id="rId52"/>
      <p:bold r:id="rId53"/>
      <p:italic r:id="rId54"/>
      <p:boldItalic r:id="rId55"/>
    </p:embeddedFont>
    <p:embeddedFont>
      <p:font typeface="Roboto" panose="02000000000000000000" pitchFamily="2" charset="0"/>
      <p:regular r:id="rId56"/>
      <p:bold r:id="rId57"/>
      <p:italic r:id="rId58"/>
      <p:boldItalic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318F78-D3C2-4329-A4A2-0733A066682E}">
  <a:tblStyle styleId="{5D318F78-D3C2-4329-A4A2-0733A06668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658"/>
  </p:normalViewPr>
  <p:slideViewPr>
    <p:cSldViewPr snapToGrid="0">
      <p:cViewPr>
        <p:scale>
          <a:sx n="135" d="100"/>
          <a:sy n="135" d="100"/>
        </p:scale>
        <p:origin x="1032" y="5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4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f4e1364d6b_1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2f4e1364d6b_1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g2f4e1364d6b_1_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0e04fd7c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0e04fd7cb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786dd1ff5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786dd1ff5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73d399b6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273d399b6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ae0a7353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eae0a7353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97B73D0B-A393-39EB-5B09-5CF69FEB9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ae0a73537_0_0:notes">
            <a:extLst>
              <a:ext uri="{FF2B5EF4-FFF2-40B4-BE49-F238E27FC236}">
                <a16:creationId xmlns:a16="http://schemas.microsoft.com/office/drawing/2014/main" id="{795D642C-7C4C-B0F9-AC03-365EDFC662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eae0a73537_0_0:notes">
            <a:extLst>
              <a:ext uri="{FF2B5EF4-FFF2-40B4-BE49-F238E27FC236}">
                <a16:creationId xmlns:a16="http://schemas.microsoft.com/office/drawing/2014/main" id="{599BC328-AD98-854A-5921-2E528898B0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7248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ae0a735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eae0a7353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7338FAEB-6C9C-B04C-7D16-D8421098F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ae0a73537_0_0:notes">
            <a:extLst>
              <a:ext uri="{FF2B5EF4-FFF2-40B4-BE49-F238E27FC236}">
                <a16:creationId xmlns:a16="http://schemas.microsoft.com/office/drawing/2014/main" id="{FFF97A98-6470-BD91-1645-683587A8B6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eae0a73537_0_0:notes">
            <a:extLst>
              <a:ext uri="{FF2B5EF4-FFF2-40B4-BE49-F238E27FC236}">
                <a16:creationId xmlns:a16="http://schemas.microsoft.com/office/drawing/2014/main" id="{2928BBED-7361-7A64-63F2-DB7DDB8578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4221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19406F74-1469-3BB2-4307-BBE793399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ae0a73537_0_0:notes">
            <a:extLst>
              <a:ext uri="{FF2B5EF4-FFF2-40B4-BE49-F238E27FC236}">
                <a16:creationId xmlns:a16="http://schemas.microsoft.com/office/drawing/2014/main" id="{A1A37E6B-CF85-3779-85C9-45CA049DFF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eae0a73537_0_0:notes">
            <a:extLst>
              <a:ext uri="{FF2B5EF4-FFF2-40B4-BE49-F238E27FC236}">
                <a16:creationId xmlns:a16="http://schemas.microsoft.com/office/drawing/2014/main" id="{5C90AF22-096A-130C-D330-0A8DF98337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17462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A4BF1B02-0407-2EBC-C3A0-5AD1256F6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786dd1ff58_0_0:notes">
            <a:extLst>
              <a:ext uri="{FF2B5EF4-FFF2-40B4-BE49-F238E27FC236}">
                <a16:creationId xmlns:a16="http://schemas.microsoft.com/office/drawing/2014/main" id="{E4F34719-EE32-A8BD-9898-8713B33AC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786dd1ff58_0_0:notes">
            <a:extLst>
              <a:ext uri="{FF2B5EF4-FFF2-40B4-BE49-F238E27FC236}">
                <a16:creationId xmlns:a16="http://schemas.microsoft.com/office/drawing/2014/main" id="{6866F861-1536-2EC6-9CFB-3CD730A028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0604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1dc80584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f1dc805847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f1dc805847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f1dc805847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f1dc805847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f1dc805847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f1dc805847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f1dc805847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786dd1ff5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786dd1ff5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f064215b0b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f064215b0b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f1dc805847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f1dc805847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f1dc805847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f1dc805847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f1dc805847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f1dc805847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786dd1ff5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786dd1ff5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786dd1ff5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786dd1ff5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eae0a73537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eae0a73537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eae0a73537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eae0a73537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2f1dc80584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2f1dc80584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3FCE869F-4FD0-9B83-E5BD-69F2C2093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4527bd3c9c_0_6:notes">
            <a:extLst>
              <a:ext uri="{FF2B5EF4-FFF2-40B4-BE49-F238E27FC236}">
                <a16:creationId xmlns:a16="http://schemas.microsoft.com/office/drawing/2014/main" id="{76B28D9D-2421-DDE4-5C0E-0D7C24394E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4527bd3c9c_0_6:notes">
            <a:extLst>
              <a:ext uri="{FF2B5EF4-FFF2-40B4-BE49-F238E27FC236}">
                <a16:creationId xmlns:a16="http://schemas.microsoft.com/office/drawing/2014/main" id="{AFA5FE94-E792-A4D1-900A-B1B407E039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08146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EB64F034-7F12-AD91-70AD-6F890E890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4527bd3c9c_0_14:notes">
            <a:extLst>
              <a:ext uri="{FF2B5EF4-FFF2-40B4-BE49-F238E27FC236}">
                <a16:creationId xmlns:a16="http://schemas.microsoft.com/office/drawing/2014/main" id="{9C124216-34F7-BA57-5A79-CE3DEC5003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4527bd3c9c_0_14:notes">
            <a:extLst>
              <a:ext uri="{FF2B5EF4-FFF2-40B4-BE49-F238E27FC236}">
                <a16:creationId xmlns:a16="http://schemas.microsoft.com/office/drawing/2014/main" id="{5F407EFA-A019-938D-3695-C4F3D04C2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485000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4527bd3c9c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4527bd3c9c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f1dc80584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f1dc80584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f1dc80584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2f1dc80584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f1dc805847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f1dc805847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f4e1364d6b_1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f4e1364d6b_1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143000" y="2167386"/>
            <a:ext cx="6858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alibri"/>
              <a:buNone/>
              <a:defRPr sz="33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13" name="Google Shape;13;p2"/>
          <p:cNvCxnSpPr/>
          <p:nvPr/>
        </p:nvCxnSpPr>
        <p:spPr>
          <a:xfrm>
            <a:off x="3817096" y="3944462"/>
            <a:ext cx="15099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" name="Google Shape;14;p2"/>
          <p:cNvSpPr txBox="1"/>
          <p:nvPr/>
        </p:nvSpPr>
        <p:spPr>
          <a:xfrm>
            <a:off x="1" y="4821596"/>
            <a:ext cx="9144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Departamento de Control de Gestión y Sistemas de Información | Facultad de Economía y Negocios | Universidad de Chile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5343613" y="893286"/>
            <a:ext cx="23601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628650" y="657087"/>
            <a:ext cx="64881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800"/>
              <a:buFont typeface="Calibri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628650" y="1008529"/>
            <a:ext cx="7886700" cy="36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content slide">
  <p:cSld name="Main content slid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81000" y="259797"/>
            <a:ext cx="8134500" cy="3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Poppins"/>
              <a:buNone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381000" y="595222"/>
            <a:ext cx="8134500" cy="40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0" i="0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381000" y="4654550"/>
            <a:ext cx="2057400" cy="1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tada final">
  <p:cSld name="Portada final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" name="Google Shape;28;p5"/>
          <p:cNvSpPr txBox="1"/>
          <p:nvPr/>
        </p:nvSpPr>
        <p:spPr>
          <a:xfrm>
            <a:off x="279918" y="3112435"/>
            <a:ext cx="38628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+56 2 2978 3565 | contacto@uejecutivos.cl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Facultad de Economía y Negocios: 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Diagonal Paraguay 257, Piso 6, Santiago.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Campus oriente: Av. Nueva Los Leones 0222, Providencia.</a:t>
            </a:r>
            <a:endParaRPr sz="1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5"/>
          <p:cNvCxnSpPr/>
          <p:nvPr/>
        </p:nvCxnSpPr>
        <p:spPr>
          <a:xfrm>
            <a:off x="346108" y="4259370"/>
            <a:ext cx="3726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623888" y="576263"/>
            <a:ext cx="7886700" cy="3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800"/>
              <a:buFont typeface="Calibri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623888" y="1079816"/>
            <a:ext cx="7886700" cy="3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6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6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628650" y="1567222"/>
            <a:ext cx="3886200" cy="30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4629150" y="1567222"/>
            <a:ext cx="3886200" cy="30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7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7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>
            <a:spLocks noGrp="1"/>
          </p:cNvSpPr>
          <p:nvPr>
            <p:ph type="title"/>
          </p:nvPr>
        </p:nvSpPr>
        <p:spPr>
          <a:xfrm>
            <a:off x="629841" y="753380"/>
            <a:ext cx="6461100" cy="6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1"/>
          </p:nvPr>
        </p:nvSpPr>
        <p:spPr>
          <a:xfrm>
            <a:off x="629841" y="1483046"/>
            <a:ext cx="38682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body" idx="2"/>
          </p:nvPr>
        </p:nvSpPr>
        <p:spPr>
          <a:xfrm>
            <a:off x="629841" y="2100864"/>
            <a:ext cx="3868200" cy="2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3"/>
          </p:nvPr>
        </p:nvSpPr>
        <p:spPr>
          <a:xfrm>
            <a:off x="4629150" y="1483046"/>
            <a:ext cx="388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4"/>
          </p:nvPr>
        </p:nvSpPr>
        <p:spPr>
          <a:xfrm>
            <a:off x="4629150" y="2100863"/>
            <a:ext cx="3887400" cy="254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8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9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0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629841" y="740568"/>
            <a:ext cx="2949300" cy="12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body" idx="1"/>
          </p:nvPr>
        </p:nvSpPr>
        <p:spPr>
          <a:xfrm>
            <a:off x="3887391" y="1015760"/>
            <a:ext cx="4629300" cy="33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body" idx="2"/>
          </p:nvPr>
        </p:nvSpPr>
        <p:spPr>
          <a:xfrm>
            <a:off x="629841" y="1979762"/>
            <a:ext cx="2949300" cy="24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1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1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629841" y="740568"/>
            <a:ext cx="2949300" cy="1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>
            <a:spLocks noGrp="1"/>
          </p:cNvSpPr>
          <p:nvPr>
            <p:ph type="pic" idx="2"/>
          </p:nvPr>
        </p:nvSpPr>
        <p:spPr>
          <a:xfrm>
            <a:off x="3887391" y="1061049"/>
            <a:ext cx="4629300" cy="3334800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2"/>
          <p:cNvSpPr txBox="1">
            <a:spLocks noGrp="1"/>
          </p:cNvSpPr>
          <p:nvPr>
            <p:ph type="body" idx="1"/>
          </p:nvPr>
        </p:nvSpPr>
        <p:spPr>
          <a:xfrm>
            <a:off x="629841" y="1785667"/>
            <a:ext cx="2949300" cy="26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2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1"/>
          </p:nvPr>
        </p:nvSpPr>
        <p:spPr>
          <a:xfrm rot="5400000">
            <a:off x="3079800" y="-802700"/>
            <a:ext cx="2984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3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 rot="5400000">
            <a:off x="5746950" y="1864318"/>
            <a:ext cx="35652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1"/>
          </p:nvPr>
        </p:nvSpPr>
        <p:spPr>
          <a:xfrm rot="5400000">
            <a:off x="1589325" y="-207372"/>
            <a:ext cx="38793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4"/>
          <p:cNvSpPr txBox="1"/>
          <p:nvPr/>
        </p:nvSpPr>
        <p:spPr>
          <a:xfrm>
            <a:off x="734785" y="449851"/>
            <a:ext cx="20862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Educación Ejecutiva | UEJECUTIVOS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506411" y="4839958"/>
            <a:ext cx="2104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9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contacto@</a:t>
            </a:r>
            <a:r>
              <a:rPr lang="en" sz="900" b="1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uejecutivos.cl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61950" rtl="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marL="914400" lvl="1" indent="-342900" rtl="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rtl="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93" name="Google Shape;93;p1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94" name="Google Shape;9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1">
  <p:cSld name="SECTION_HEADER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_2">
  <p:cSld name="SECTION_HEADER_2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0" name="Google Shape;10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834607"/>
            <a:ext cx="64881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3F7F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648450"/>
            <a:ext cx="7886700" cy="29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457950" y="4839958"/>
            <a:ext cx="20574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3686746" y="4981575"/>
            <a:ext cx="1791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Calificación: Publico, apto para su distribución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3686746" y="4981575"/>
            <a:ext cx="17919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Calificación: Publico, apto para su distribución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artificialanalysis.ai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arena.ai/leaderboard/agent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hyperlink" Target="https://groq.com/blog/inside-the-lpu-deconstructing-groq-speed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ctrTitle"/>
          </p:nvPr>
        </p:nvSpPr>
        <p:spPr>
          <a:xfrm>
            <a:off x="1143000" y="2571750"/>
            <a:ext cx="6858000" cy="10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lang="en" sz="2100" b="0" dirty="0" err="1"/>
              <a:t>Diplomado</a:t>
            </a:r>
            <a:r>
              <a:rPr lang="en" sz="2100" b="0" dirty="0"/>
              <a:t> de </a:t>
            </a:r>
            <a:r>
              <a:rPr lang="en" sz="2100" b="0" dirty="0" err="1"/>
              <a:t>Extensión</a:t>
            </a:r>
            <a:r>
              <a:rPr lang="en" sz="2100" b="0" dirty="0"/>
              <a:t> </a:t>
            </a:r>
            <a:r>
              <a:rPr lang="en" sz="2100" b="0" dirty="0" err="1"/>
              <a:t>en</a:t>
            </a:r>
            <a:br>
              <a:rPr lang="en" sz="2100" b="0" dirty="0"/>
            </a:br>
            <a:r>
              <a:rPr lang="en" sz="2100" dirty="0"/>
              <a:t>IA </a:t>
            </a:r>
            <a:r>
              <a:rPr lang="en" sz="2100" dirty="0" err="1"/>
              <a:t>Generativa</a:t>
            </a:r>
            <a:r>
              <a:rPr lang="en" sz="2100" dirty="0"/>
              <a:t> para Organizaciones</a:t>
            </a:r>
            <a:br>
              <a:rPr lang="en" sz="2100" dirty="0"/>
            </a:br>
            <a:br>
              <a:rPr lang="en" sz="2700" dirty="0"/>
            </a:br>
            <a:r>
              <a:rPr lang="en" sz="2700" dirty="0"/>
              <a:t>Modulo 5, Clase 1:</a:t>
            </a:r>
            <a:endParaRPr sz="2700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Calibri"/>
              <a:buNone/>
            </a:pPr>
            <a:r>
              <a:rPr lang="en" sz="2700" dirty="0" err="1"/>
              <a:t>Modelos</a:t>
            </a:r>
            <a:r>
              <a:rPr lang="en" sz="2700" dirty="0"/>
              <a:t> de </a:t>
            </a:r>
            <a:r>
              <a:rPr lang="en" sz="2700" dirty="0" err="1"/>
              <a:t>código</a:t>
            </a:r>
            <a:r>
              <a:rPr lang="en" sz="2700" dirty="0"/>
              <a:t> </a:t>
            </a:r>
            <a:r>
              <a:rPr lang="en" sz="2700" dirty="0" err="1"/>
              <a:t>abierto</a:t>
            </a:r>
            <a:endParaRPr sz="27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subTitle" idx="4294967295"/>
          </p:nvPr>
        </p:nvSpPr>
        <p:spPr>
          <a:xfrm>
            <a:off x="261374" y="4133753"/>
            <a:ext cx="4310700" cy="5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85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Profesor: </a:t>
            </a:r>
            <a:r>
              <a:rPr lang="en">
                <a:solidFill>
                  <a:schemeClr val="lt1"/>
                </a:solidFill>
              </a:rPr>
              <a:t>Jose manuel Peña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Email: </a:t>
            </a:r>
            <a:r>
              <a:rPr lang="en">
                <a:solidFill>
                  <a:schemeClr val="lt1"/>
                </a:solidFill>
              </a:rPr>
              <a:t>jmp2260</a:t>
            </a:r>
            <a:r>
              <a:rPr lang="en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@</a:t>
            </a:r>
            <a:r>
              <a:rPr lang="en">
                <a:solidFill>
                  <a:schemeClr val="lt1"/>
                </a:solidFill>
              </a:rPr>
              <a:t>columbia</a:t>
            </a:r>
            <a:r>
              <a:rPr lang="en" sz="21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">
                <a:solidFill>
                  <a:schemeClr val="lt1"/>
                </a:solidFill>
              </a:rPr>
              <a:t>edu</a:t>
            </a:r>
            <a:endParaRPr sz="2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7800" marR="0" lvl="0" indent="-635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1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38525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Temario</a:t>
            </a:r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dirty="0" err="1">
                <a:solidFill>
                  <a:schemeClr val="dk1"/>
                </a:solidFill>
              </a:rPr>
              <a:t>Introducción</a:t>
            </a:r>
            <a:endParaRPr sz="1200" dirty="0">
              <a:solidFill>
                <a:schemeClr val="dk1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dirty="0" err="1">
                <a:solidFill>
                  <a:schemeClr val="dk1"/>
                </a:solidFill>
              </a:rPr>
              <a:t>Ecosistema</a:t>
            </a:r>
            <a:r>
              <a:rPr lang="en" sz="1200" dirty="0">
                <a:solidFill>
                  <a:schemeClr val="dk1"/>
                </a:solidFill>
              </a:rPr>
              <a:t>:</a:t>
            </a:r>
            <a:endParaRPr sz="1200" dirty="0">
              <a:solidFill>
                <a:schemeClr val="dk1"/>
              </a:solidFill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200" dirty="0" err="1">
                <a:solidFill>
                  <a:schemeClr val="dk1"/>
                </a:solidFill>
              </a:rPr>
              <a:t>Oferentes</a:t>
            </a:r>
            <a:r>
              <a:rPr lang="en" sz="1200" dirty="0">
                <a:solidFill>
                  <a:schemeClr val="dk1"/>
                </a:solidFill>
              </a:rPr>
              <a:t> y </a:t>
            </a:r>
            <a:r>
              <a:rPr lang="en" sz="1200" dirty="0" err="1">
                <a:solidFill>
                  <a:schemeClr val="dk1"/>
                </a:solidFill>
              </a:rPr>
              <a:t>Servicios</a:t>
            </a:r>
            <a:r>
              <a:rPr lang="en" sz="1200" dirty="0">
                <a:solidFill>
                  <a:schemeClr val="dk1"/>
                </a:solidFill>
              </a:rPr>
              <a:t> </a:t>
            </a:r>
            <a:r>
              <a:rPr lang="en" sz="1200" dirty="0" err="1">
                <a:solidFill>
                  <a:schemeClr val="dk1"/>
                </a:solidFill>
              </a:rPr>
              <a:t>Relacionados</a:t>
            </a:r>
            <a:endParaRPr sz="1200" dirty="0">
              <a:solidFill>
                <a:schemeClr val="dk1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dirty="0">
                <a:solidFill>
                  <a:schemeClr val="dk1"/>
                </a:solidFill>
              </a:rPr>
              <a:t>Fine Tuning:</a:t>
            </a:r>
            <a:endParaRPr sz="1200" dirty="0">
              <a:solidFill>
                <a:schemeClr val="dk1"/>
              </a:solidFill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" sz="1200" dirty="0">
                <a:solidFill>
                  <a:schemeClr val="dk1"/>
                </a:solidFill>
              </a:rPr>
              <a:t>Parameter Efficient Fine Tuning (PEFT): Lora, </a:t>
            </a:r>
            <a:r>
              <a:rPr lang="en" sz="1200" dirty="0" err="1">
                <a:solidFill>
                  <a:schemeClr val="dk1"/>
                </a:solidFill>
              </a:rPr>
              <a:t>QLora</a:t>
            </a:r>
            <a:endParaRPr sz="1200" dirty="0">
              <a:solidFill>
                <a:schemeClr val="dk1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dirty="0">
                <a:solidFill>
                  <a:schemeClr val="dk1"/>
                </a:solidFill>
              </a:rPr>
              <a:t>Caso </a:t>
            </a:r>
            <a:r>
              <a:rPr lang="en" sz="1200" dirty="0" err="1">
                <a:solidFill>
                  <a:schemeClr val="dk1"/>
                </a:solidFill>
              </a:rPr>
              <a:t>práctico</a:t>
            </a:r>
            <a:r>
              <a:rPr lang="en" sz="1200" dirty="0">
                <a:solidFill>
                  <a:schemeClr val="dk1"/>
                </a:solidFill>
              </a:rPr>
              <a:t> </a:t>
            </a:r>
            <a:endParaRPr sz="1200" dirty="0">
              <a:solidFill>
                <a:schemeClr val="dk1"/>
              </a:solidFill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s-CL" sz="1200" dirty="0">
                <a:solidFill>
                  <a:schemeClr val="dk1"/>
                </a:solidFill>
              </a:rPr>
              <a:t>Destilación de modelos:</a:t>
            </a:r>
            <a:endParaRPr sz="1200" dirty="0">
              <a:solidFill>
                <a:schemeClr val="dk1"/>
              </a:solidFill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s-CL" sz="1200" dirty="0">
                <a:solidFill>
                  <a:schemeClr val="dk1"/>
                </a:solidFill>
              </a:rPr>
              <a:t>Arquitectura, tipos, y la disputa por destilación entre EE. UU. y China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200"/>
              <a:buAutoNum type="arabicPeriod"/>
            </a:pPr>
            <a:r>
              <a:rPr lang="en" sz="1200" dirty="0">
                <a:solidFill>
                  <a:schemeClr val="dk1"/>
                </a:solidFill>
              </a:rPr>
              <a:t>Discussion: Open source vs Closed Source</a:t>
            </a: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Introducción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¿Cuál es la propuesta de valor?</a:t>
            </a:r>
            <a:endParaRPr/>
          </a:p>
        </p:txBody>
      </p:sp>
      <p:grpSp>
        <p:nvGrpSpPr>
          <p:cNvPr id="136" name="Google Shape;136;p24"/>
          <p:cNvGrpSpPr/>
          <p:nvPr/>
        </p:nvGrpSpPr>
        <p:grpSpPr>
          <a:xfrm>
            <a:off x="303136" y="1258050"/>
            <a:ext cx="2726286" cy="2547000"/>
            <a:chOff x="1293736" y="1258050"/>
            <a:chExt cx="2726286" cy="2547000"/>
          </a:xfrm>
        </p:grpSpPr>
        <p:sp>
          <p:nvSpPr>
            <p:cNvPr id="137" name="Google Shape;137;p24"/>
            <p:cNvSpPr/>
            <p:nvPr/>
          </p:nvSpPr>
          <p:spPr>
            <a:xfrm rot="2700000">
              <a:off x="2286374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rgbClr val="0942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24"/>
            <p:cNvSpPr/>
            <p:nvPr/>
          </p:nvSpPr>
          <p:spPr>
            <a:xfrm>
              <a:off x="151075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942A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sz="1200" b="1">
                <a:solidFill>
                  <a:srgbClr val="0942A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39" name="Google Shape;139;p24"/>
            <p:cNvSpPr txBox="1"/>
            <p:nvPr/>
          </p:nvSpPr>
          <p:spPr>
            <a:xfrm rot="-2700000">
              <a:off x="1501398" y="2241353"/>
              <a:ext cx="2332604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Privacidad</a:t>
              </a:r>
              <a:endParaRPr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0" name="Google Shape;140;p24"/>
            <p:cNvSpPr txBox="1"/>
            <p:nvPr/>
          </p:nvSpPr>
          <p:spPr>
            <a:xfrm rot="-2700000">
              <a:off x="195970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latin typeface="Roboto"/>
                  <a:ea typeface="Roboto"/>
                  <a:cs typeface="Roboto"/>
                  <a:sym typeface="Roboto"/>
                </a:rPr>
                <a:t>Permite corrrer LLMs en infraestructura propia, aumentando la privacidad</a:t>
              </a:r>
              <a:endParaRPr sz="8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1" name="Google Shape;141;p24"/>
          <p:cNvGrpSpPr/>
          <p:nvPr/>
        </p:nvGrpSpPr>
        <p:grpSpPr>
          <a:xfrm>
            <a:off x="2213358" y="1258050"/>
            <a:ext cx="2726286" cy="2547000"/>
            <a:chOff x="3203958" y="1258050"/>
            <a:chExt cx="2726286" cy="2547000"/>
          </a:xfrm>
        </p:grpSpPr>
        <p:sp>
          <p:nvSpPr>
            <p:cNvPr id="142" name="Google Shape;142;p24"/>
            <p:cNvSpPr/>
            <p:nvPr/>
          </p:nvSpPr>
          <p:spPr>
            <a:xfrm rot="2700000">
              <a:off x="4196595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rgbClr val="0D5C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24"/>
            <p:cNvSpPr/>
            <p:nvPr/>
          </p:nvSpPr>
          <p:spPr>
            <a:xfrm>
              <a:off x="3420974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0D5CD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sz="1200" b="1">
                <a:solidFill>
                  <a:srgbClr val="0D5CD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4" name="Google Shape;144;p24"/>
            <p:cNvSpPr txBox="1"/>
            <p:nvPr/>
          </p:nvSpPr>
          <p:spPr>
            <a:xfrm rot="-2700000">
              <a:off x="3410687" y="2240903"/>
              <a:ext cx="2333877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Personalización</a:t>
              </a:r>
              <a:endParaRPr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5" name="Google Shape;145;p24"/>
            <p:cNvSpPr txBox="1"/>
            <p:nvPr/>
          </p:nvSpPr>
          <p:spPr>
            <a:xfrm rot="-2700000">
              <a:off x="3869931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latin typeface="Roboto"/>
                  <a:ea typeface="Roboto"/>
                  <a:cs typeface="Roboto"/>
                  <a:sym typeface="Roboto"/>
                </a:rPr>
                <a:t>Modelos open source pueden ser personalizados vía fine-tuning</a:t>
              </a:r>
              <a:endParaRPr sz="8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6" name="Google Shape;146;p24"/>
          <p:cNvGrpSpPr/>
          <p:nvPr/>
        </p:nvGrpSpPr>
        <p:grpSpPr>
          <a:xfrm>
            <a:off x="4133377" y="1258050"/>
            <a:ext cx="2726286" cy="2547000"/>
            <a:chOff x="5123977" y="1258050"/>
            <a:chExt cx="2726286" cy="2547000"/>
          </a:xfrm>
        </p:grpSpPr>
        <p:sp>
          <p:nvSpPr>
            <p:cNvPr id="147" name="Google Shape;147;p24"/>
            <p:cNvSpPr/>
            <p:nvPr/>
          </p:nvSpPr>
          <p:spPr>
            <a:xfrm rot="2700000">
              <a:off x="6116614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rgbClr val="307A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24"/>
            <p:cNvSpPr/>
            <p:nvPr/>
          </p:nvSpPr>
          <p:spPr>
            <a:xfrm>
              <a:off x="534099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307AF3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sz="1200" b="1">
                <a:solidFill>
                  <a:srgbClr val="307A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49" name="Google Shape;149;p24"/>
            <p:cNvSpPr txBox="1"/>
            <p:nvPr/>
          </p:nvSpPr>
          <p:spPr>
            <a:xfrm rot="-2700000">
              <a:off x="5323969" y="2238203"/>
              <a:ext cx="2341513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Precio</a:t>
              </a:r>
              <a:endParaRPr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0" name="Google Shape;150;p24"/>
            <p:cNvSpPr txBox="1"/>
            <p:nvPr/>
          </p:nvSpPr>
          <p:spPr>
            <a:xfrm rot="-2700000">
              <a:off x="578994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latin typeface="Roboto"/>
                  <a:ea typeface="Roboto"/>
                  <a:cs typeface="Roboto"/>
                  <a:sym typeface="Roboto"/>
                </a:rPr>
                <a:t>El modelo al ser gratis hace que el costo dependa solamente de la infraestructura de su deployment.</a:t>
              </a:r>
              <a:endParaRPr sz="8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1" name="Google Shape;151;p24"/>
          <p:cNvGrpSpPr/>
          <p:nvPr/>
        </p:nvGrpSpPr>
        <p:grpSpPr>
          <a:xfrm>
            <a:off x="5919402" y="1298250"/>
            <a:ext cx="2726286" cy="2547000"/>
            <a:chOff x="5123977" y="1258050"/>
            <a:chExt cx="2726286" cy="2547000"/>
          </a:xfrm>
        </p:grpSpPr>
        <p:sp>
          <p:nvSpPr>
            <p:cNvPr id="152" name="Google Shape;152;p24"/>
            <p:cNvSpPr/>
            <p:nvPr/>
          </p:nvSpPr>
          <p:spPr>
            <a:xfrm rot="2700000">
              <a:off x="6116614" y="1011412"/>
              <a:ext cx="561726" cy="3040276"/>
            </a:xfrm>
            <a:prstGeom prst="roundRect">
              <a:avLst>
                <a:gd name="adj" fmla="val 50000"/>
              </a:avLst>
            </a:prstGeom>
            <a:solidFill>
              <a:srgbClr val="307A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4"/>
            <p:cNvSpPr/>
            <p:nvPr/>
          </p:nvSpPr>
          <p:spPr>
            <a:xfrm>
              <a:off x="534099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307AF3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sz="1200" b="1">
                <a:solidFill>
                  <a:srgbClr val="307AF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4" name="Google Shape;154;p24"/>
            <p:cNvSpPr txBox="1"/>
            <p:nvPr/>
          </p:nvSpPr>
          <p:spPr>
            <a:xfrm rot="-2700000">
              <a:off x="5323969" y="2238203"/>
              <a:ext cx="2341513" cy="39329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Control</a:t>
              </a:r>
              <a:endParaRPr sz="8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5" name="Google Shape;155;p24"/>
            <p:cNvSpPr txBox="1"/>
            <p:nvPr/>
          </p:nvSpPr>
          <p:spPr>
            <a:xfrm rot="-2700000">
              <a:off x="5789949" y="25506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latin typeface="Roboto"/>
                  <a:ea typeface="Roboto"/>
                  <a:cs typeface="Roboto"/>
                  <a:sym typeface="Roboto"/>
                </a:rPr>
                <a:t>La pcapacidadayor control (latencia, redundancia, seguridad, etc)</a:t>
              </a:r>
              <a:endParaRPr sz="800"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vs closed: David vs Goliath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4D862D-FAA7-B893-29FD-E9A5737E4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30" y="1069388"/>
            <a:ext cx="7679939" cy="35403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280C9350-1793-FABE-3ABE-08D7C469D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>
            <a:extLst>
              <a:ext uri="{FF2B5EF4-FFF2-40B4-BE49-F238E27FC236}">
                <a16:creationId xmlns:a16="http://schemas.microsoft.com/office/drawing/2014/main" id="{EDA47C34-3A2E-8816-696A-15ACBFA91E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vs closed: David vs Goliath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40175A1-E04A-0D34-70E7-22B5D1EA2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9449" y="1140288"/>
            <a:ext cx="6025101" cy="327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239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405" y="1149266"/>
            <a:ext cx="5713843" cy="3398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vs closed: David vs Goliath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7ADB74E8-DA62-AFA4-7C70-67CFEB2E6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>
            <a:extLst>
              <a:ext uri="{FF2B5EF4-FFF2-40B4-BE49-F238E27FC236}">
                <a16:creationId xmlns:a16="http://schemas.microsoft.com/office/drawing/2014/main" id="{A3022054-09E3-E406-4032-A391F3F3B1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vs closed: David vs Goliath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AEC803-B257-2351-6443-81837D3C2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132" y="1201015"/>
            <a:ext cx="6573735" cy="333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2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8792B451-9154-EB97-6398-E7EC4D86D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>
            <a:extLst>
              <a:ext uri="{FF2B5EF4-FFF2-40B4-BE49-F238E27FC236}">
                <a16:creationId xmlns:a16="http://schemas.microsoft.com/office/drawing/2014/main" id="{43DC9E35-480C-BF92-C501-91E60FC54E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vs closed: David vs Goliath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8EB8E1-C6DE-FA18-8EC2-695EA3C676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83" r="2509"/>
          <a:stretch>
            <a:fillRect/>
          </a:stretch>
        </p:blipFill>
        <p:spPr>
          <a:xfrm>
            <a:off x="1783079" y="849840"/>
            <a:ext cx="4945381" cy="355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67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93FBE906-82C6-79F0-DAE7-25FBEF699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>
            <a:extLst>
              <a:ext uri="{FF2B5EF4-FFF2-40B4-BE49-F238E27FC236}">
                <a16:creationId xmlns:a16="http://schemas.microsoft.com/office/drawing/2014/main" id="{82F40AD2-816B-BFDF-EF69-8AE2EF76BA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Corriendo</a:t>
            </a:r>
            <a:r>
              <a:rPr lang="en" dirty="0"/>
              <a:t> </a:t>
            </a:r>
            <a:r>
              <a:rPr lang="en" dirty="0" err="1"/>
              <a:t>modelos</a:t>
            </a:r>
            <a:r>
              <a:rPr lang="en" dirty="0"/>
              <a:t> locales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2303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Caso 1: Correr un modelo open source localmente</a:t>
            </a:r>
            <a:endParaRPr/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6900" y="3092350"/>
            <a:ext cx="1430200" cy="14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Corriendo un modelo localmente via Ollama.</a:t>
            </a:r>
            <a:endParaRPr/>
          </a:p>
        </p:txBody>
      </p:sp>
      <p:sp>
        <p:nvSpPr>
          <p:cNvPr id="184" name="Google Shape;184;p29"/>
          <p:cNvSpPr txBox="1"/>
          <p:nvPr/>
        </p:nvSpPr>
        <p:spPr>
          <a:xfrm>
            <a:off x="311700" y="8538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https://ollama.com/</a:t>
            </a:r>
            <a:endParaRPr/>
          </a:p>
        </p:txBody>
      </p:sp>
      <p:pic>
        <p:nvPicPr>
          <p:cNvPr id="185" name="Google Shape;18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4675" y="914525"/>
            <a:ext cx="3707624" cy="3756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Corriendo un modelo localmente via Ollama.</a:t>
            </a:r>
            <a:endParaRPr/>
          </a:p>
        </p:txBody>
      </p:sp>
      <p:sp>
        <p:nvSpPr>
          <p:cNvPr id="191" name="Google Shape;191;p30"/>
          <p:cNvSpPr txBox="1"/>
          <p:nvPr/>
        </p:nvSpPr>
        <p:spPr>
          <a:xfrm>
            <a:off x="311700" y="8538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Ollama run &lt;model&gt;</a:t>
            </a:r>
            <a:endParaRPr/>
          </a:p>
        </p:txBody>
      </p:sp>
      <p:pic>
        <p:nvPicPr>
          <p:cNvPr id="192" name="Google Shape;19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1700" y="1082850"/>
            <a:ext cx="4628998" cy="1454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1700" y="2537472"/>
            <a:ext cx="4628998" cy="2156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Corriendo un modelo localmente via Ollama.</a:t>
            </a:r>
            <a:endParaRPr/>
          </a:p>
        </p:txBody>
      </p:sp>
      <p:sp>
        <p:nvSpPr>
          <p:cNvPr id="199" name="Google Shape;199;p31"/>
          <p:cNvSpPr txBox="1"/>
          <p:nvPr/>
        </p:nvSpPr>
        <p:spPr>
          <a:xfrm>
            <a:off x="311700" y="8538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Corre Langchain</a:t>
            </a:r>
            <a:endParaRPr/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500" y="1122550"/>
            <a:ext cx="5612632" cy="343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Fine tunning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 es finetunning?</a:t>
            </a:r>
            <a:endParaRPr/>
          </a:p>
        </p:txBody>
      </p:sp>
      <p:pic>
        <p:nvPicPr>
          <p:cNvPr id="211" name="Google Shape;21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875" y="1080900"/>
            <a:ext cx="8480251" cy="353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 es finetunning?</a:t>
            </a:r>
            <a:endParaRPr/>
          </a:p>
        </p:txBody>
      </p:sp>
      <p:pic>
        <p:nvPicPr>
          <p:cNvPr id="217" name="Google Shape;21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9429" y="993912"/>
            <a:ext cx="5335075" cy="3593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Cómo hacerlo eficiente?</a:t>
            </a:r>
            <a:endParaRPr/>
          </a:p>
        </p:txBody>
      </p:sp>
      <p:pic>
        <p:nvPicPr>
          <p:cNvPr id="223" name="Google Shape;22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3950" y="1551400"/>
            <a:ext cx="5656099" cy="254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3949" y="1189413"/>
            <a:ext cx="5656100" cy="327262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5"/>
          <p:cNvSpPr txBox="1"/>
          <p:nvPr/>
        </p:nvSpPr>
        <p:spPr>
          <a:xfrm>
            <a:off x="249875" y="672225"/>
            <a:ext cx="5997300" cy="8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Parameter Efficient Fine Tunning: </a:t>
            </a:r>
            <a:endParaRPr sz="2400">
              <a:solidFill>
                <a:srgbClr val="1C3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Low Rank Adaptation (LoRA)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35"/>
          <p:cNvSpPr txBox="1"/>
          <p:nvPr/>
        </p:nvSpPr>
        <p:spPr>
          <a:xfrm>
            <a:off x="6445000" y="3406375"/>
            <a:ext cx="2203500" cy="47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R &lt;&lt; 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Cómo hacerlo eficiente?</a:t>
            </a:r>
            <a:endParaRPr/>
          </a:p>
        </p:txBody>
      </p:sp>
      <p:sp>
        <p:nvSpPr>
          <p:cNvPr id="232" name="Google Shape;232;p36"/>
          <p:cNvSpPr txBox="1"/>
          <p:nvPr/>
        </p:nvSpPr>
        <p:spPr>
          <a:xfrm>
            <a:off x="249875" y="672225"/>
            <a:ext cx="5997300" cy="10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Parameter Efficient Fine Tunning: </a:t>
            </a:r>
            <a:endParaRPr sz="2400">
              <a:solidFill>
                <a:srgbClr val="1C3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1C3F7F"/>
                </a:solidFill>
                <a:latin typeface="Calibri"/>
                <a:ea typeface="Calibri"/>
                <a:cs typeface="Calibri"/>
                <a:sym typeface="Calibri"/>
              </a:rPr>
              <a:t>Quantized LoRA (QLoRA)</a:t>
            </a:r>
            <a:endParaRPr sz="2100">
              <a:solidFill>
                <a:srgbClr val="1C3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C3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1226" y="1674225"/>
            <a:ext cx="6353652" cy="2782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Caso 2: fine tuning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Destilación de modelos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810" y="0"/>
            <a:ext cx="8519465" cy="572414"/>
          </a:xfrm>
        </p:spPr>
        <p:txBody>
          <a:bodyPr/>
          <a:lstStyle/>
          <a:p>
            <a:r>
              <a:rPr lang="es-CL"/>
              <a:t>¿Qué es destilar un modelo?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810" y="658368"/>
            <a:ext cx="67665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1800" b="0" i="0" dirty="0">
                <a:solidFill>
                  <a:srgbClr val="44546A"/>
                </a:solidFill>
                <a:latin typeface="Arial"/>
              </a:rPr>
              <a:t>El dato de entrenamiento lo generó otro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810" y="1115568"/>
            <a:ext cx="8519465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8A94A2"/>
                </a:solidFill>
                <a:latin typeface="Arial"/>
              </a:rPr>
              <a:t>DOS MANERAS DE ENTRENAR AL MISMO MODELO PEQUEÑO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810" y="1444752"/>
            <a:ext cx="1133856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44546A"/>
                </a:solidFill>
                <a:latin typeface="Arial"/>
              </a:rPr>
              <a:t>FINE-TUNING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00" b="0" i="0" dirty="0">
                <a:solidFill>
                  <a:srgbClr val="8A94A2"/>
                </a:solidFill>
                <a:latin typeface="Arial"/>
              </a:rPr>
              <a:t>lo del caso 2</a:t>
            </a:r>
          </a:p>
        </p:txBody>
      </p:sp>
      <p:sp>
        <p:nvSpPr>
          <p:cNvPr id="6" name="Rectangle 5"/>
          <p:cNvSpPr/>
          <p:nvPr/>
        </p:nvSpPr>
        <p:spPr>
          <a:xfrm>
            <a:off x="1518818" y="1353312"/>
            <a:ext cx="5424907" cy="5486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01114" y="1426464"/>
            <a:ext cx="5260315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1A2332"/>
                </a:solidFill>
                <a:latin typeface="Arial"/>
              </a:rPr>
              <a:t>Corpus escrito por personas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Texto que alguien redactó — WikiText-2, tus contratos, tus tickets.</a:t>
            </a:r>
          </a:p>
        </p:txBody>
      </p:sp>
      <p:sp>
        <p:nvSpPr>
          <p:cNvPr id="8" name="Arrow 7"/>
          <p:cNvSpPr/>
          <p:nvPr/>
        </p:nvSpPr>
        <p:spPr>
          <a:xfrm>
            <a:off x="6943725" y="1568196"/>
            <a:ext cx="237744" cy="118872"/>
          </a:xfrm>
          <a:prstGeom prst="rightArrow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81469" y="1353312"/>
            <a:ext cx="1649806" cy="5486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63765" y="1426464"/>
            <a:ext cx="1485214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1A2332"/>
                </a:solidFill>
                <a:latin typeface="Arial"/>
              </a:rPr>
              <a:t>MODELO ESTUDIANTE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Ajusta sus pesos al dominio.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" y="2139696"/>
            <a:ext cx="1133856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4F77A6"/>
                </a:solidFill>
                <a:latin typeface="Arial"/>
              </a:rPr>
              <a:t>DESTILACIÓN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00" b="0" i="0" dirty="0">
                <a:solidFill>
                  <a:srgbClr val="8A94A2"/>
                </a:solidFill>
                <a:latin typeface="Arial"/>
              </a:rPr>
              <a:t>lo de este bloque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18818" y="2048256"/>
            <a:ext cx="1649806" cy="5486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01114" y="2121408"/>
            <a:ext cx="1485214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1A2332"/>
                </a:solidFill>
                <a:latin typeface="Arial"/>
              </a:rPr>
              <a:t>Corpus de prompts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Solo las preguntas, sin respuestas.</a:t>
            </a:r>
          </a:p>
        </p:txBody>
      </p:sp>
      <p:sp>
        <p:nvSpPr>
          <p:cNvPr id="14" name="Arrow 13"/>
          <p:cNvSpPr/>
          <p:nvPr/>
        </p:nvSpPr>
        <p:spPr>
          <a:xfrm>
            <a:off x="3168625" y="2263140"/>
            <a:ext cx="237744" cy="118872"/>
          </a:xfrm>
          <a:prstGeom prst="rightArrow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6369" y="2048256"/>
            <a:ext cx="1649806" cy="5486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88665" y="2121408"/>
            <a:ext cx="1485214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1A2332"/>
                </a:solidFill>
                <a:latin typeface="Arial"/>
              </a:rPr>
              <a:t>MODELO MAESTRO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Grande y ya entrenado. Responde.</a:t>
            </a:r>
          </a:p>
        </p:txBody>
      </p:sp>
      <p:sp>
        <p:nvSpPr>
          <p:cNvPr id="17" name="Arrow 16"/>
          <p:cNvSpPr/>
          <p:nvPr/>
        </p:nvSpPr>
        <p:spPr>
          <a:xfrm>
            <a:off x="5056175" y="2263140"/>
            <a:ext cx="237744" cy="118872"/>
          </a:xfrm>
          <a:prstGeom prst="rightArrow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293919" y="2048256"/>
            <a:ext cx="1649806" cy="5486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76215" y="2121408"/>
            <a:ext cx="1485214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1A2332"/>
                </a:solidFill>
                <a:latin typeface="Arial"/>
              </a:rPr>
              <a:t>Sus respuestas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El dataset lo escribe el maestro.</a:t>
            </a:r>
          </a:p>
        </p:txBody>
      </p:sp>
      <p:sp>
        <p:nvSpPr>
          <p:cNvPr id="20" name="Arrow 19"/>
          <p:cNvSpPr/>
          <p:nvPr/>
        </p:nvSpPr>
        <p:spPr>
          <a:xfrm>
            <a:off x="6943725" y="2263140"/>
            <a:ext cx="237744" cy="118872"/>
          </a:xfrm>
          <a:prstGeom prst="rightArrow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181469" y="2048256"/>
            <a:ext cx="1649806" cy="5486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63765" y="2121408"/>
            <a:ext cx="1485214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1A2332"/>
                </a:solidFill>
                <a:latin typeface="Arial"/>
              </a:rPr>
              <a:t>MODELO ESTUDIANTE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Ajusta sus pesos al maestro.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1810" y="2743200"/>
            <a:ext cx="8519465" cy="38404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1538" y="2822204"/>
            <a:ext cx="8300009" cy="27028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1000" b="1" i="0" dirty="0">
                <a:solidFill>
                  <a:srgbClr val="1A2332"/>
                </a:solidFill>
                <a:latin typeface="Arial"/>
              </a:rPr>
              <a:t>En fine-tuning el dato lo escribió alguien. En destilación lo generó otro modelo — y ahí empieza el problema legal.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11810" y="3273552"/>
            <a:ext cx="4114800" cy="84124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03250" y="3339389"/>
            <a:ext cx="3931920" cy="7464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4F77A6"/>
                </a:solidFill>
                <a:latin typeface="Arial"/>
              </a:rPr>
              <a:t>DISTILGPT2 YA ES UNA DESTILACIÓN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El modelo del caso 2 es GPT-2 destilado: 124M → 82M parámetros, 12 → 6 capas, ~60% más rápido en inferencia.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Perplejidad en WikiText-103: 16,3 el maestro, 21,1 el estudiante. Pagas algo de calidad y te llevas la mitad del tamaño.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16475" y="3273552"/>
            <a:ext cx="4114800" cy="84124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07915" y="3339389"/>
            <a:ext cx="3931920" cy="7464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4F77A6"/>
                </a:solidFill>
                <a:latin typeface="Arial"/>
              </a:rPr>
              <a:t>«DARK KNOWLEDGE» — HINTON ET AL., 2015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La etiqueta correcta dice «gato». La distribución blanda del maestro dice «gato 0,7 · tigre 0,2 · auto 0,001».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Esa segunda versión enseña qué se parece a qué. Es la señal que se copia — y por eso el estudiante aprende con muchísimos menos datos.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1810" y="4315968"/>
            <a:ext cx="851946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0" i="0" dirty="0">
                <a:solidFill>
                  <a:srgbClr val="5A6472"/>
                </a:solidFill>
                <a:latin typeface="Arial"/>
              </a:rPr>
              <a:t>DistilGPT2 se entrenó por destilación sobre OpenWebTextCorpus siguiendo el procedimiento de DistilBERT. Hinton, Vinyals y Dean, «Distilling the Knowledge in a Neural Network» (2015).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810" y="0"/>
            <a:ext cx="8519465" cy="572414"/>
          </a:xfrm>
        </p:spPr>
        <p:txBody>
          <a:bodyPr/>
          <a:lstStyle/>
          <a:p>
            <a:r>
              <a:rPr lang="es-CL"/>
              <a:t>Arquitectura general de la destilación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810" y="658368"/>
            <a:ext cx="67665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1800" b="0" i="0" dirty="0">
                <a:solidFill>
                  <a:srgbClr val="44546A"/>
                </a:solidFill>
                <a:latin typeface="Arial"/>
              </a:rPr>
              <a:t>Cuatro etapas — y dónde empieza el problema legal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810" y="1097280"/>
            <a:ext cx="1924126" cy="78638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94106" y="1170432"/>
            <a:ext cx="175953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1A2332"/>
                </a:solidFill>
                <a:latin typeface="Arial"/>
              </a:rPr>
              <a:t>1 · CORPUS DE PROMPTS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Preguntas y tareas. No es el corpus original del maestro: es solo lo que le vas a preguntar.</a:t>
            </a:r>
          </a:p>
        </p:txBody>
      </p:sp>
      <p:sp>
        <p:nvSpPr>
          <p:cNvPr id="6" name="Arrow 5"/>
          <p:cNvSpPr/>
          <p:nvPr/>
        </p:nvSpPr>
        <p:spPr>
          <a:xfrm>
            <a:off x="2235937" y="1431036"/>
            <a:ext cx="237744" cy="118872"/>
          </a:xfrm>
          <a:prstGeom prst="rightArrow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10257" y="1097280"/>
            <a:ext cx="1924126" cy="78638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92553" y="1170432"/>
            <a:ext cx="175953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1A2332"/>
                </a:solidFill>
                <a:latin typeface="Arial"/>
              </a:rPr>
              <a:t>2 · MODELO MAESTRO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Grande y ya entrenado. Responde cada prompt: p(·|x) a temperatura T.</a:t>
            </a:r>
          </a:p>
        </p:txBody>
      </p:sp>
      <p:sp>
        <p:nvSpPr>
          <p:cNvPr id="9" name="Arrow 8"/>
          <p:cNvSpPr/>
          <p:nvPr/>
        </p:nvSpPr>
        <p:spPr>
          <a:xfrm>
            <a:off x="4434383" y="1431036"/>
            <a:ext cx="237744" cy="118872"/>
          </a:xfrm>
          <a:prstGeom prst="rightArrow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08703" y="1097280"/>
            <a:ext cx="1924126" cy="78638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90999" y="1170432"/>
            <a:ext cx="175953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1A2332"/>
                </a:solidFill>
                <a:latin typeface="Arial"/>
              </a:rPr>
              <a:t>3 · LA SEÑAL DE ENSEÑANZA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Lo que el estudiante copia: la distribución blanda completa, o solo el texto final.</a:t>
            </a:r>
          </a:p>
        </p:txBody>
      </p:sp>
      <p:sp>
        <p:nvSpPr>
          <p:cNvPr id="12" name="Arrow 11"/>
          <p:cNvSpPr/>
          <p:nvPr/>
        </p:nvSpPr>
        <p:spPr>
          <a:xfrm>
            <a:off x="6632829" y="1431036"/>
            <a:ext cx="237744" cy="118872"/>
          </a:xfrm>
          <a:prstGeom prst="rightArrow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07149" y="1097280"/>
            <a:ext cx="1924126" cy="78638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89445" y="1170432"/>
            <a:ext cx="1759534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1A2332"/>
                </a:solidFill>
                <a:latin typeface="Arial"/>
              </a:rPr>
              <a:t>4 · MODELO ESTUDIANTE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Pequeño y barato. Ajusta sus pesos hasta reproducir al maestro en ese dominio.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1810" y="2139696"/>
            <a:ext cx="8519465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1538" y="2218700"/>
            <a:ext cx="8300009" cy="45316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1000" b="1" i="0" dirty="0">
                <a:solidFill>
                  <a:srgbClr val="1A2332"/>
                </a:solidFill>
                <a:latin typeface="Arial"/>
              </a:rPr>
              <a:t>pérdida  =  α · KL( maestro_T ‖ estudiante_T )   +   (1 − α) · CE( token real )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imitar la distribución blanda del maestro   ·   acertar el token correcto   —   una T alta suaviza la distribución y expone qué se parece a qué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810" y="2816352"/>
            <a:ext cx="8519465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8A94A2"/>
                </a:solidFill>
                <a:latin typeface="Arial"/>
              </a:rPr>
              <a:t>LA LÍNEA QUE SEPARA LA TÉCNICA DEL LITIGIO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1810" y="3054096"/>
            <a:ext cx="4114800" cy="78638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03250" y="3119933"/>
            <a:ext cx="3931920" cy="6915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950" b="1" i="0" dirty="0">
                <a:solidFill>
                  <a:srgbClr val="4F77A6"/>
                </a:solidFill>
                <a:latin typeface="Arial"/>
              </a:rPr>
              <a:t>White box </a:t>
            </a:r>
            <a:r>
              <a:rPr lang="es-CL" sz="950" b="1" i="0" dirty="0" err="1">
                <a:solidFill>
                  <a:srgbClr val="4F77A6"/>
                </a:solidFill>
                <a:latin typeface="Arial"/>
              </a:rPr>
              <a:t>distillation</a:t>
            </a:r>
            <a:endParaRPr lang="es-CL" sz="950" b="1" i="0" dirty="0">
              <a:solidFill>
                <a:srgbClr val="4F77A6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Necesitas: los pesos del maestro.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Señal: la distribución completa — logits, temperatura T, divergencia KL.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Estatus: lo permite la licencia, si el maestro es open-weights.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16475" y="3054096"/>
            <a:ext cx="4114800" cy="78638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07915" y="3119933"/>
            <a:ext cx="3931920" cy="6915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950" b="1" i="0" dirty="0">
                <a:solidFill>
                  <a:srgbClr val="4F77A6"/>
                </a:solidFill>
                <a:latin typeface="Arial"/>
              </a:rPr>
              <a:t>Black box </a:t>
            </a:r>
            <a:r>
              <a:rPr lang="es-CL" sz="950" b="1" i="0" dirty="0" err="1">
                <a:solidFill>
                  <a:srgbClr val="4F77A6"/>
                </a:solidFill>
                <a:latin typeface="Arial"/>
              </a:rPr>
              <a:t>distillation</a:t>
            </a:r>
            <a:endParaRPr lang="es-CL" sz="950" b="1" i="0" dirty="0">
              <a:solidFill>
                <a:srgbClr val="4F77A6"/>
              </a:solidFill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Necesitas: solo una cuenta de API.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Señal: solo el texto final del maestro, usado como fine-tuning supervisado.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Estatus: lo prohíben los términos de servicio de OpenAI y de Anthropic.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1810" y="4315968"/>
            <a:ext cx="851946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0" i="0" dirty="0">
                <a:solidFill>
                  <a:srgbClr val="5A6472"/>
                </a:solidFill>
                <a:latin typeface="Arial"/>
              </a:rPr>
              <a:t>La destilación de caja negra no requiere acceso privilegiado: basta una cuenta. De ahí salen las ~24.000 cuentas fraudulentas del caso que viene en los próximos slides.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810" y="0"/>
            <a:ext cx="8519465" cy="572414"/>
          </a:xfrm>
        </p:spPr>
        <p:txBody>
          <a:bodyPr/>
          <a:lstStyle/>
          <a:p>
            <a:r>
              <a:rPr lang="es-CL"/>
              <a:t>Tres formas de destilar — y quién usa cada 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810" y="658368"/>
            <a:ext cx="67665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1800" b="0" i="0" dirty="0">
                <a:solidFill>
                  <a:srgbClr val="44546A"/>
                </a:solidFill>
                <a:latin typeface="Arial"/>
              </a:rPr>
              <a:t>La usa toda la industria, incluidos los acusadores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810" y="1115568"/>
            <a:ext cx="2788006" cy="78638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3250" y="1181405"/>
            <a:ext cx="2605126" cy="6915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4F77A6"/>
                </a:solidFill>
                <a:latin typeface="Arial"/>
              </a:rPr>
              <a:t>OFF-POLICY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El maestro responde primero; el estudiante copia.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Soft labels si tienes los pesos; hard labels — fine-tuning sobre el texto — si solo tienes la API.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2968" y="1115568"/>
            <a:ext cx="2788006" cy="78638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64408" y="1181405"/>
            <a:ext cx="2605126" cy="6915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4F77A6"/>
                </a:solidFill>
                <a:latin typeface="Arial"/>
              </a:rPr>
              <a:t>ON-POLICY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El estudiante genera y el maestro corrige token a token lo que el estudiante produjo.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Variante MOPD: un maestro experto por dominio, todos guiando al mismo alumno.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4126" y="1115568"/>
            <a:ext cx="2788006" cy="78638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5566" y="1181405"/>
            <a:ext cx="2605126" cy="691579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4F77A6"/>
                </a:solidFill>
                <a:latin typeface="Arial"/>
              </a:rPr>
              <a:t>AUTO-DESTILACIÓN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El modelo aprende de una versión mejorada de sí mismo.</a:t>
            </a:r>
          </a:p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50" b="0" i="0" dirty="0">
                <a:solidFill>
                  <a:srgbClr val="5A6472"/>
                </a:solidFill>
                <a:latin typeface="Arial"/>
              </a:rPr>
              <a:t>Con pistas privilegiadas que no tendrá en inferencia, o de un checkpoint anterior para recuperar capacidad perdida.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" y="2103120"/>
            <a:ext cx="8519465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1" i="0" dirty="0">
                <a:solidFill>
                  <a:srgbClr val="8A94A2"/>
                </a:solidFill>
                <a:latin typeface="Arial"/>
              </a:rPr>
              <a:t>QUIÉN DESTILA — MODELOS DE 2026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11810" y="2322576"/>
          <a:ext cx="4114800" cy="1325880"/>
        </p:xfrm>
        <a:graphic>
          <a:graphicData uri="http://schemas.openxmlformats.org/drawingml/2006/table">
            <a:tbl>
              <a:tblPr>
                <a:tableStyleId>{5D318F78-D3C2-4329-A4A2-0733A066682E}</a:tableStyleId>
              </a:tblPr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s-CL" sz="800" b="1" i="0">
                          <a:solidFill>
                            <a:srgbClr val="1A2332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45720" marR="45720" marT="18288" marB="18288" anchor="ctr">
                    <a:solidFill>
                      <a:srgbClr val="DBE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800" b="1" i="0">
                          <a:solidFill>
                            <a:srgbClr val="1A2332"/>
                          </a:solidFill>
                          <a:latin typeface="Arial"/>
                        </a:rPr>
                        <a:t>Método</a:t>
                      </a:r>
                    </a:p>
                  </a:txBody>
                  <a:tcPr marL="45720" marR="45720" marT="18288" marB="18288" anchor="ctr">
                    <a:solidFill>
                      <a:srgbClr val="DB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s-CL" sz="800" b="1" i="0">
                          <a:solidFill>
                            <a:srgbClr val="1A2332"/>
                          </a:solidFill>
                          <a:latin typeface="Arial"/>
                        </a:rPr>
                        <a:t>Gemma 3 / 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800" b="0" i="0">
                          <a:solidFill>
                            <a:srgbClr val="5A6472"/>
                          </a:solidFill>
                          <a:latin typeface="Arial"/>
                        </a:rPr>
                        <a:t>off-policy desde un maestro grande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s-CL" sz="800" b="1" i="0">
                          <a:solidFill>
                            <a:srgbClr val="1A2332"/>
                          </a:solidFill>
                          <a:latin typeface="Arial"/>
                        </a:rPr>
                        <a:t>DeepSeek-R1-Distill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800" b="0" i="0">
                          <a:solidFill>
                            <a:srgbClr val="5A6472"/>
                          </a:solidFill>
                          <a:latin typeface="Arial"/>
                        </a:rPr>
                        <a:t>off-policy · 800k muestras de R1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s-CL" sz="800" b="1" i="0">
                          <a:solidFill>
                            <a:srgbClr val="1A2332"/>
                          </a:solidFill>
                          <a:latin typeface="Arial"/>
                        </a:rPr>
                        <a:t>DeepSeek-V4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800" b="0" i="0">
                          <a:solidFill>
                            <a:srgbClr val="5A6472"/>
                          </a:solidFill>
                          <a:latin typeface="Arial"/>
                        </a:rPr>
                        <a:t>on-policy · expertos por dominio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s-CL" sz="800" b="1" i="0">
                          <a:solidFill>
                            <a:srgbClr val="1A2332"/>
                          </a:solidFill>
                          <a:latin typeface="Arial"/>
                        </a:rPr>
                        <a:t>GLM-5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800" b="0" i="0">
                          <a:solidFill>
                            <a:srgbClr val="5A6472"/>
                          </a:solidFill>
                          <a:latin typeface="Arial"/>
                        </a:rPr>
                        <a:t>on-policy + auto-destilación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716475" y="2322576"/>
          <a:ext cx="4114800" cy="1325880"/>
        </p:xfrm>
        <a:graphic>
          <a:graphicData uri="http://schemas.openxmlformats.org/drawingml/2006/table">
            <a:tbl>
              <a:tblPr>
                <a:tableStyleId>{5D318F78-D3C2-4329-A4A2-0733A066682E}</a:tableStyleId>
              </a:tblPr>
              <a:tblGrid>
                <a:gridCol w="15727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2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s-CL" sz="800" b="1" i="0">
                          <a:solidFill>
                            <a:srgbClr val="1A2332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45720" marR="45720" marT="18288" marB="18288" anchor="ctr">
                    <a:solidFill>
                      <a:srgbClr val="DBE5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800" b="1" i="0">
                          <a:solidFill>
                            <a:srgbClr val="1A2332"/>
                          </a:solidFill>
                          <a:latin typeface="Arial"/>
                        </a:rPr>
                        <a:t>Método</a:t>
                      </a:r>
                    </a:p>
                  </a:txBody>
                  <a:tcPr marL="45720" marR="45720" marT="18288" marB="18288" anchor="ctr">
                    <a:solidFill>
                      <a:srgbClr val="DBE5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s-CL" sz="800" b="1" i="0">
                          <a:solidFill>
                            <a:srgbClr val="1A2332"/>
                          </a:solidFill>
                          <a:latin typeface="Arial"/>
                        </a:rPr>
                        <a:t>Qwen3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800" b="0" i="0">
                          <a:solidFill>
                            <a:srgbClr val="5A6472"/>
                          </a:solidFill>
                          <a:latin typeface="Arial"/>
                        </a:rPr>
                        <a:t>on-policy · ≈1/10 de GPU-horas de RL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s-CL" sz="800" b="1" i="0">
                          <a:solidFill>
                            <a:srgbClr val="1A2332"/>
                          </a:solidFill>
                          <a:latin typeface="Arial"/>
                        </a:rPr>
                        <a:t>Nemotron 3 Ultra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800" b="0" i="0">
                          <a:solidFill>
                            <a:srgbClr val="5A6472"/>
                          </a:solidFill>
                          <a:latin typeface="Arial"/>
                        </a:rPr>
                        <a:t>MOPD · «más de diez maestros»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s-CL" sz="800" b="1" i="0">
                          <a:solidFill>
                            <a:srgbClr val="1A2332"/>
                          </a:solidFill>
                          <a:latin typeface="Arial"/>
                        </a:rPr>
                        <a:t>Cursor Composer 2.5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800" b="0" i="0">
                          <a:solidFill>
                            <a:srgbClr val="5A6472"/>
                          </a:solidFill>
                          <a:latin typeface="Arial"/>
                        </a:rPr>
                        <a:t>auto-destilación · KL por token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s-CL" sz="800" b="1" i="0">
                          <a:solidFill>
                            <a:srgbClr val="1A2332"/>
                          </a:solidFill>
                          <a:latin typeface="Arial"/>
                        </a:rPr>
                        <a:t>gpt-oss, Llama, Phi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800" b="0" i="0">
                          <a:solidFill>
                            <a:srgbClr val="5A6472"/>
                          </a:solidFill>
                          <a:latin typeface="Arial"/>
                        </a:rPr>
                        <a:t>variantes pequeñas del propio lab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311810" y="3785616"/>
            <a:ext cx="8519465" cy="38404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12394" y="3858036"/>
            <a:ext cx="8318297" cy="27976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1000" b="1" i="0" dirty="0">
                <a:solidFill>
                  <a:srgbClr val="1A2332"/>
                </a:solidFill>
                <a:latin typeface="Arial"/>
              </a:rPr>
              <a:t>El problema no es la técnica: es de quién son las salidas que estás copiando.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" y="4315968"/>
            <a:ext cx="8519465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800" b="0" i="0" dirty="0">
                <a:solidFill>
                  <a:srgbClr val="5A6472"/>
                </a:solidFill>
                <a:latin typeface="Arial"/>
              </a:rPr>
              <a:t>La licencia de DeepSeek-R1 permite explícitamente destilar para entrenar otros LLM; Llama 3.1+ lo permite si el derivado se llama «Llama-…»; Gemma 4 pasó a Apache 2.0. Fuente de la tabla: Hugging Face, «Distillation in 2026».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810" y="0"/>
            <a:ext cx="8519465" cy="572414"/>
          </a:xfrm>
        </p:spPr>
        <p:txBody>
          <a:bodyPr/>
          <a:lstStyle/>
          <a:p>
            <a:r>
              <a:rPr lang="es-CL" dirty="0"/>
              <a:t>La disputa, en cuatro fechas</a:t>
            </a:r>
          </a:p>
        </p:txBody>
      </p:sp>
      <p:pic>
        <p:nvPicPr>
          <p:cNvPr id="4" name="Picture 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11810" y="1389511"/>
            <a:ext cx="4114800" cy="1266092"/>
          </a:xfrm>
          <a:prstGeom prst="rect">
            <a:avLst/>
          </a:prstGeom>
          <a:noFill/>
          <a:ln w="9525">
            <a:solidFill>
              <a:srgbClr val="DBE5F0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311810" y="2683035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00" b="0" i="0" dirty="0">
                <a:solidFill>
                  <a:srgbClr val="8A94A2"/>
                </a:solidFill>
                <a:latin typeface="Arial"/>
              </a:rPr>
              <a:t>23 FEB 2026 · Anthropic · 16M+ intercambios desde ~24.000 cuentas falsas</a:t>
            </a:r>
          </a:p>
        </p:txBody>
      </p:sp>
      <p:pic>
        <p:nvPicPr>
          <p:cNvPr id="6" name="Picture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6475" y="1389511"/>
            <a:ext cx="4114800" cy="1266092"/>
          </a:xfrm>
          <a:prstGeom prst="rect">
            <a:avLst/>
          </a:prstGeom>
          <a:noFill/>
          <a:ln w="9525">
            <a:solidFill>
              <a:srgbClr val="DBE5F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716475" y="2683035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00" b="0" i="0" dirty="0">
                <a:solidFill>
                  <a:srgbClr val="8A94A2"/>
                </a:solidFill>
                <a:latin typeface="Arial"/>
              </a:rPr>
              <a:t>23 ABR 2026 · CNN · Casa Blanca (OSTP): campañas deliberadas a escala industrial</a:t>
            </a:r>
          </a:p>
        </p:txBody>
      </p:sp>
      <p:pic>
        <p:nvPicPr>
          <p:cNvPr id="8" name="Picture 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810" y="2989711"/>
            <a:ext cx="4114800" cy="1266092"/>
          </a:xfrm>
          <a:prstGeom prst="rect">
            <a:avLst/>
          </a:prstGeom>
          <a:noFill/>
          <a:ln w="9525">
            <a:solidFill>
              <a:srgbClr val="DBE5F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311810" y="4283235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00" b="0" i="0" dirty="0">
                <a:solidFill>
                  <a:srgbClr val="8A94A2"/>
                </a:solidFill>
                <a:latin typeface="Arial"/>
              </a:rPr>
              <a:t>26 JUN 2026 · WION · Alibaba/Qwen: 28,8M intercambios en seis semanas, ante el Senado</a:t>
            </a:r>
          </a:p>
        </p:txBody>
      </p:sp>
      <p:pic>
        <p:nvPicPr>
          <p:cNvPr id="10" name="Picture 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6475" y="2989711"/>
            <a:ext cx="4114800" cy="1266092"/>
          </a:xfrm>
          <a:prstGeom prst="rect">
            <a:avLst/>
          </a:prstGeom>
          <a:noFill/>
          <a:ln w="9525">
            <a:solidFill>
              <a:srgbClr val="DBE5F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716475" y="4283235"/>
            <a:ext cx="4114800" cy="1645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150"/>
              </a:spcAft>
            </a:pPr>
            <a:r>
              <a:rPr lang="es-CL" sz="700" b="0" i="0" dirty="0">
                <a:solidFill>
                  <a:srgbClr val="8A94A2"/>
                </a:solidFill>
                <a:latin typeface="Arial"/>
              </a:rPr>
              <a:t>22 JUL 2026 · CyberScoop · primera vez que se nombra lab y modelo: Moonshot → Kimi K3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Discussion: Open vs Closed Source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>
            <a:spLocks noGrp="1"/>
          </p:cNvSpPr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LLM != Open Source</a:t>
            </a:r>
            <a:endParaRPr/>
          </a:p>
        </p:txBody>
      </p:sp>
      <p:pic>
        <p:nvPicPr>
          <p:cNvPr id="249" name="Google Shape;24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3837" y="967725"/>
            <a:ext cx="7176325" cy="3675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8138" y="926975"/>
            <a:ext cx="6167726" cy="3647026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0"/>
          <p:cNvSpPr txBox="1">
            <a:spLocks noGrp="1"/>
          </p:cNvSpPr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LLM != Open Source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1"/>
          <p:cNvSpPr txBox="1">
            <a:spLocks noGrp="1"/>
          </p:cNvSpPr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Source LLM != Open Source</a:t>
            </a:r>
            <a:endParaRPr/>
          </a:p>
        </p:txBody>
      </p:sp>
      <p:sp>
        <p:nvSpPr>
          <p:cNvPr id="261" name="Google Shape;261;p41"/>
          <p:cNvSpPr txBox="1"/>
          <p:nvPr/>
        </p:nvSpPr>
        <p:spPr>
          <a:xfrm>
            <a:off x="99800" y="1133900"/>
            <a:ext cx="8656500" cy="28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El término correcto (en general) es Open Weights</a:t>
            </a:r>
            <a:endParaRPr sz="1500">
              <a:solidFill>
                <a:schemeClr val="dk2"/>
              </a:solidFill>
            </a:endParaRPr>
          </a:p>
          <a:p>
            <a:pPr marL="914400" lvl="1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○"/>
            </a:pPr>
            <a:r>
              <a:rPr lang="en" sz="1500">
                <a:solidFill>
                  <a:schemeClr val="dk2"/>
                </a:solidFill>
              </a:rPr>
              <a:t>Se comparte:</a:t>
            </a:r>
            <a:endParaRPr sz="1500">
              <a:solidFill>
                <a:schemeClr val="dk2"/>
              </a:solidFill>
            </a:endParaRPr>
          </a:p>
          <a:p>
            <a:pPr marL="1371600" lvl="2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</a:pPr>
            <a:r>
              <a:rPr lang="en" sz="1500">
                <a:solidFill>
                  <a:schemeClr val="dk2"/>
                </a:solidFill>
              </a:rPr>
              <a:t>Arquitectura</a:t>
            </a:r>
            <a:endParaRPr sz="1500">
              <a:solidFill>
                <a:schemeClr val="dk2"/>
              </a:solidFill>
            </a:endParaRPr>
          </a:p>
          <a:p>
            <a:pPr marL="1371600" lvl="2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</a:pPr>
            <a:r>
              <a:rPr lang="en" sz="1500">
                <a:solidFill>
                  <a:schemeClr val="dk2"/>
                </a:solidFill>
              </a:rPr>
              <a:t>Pesos (parámetros) del modelo</a:t>
            </a:r>
            <a:endParaRPr sz="1500">
              <a:solidFill>
                <a:schemeClr val="dk2"/>
              </a:solidFill>
            </a:endParaRPr>
          </a:p>
          <a:p>
            <a:pPr marL="1371600" lvl="2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■"/>
            </a:pPr>
            <a:r>
              <a:rPr lang="en" sz="1500">
                <a:solidFill>
                  <a:schemeClr val="dk2"/>
                </a:solidFill>
              </a:rPr>
              <a:t>Algoritmo para ejecutar inferencia:</a:t>
            </a:r>
            <a:endParaRPr sz="1500">
              <a:solidFill>
                <a:schemeClr val="dk2"/>
              </a:solidFill>
            </a:endParaRPr>
          </a:p>
          <a:p>
            <a:pPr marL="1828800" lvl="3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Tokenization</a:t>
            </a:r>
            <a:endParaRPr sz="1500">
              <a:solidFill>
                <a:schemeClr val="dk2"/>
              </a:solidFill>
            </a:endParaRPr>
          </a:p>
          <a:p>
            <a:pPr marL="1828800" lvl="3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Char char="●"/>
            </a:pPr>
            <a:r>
              <a:rPr lang="en" sz="1500">
                <a:solidFill>
                  <a:schemeClr val="dk2"/>
                </a:solidFill>
              </a:rPr>
              <a:t>Carga de parámetros y ejecución</a:t>
            </a:r>
            <a:endParaRPr sz="1500">
              <a:solidFill>
                <a:schemeClr val="dk2"/>
              </a:solidFill>
            </a:endParaRPr>
          </a:p>
          <a:p>
            <a:pPr marL="9144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>
          <a:extLst>
            <a:ext uri="{FF2B5EF4-FFF2-40B4-BE49-F238E27FC236}">
              <a16:creationId xmlns:a16="http://schemas.microsoft.com/office/drawing/2014/main" id="{AB79935E-6980-C5B0-928F-9F3C7636B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2">
            <a:extLst>
              <a:ext uri="{FF2B5EF4-FFF2-40B4-BE49-F238E27FC236}">
                <a16:creationId xmlns:a16="http://schemas.microsoft.com/office/drawing/2014/main" id="{7252DE0F-D90D-843C-195D-CE2704214B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775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Comparativa de modelos</a:t>
            </a:r>
            <a:endParaRPr/>
          </a:p>
        </p:txBody>
      </p:sp>
      <p:sp>
        <p:nvSpPr>
          <p:cNvPr id="267" name="Google Shape;267;p42">
            <a:extLst>
              <a:ext uri="{FF2B5EF4-FFF2-40B4-BE49-F238E27FC236}">
                <a16:creationId xmlns:a16="http://schemas.microsoft.com/office/drawing/2014/main" id="{4C74F4B8-552A-B239-B7FD-2C8E1F7D3C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3775" y="943801"/>
            <a:ext cx="8520600" cy="5076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 u="sng" dirty="0">
                <a:solidFill>
                  <a:schemeClr val="hlink"/>
                </a:solidFill>
                <a:hlinkClick r:id="rId3"/>
              </a:rPr>
              <a:t>https://artificialanalysis.ai/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8FD88-4A47-9511-8CE7-E710B108B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61214"/>
            <a:ext cx="9051369" cy="253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5415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99D795-33E9-F677-C787-CFD7A8A8D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3">
            <a:extLst>
              <a:ext uri="{FF2B5EF4-FFF2-40B4-BE49-F238E27FC236}">
                <a16:creationId xmlns:a16="http://schemas.microsoft.com/office/drawing/2014/main" id="{6DE9307E-E721-C099-4B92-86AAEAA475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3775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Comparativa de modelos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7CA47E-3475-9BD5-58AE-BF6A529331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972609"/>
            <a:ext cx="7772400" cy="352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5628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7"/>
          <p:cNvSpPr txBox="1"/>
          <p:nvPr/>
        </p:nvSpPr>
        <p:spPr>
          <a:xfrm>
            <a:off x="193775" y="515822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n-US" u="sng" dirty="0">
                <a:solidFill>
                  <a:schemeClr val="hlink"/>
                </a:solidFill>
                <a:hlinkClick r:id="rId3"/>
              </a:rPr>
              <a:t>https://</a:t>
            </a:r>
            <a:r>
              <a:rPr lang="en-US" u="sng" dirty="0" err="1">
                <a:solidFill>
                  <a:schemeClr val="hlink"/>
                </a:solidFill>
                <a:hlinkClick r:id="rId3"/>
              </a:rPr>
              <a:t>arena.ai</a:t>
            </a:r>
            <a:r>
              <a:rPr lang="en-US" u="sng" dirty="0">
                <a:solidFill>
                  <a:schemeClr val="hlink"/>
                </a:solidFill>
                <a:hlinkClick r:id="rId3"/>
              </a:rPr>
              <a:t>/leaderboard/agent</a:t>
            </a:r>
            <a:endParaRPr dirty="0"/>
          </a:p>
        </p:txBody>
      </p:sp>
      <p:sp>
        <p:nvSpPr>
          <p:cNvPr id="306" name="Google Shape;306;p47"/>
          <p:cNvSpPr txBox="1">
            <a:spLocks noGrp="1"/>
          </p:cNvSpPr>
          <p:nvPr>
            <p:ph type="title"/>
          </p:nvPr>
        </p:nvSpPr>
        <p:spPr>
          <a:xfrm>
            <a:off x="193775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Comparativa de modelos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2CE03F-8313-C2C3-5EB0-F358346D6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27" y="1088522"/>
            <a:ext cx="7772400" cy="366774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/>
              <a:t>Economía de la IA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810" y="0"/>
            <a:ext cx="8520379" cy="572414"/>
          </a:xfrm>
        </p:spPr>
        <p:txBody>
          <a:bodyPr/>
          <a:lstStyle/>
          <a:p>
            <a:r>
              <a:rPr lang="es-CL"/>
              <a:t>Economía de la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810" y="665988"/>
            <a:ext cx="852037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1800" b="0" i="0" dirty="0">
                <a:solidFill>
                  <a:srgbClr val="44546A"/>
                </a:solidFill>
                <a:latin typeface="Arial"/>
              </a:rPr>
              <a:t>Tres familias económicas compiten por el mismo </a:t>
            </a:r>
            <a:r>
              <a:rPr lang="es-CL" sz="1800" b="0" i="0" dirty="0" err="1">
                <a:solidFill>
                  <a:srgbClr val="44546A"/>
                </a:solidFill>
                <a:latin typeface="Arial"/>
              </a:rPr>
              <a:t>workload</a:t>
            </a:r>
            <a:endParaRPr lang="es-CL" sz="1800" b="0" i="0" dirty="0">
              <a:solidFill>
                <a:srgbClr val="44546A"/>
              </a:solidFill>
              <a:latin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553893"/>
              </p:ext>
            </p:extLst>
          </p:nvPr>
        </p:nvGraphicFramePr>
        <p:xfrm>
          <a:off x="311810" y="1096524"/>
          <a:ext cx="8522208" cy="1645920"/>
        </p:xfrm>
        <a:graphic>
          <a:graphicData uri="http://schemas.openxmlformats.org/drawingml/2006/table">
            <a:tbl>
              <a:tblPr>
                <a:tableStyleId>{5D318F78-D3C2-4329-A4A2-0733A066682E}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API frontier cerrada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API de modelo abierto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Open weights self-hosted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Estructura de costo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Variable por token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Variable por token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Principalmente fija por capacidad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Capacidad gestionada por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El proveedor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El proveedor del modelo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La organización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Ejemplos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GPT-5.5 · Claude Opus 4.8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GLM-5.2 · Kimi K2.7 · Groq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0" i="0" dirty="0">
                          <a:solidFill>
                            <a:srgbClr val="1A2332"/>
                          </a:solidFill>
                          <a:latin typeface="Arial"/>
                        </a:rPr>
                        <a:t>BYOC · nube dedicada · </a:t>
                      </a:r>
                      <a:r>
                        <a:rPr lang="es-CL" sz="950" b="0" i="0" dirty="0" err="1">
                          <a:solidFill>
                            <a:srgbClr val="1A2332"/>
                          </a:solidFill>
                          <a:latin typeface="Arial"/>
                        </a:rPr>
                        <a:t>on-prem</a:t>
                      </a:r>
                      <a:endParaRPr lang="es-CL" sz="950" b="0" i="0" dirty="0">
                        <a:solidFill>
                          <a:srgbClr val="1A2332"/>
                        </a:solidFill>
                        <a:latin typeface="Arial"/>
                      </a:endParaRP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1810" y="3002103"/>
            <a:ext cx="8520379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800" b="1" i="0">
                <a:solidFill>
                  <a:srgbClr val="8A94A2"/>
                </a:solidFill>
                <a:latin typeface="Arial"/>
              </a:rPr>
              <a:t>ESPECTRO DE DESPLIEGUE SELF-HOSTED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11810" y="3221559"/>
            <a:ext cx="1627632" cy="84124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3250" y="3285566"/>
            <a:ext cx="14447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50"/>
              </a:spcAft>
            </a:pPr>
            <a:r>
              <a:rPr lang="es-CL" sz="850" b="1" i="0">
                <a:solidFill>
                  <a:srgbClr val="1A2332"/>
                </a:solidFill>
                <a:latin typeface="Arial"/>
              </a:rPr>
              <a:t>API pública</a:t>
            </a:r>
          </a:p>
          <a:p>
            <a:pPr algn="l">
              <a:spcAft>
                <a:spcPts val="150"/>
              </a:spcAft>
            </a:pPr>
            <a:r>
              <a:rPr lang="es-CL" sz="700" b="0" i="0">
                <a:solidFill>
                  <a:srgbClr val="5A6472"/>
                </a:solidFill>
                <a:latin typeface="Arial"/>
              </a:rPr>
              <a:t>CAPEX nulo · complejidad baja</a:t>
            </a:r>
          </a:p>
        </p:txBody>
      </p:sp>
      <p:sp>
        <p:nvSpPr>
          <p:cNvPr id="8" name="Rectangle 7"/>
          <p:cNvSpPr/>
          <p:nvPr/>
        </p:nvSpPr>
        <p:spPr>
          <a:xfrm>
            <a:off x="2026310" y="3221559"/>
            <a:ext cx="1627632" cy="84124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17750" y="3285566"/>
            <a:ext cx="14447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50"/>
              </a:spcAft>
            </a:pPr>
            <a:r>
              <a:rPr lang="es-CL" sz="850" b="1" i="0">
                <a:solidFill>
                  <a:srgbClr val="1A2332"/>
                </a:solidFill>
                <a:latin typeface="Arial"/>
              </a:rPr>
              <a:t>Endpoint privado</a:t>
            </a:r>
          </a:p>
          <a:p>
            <a:pPr algn="l">
              <a:spcAft>
                <a:spcPts val="150"/>
              </a:spcAft>
            </a:pPr>
            <a:r>
              <a:rPr lang="es-CL" sz="700" b="0" i="0">
                <a:solidFill>
                  <a:srgbClr val="5A6472"/>
                </a:solidFill>
                <a:latin typeface="Arial"/>
              </a:rPr>
              <a:t>CAPEX nulo · baja–media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0810" y="3221559"/>
            <a:ext cx="1627632" cy="84124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32250" y="3285566"/>
            <a:ext cx="14447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50"/>
              </a:spcAft>
            </a:pPr>
            <a:r>
              <a:rPr lang="es-CL" sz="850" b="1" i="0" dirty="0">
                <a:solidFill>
                  <a:srgbClr val="1A2332"/>
                </a:solidFill>
                <a:latin typeface="Arial"/>
              </a:rPr>
              <a:t>BYOC / </a:t>
            </a:r>
            <a:r>
              <a:rPr lang="es-CL" sz="850" b="1" i="0" dirty="0" err="1">
                <a:solidFill>
                  <a:srgbClr val="1A2332"/>
                </a:solidFill>
                <a:latin typeface="Arial"/>
              </a:rPr>
              <a:t>tenant</a:t>
            </a:r>
            <a:r>
              <a:rPr lang="es-CL" sz="850" b="1" i="0" dirty="0">
                <a:solidFill>
                  <a:srgbClr val="1A2332"/>
                </a:solidFill>
                <a:latin typeface="Arial"/>
              </a:rPr>
              <a:t> propio</a:t>
            </a:r>
          </a:p>
          <a:p>
            <a:pPr algn="l">
              <a:spcAft>
                <a:spcPts val="150"/>
              </a:spcAft>
            </a:pPr>
            <a:r>
              <a:rPr lang="es-CL" sz="700" b="0" i="0" dirty="0">
                <a:solidFill>
                  <a:srgbClr val="5A6472"/>
                </a:solidFill>
                <a:latin typeface="Arial"/>
              </a:rPr>
              <a:t>CAPEX medio · media–alta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5310" y="3221559"/>
            <a:ext cx="1627632" cy="84124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46750" y="3285566"/>
            <a:ext cx="14447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50"/>
              </a:spcAft>
            </a:pPr>
            <a:r>
              <a:rPr lang="es-CL" sz="850" b="1" i="0">
                <a:solidFill>
                  <a:srgbClr val="1A2332"/>
                </a:solidFill>
                <a:latin typeface="Arial"/>
              </a:rPr>
              <a:t>GPU cloud dedicada</a:t>
            </a:r>
          </a:p>
          <a:p>
            <a:pPr algn="l">
              <a:spcAft>
                <a:spcPts val="150"/>
              </a:spcAft>
            </a:pPr>
            <a:r>
              <a:rPr lang="es-CL" sz="700" b="0" i="0">
                <a:solidFill>
                  <a:srgbClr val="5A6472"/>
                </a:solidFill>
                <a:latin typeface="Arial"/>
              </a:rPr>
              <a:t>CAPEX nulo · media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69810" y="3221559"/>
            <a:ext cx="1627632" cy="84124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1250" y="3285566"/>
            <a:ext cx="1444752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50"/>
              </a:spcAft>
            </a:pPr>
            <a:r>
              <a:rPr lang="es-CL" sz="850" b="1" i="0">
                <a:solidFill>
                  <a:srgbClr val="1A2332"/>
                </a:solidFill>
                <a:latin typeface="Arial"/>
              </a:rPr>
              <a:t>On-prem / colocation</a:t>
            </a:r>
          </a:p>
          <a:p>
            <a:pPr algn="l">
              <a:spcAft>
                <a:spcPts val="150"/>
              </a:spcAft>
            </a:pPr>
            <a:r>
              <a:rPr lang="es-CL" sz="700" b="0" i="0">
                <a:solidFill>
                  <a:srgbClr val="5A6472"/>
                </a:solidFill>
                <a:latin typeface="Arial"/>
              </a:rPr>
              <a:t>CAPEX alto · complejidad alta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810" y="0"/>
            <a:ext cx="8520379" cy="572414"/>
          </a:xfrm>
        </p:spPr>
        <p:txBody>
          <a:bodyPr/>
          <a:lstStyle/>
          <a:p>
            <a:r>
              <a:rPr lang="es-CL"/>
              <a:t>Economía de la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810" y="670875"/>
            <a:ext cx="852037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1800" b="0" i="0" dirty="0">
                <a:solidFill>
                  <a:srgbClr val="44546A"/>
                </a:solidFill>
                <a:latin typeface="Arial"/>
              </a:rPr>
              <a:t>El precio </a:t>
            </a:r>
            <a:r>
              <a:rPr lang="es-CL" sz="1800" b="0" i="0" dirty="0" err="1">
                <a:solidFill>
                  <a:srgbClr val="44546A"/>
                </a:solidFill>
                <a:latin typeface="Arial"/>
              </a:rPr>
              <a:t>blended</a:t>
            </a:r>
            <a:r>
              <a:rPr lang="es-CL" sz="1800" b="0" i="0" dirty="0">
                <a:solidFill>
                  <a:srgbClr val="44546A"/>
                </a:solidFill>
                <a:latin typeface="Arial"/>
              </a:rPr>
              <a:t> por token varía más de 6× entre </a:t>
            </a:r>
            <a:r>
              <a:rPr lang="es-CL" sz="1800" b="0" i="0" dirty="0" err="1">
                <a:solidFill>
                  <a:srgbClr val="44546A"/>
                </a:solidFill>
                <a:latin typeface="Arial"/>
              </a:rPr>
              <a:t>APIs</a:t>
            </a:r>
            <a:endParaRPr lang="es-CL" sz="1800" b="0" i="0" dirty="0">
              <a:solidFill>
                <a:srgbClr val="44546A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11810" y="1285450"/>
            <a:ext cx="852037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900" b="0" i="0">
                <a:solidFill>
                  <a:srgbClr val="2E5A8F"/>
                </a:solidFill>
                <a:latin typeface="Arial"/>
              </a:rPr>
              <a:t>blended = 0,8 × input + 0,2 × output   ·   USD por 1M de tokens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089479"/>
              </p:ext>
            </p:extLst>
          </p:nvPr>
        </p:nvGraphicFramePr>
        <p:xfrm>
          <a:off x="311810" y="1632922"/>
          <a:ext cx="3931920" cy="2084826"/>
        </p:xfrm>
        <a:graphic>
          <a:graphicData uri="http://schemas.openxmlformats.org/drawingml/2006/table">
            <a:tbl>
              <a:tblPr>
                <a:tableStyleId>{5D318F78-D3C2-4329-A4A2-0733A066682E}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1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Sin caché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90% caché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GPT-5.5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10,00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6,76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Claude Opus 4.8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9,00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5,76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Kimi K3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5,40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3,46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GLM-5.2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2,00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1,18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1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Kimi K2.7 Code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1,56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1,01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434840" y="141803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0288" y="1376890"/>
            <a:ext cx="56692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Sin caché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1418038"/>
            <a:ext cx="100584" cy="100584"/>
          </a:xfrm>
          <a:prstGeom prst="rect">
            <a:avLst/>
          </a:prstGeom>
          <a:solidFill>
            <a:srgbClr val="7D9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58968" y="1376890"/>
            <a:ext cx="129844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90% del input en caché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779226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GPT-5.5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87568" y="1742650"/>
            <a:ext cx="2331720" cy="118872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87568" y="1888954"/>
            <a:ext cx="1576242" cy="118872"/>
          </a:xfrm>
          <a:prstGeom prst="rect">
            <a:avLst/>
          </a:prstGeom>
          <a:solidFill>
            <a:srgbClr val="7D9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2181562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Claude Opus 4.8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87568" y="2144986"/>
            <a:ext cx="2098548" cy="118872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687568" y="2291290"/>
            <a:ext cx="1343070" cy="118872"/>
          </a:xfrm>
          <a:prstGeom prst="rect">
            <a:avLst/>
          </a:prstGeom>
          <a:solidFill>
            <a:srgbClr val="7D9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2583898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Kimi K3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87568" y="2547322"/>
            <a:ext cx="1259128" cy="118872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87568" y="2693626"/>
            <a:ext cx="806775" cy="118872"/>
          </a:xfrm>
          <a:prstGeom prst="rect">
            <a:avLst/>
          </a:prstGeom>
          <a:solidFill>
            <a:srgbClr val="7D9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2986234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GLM-5.2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87568" y="2949658"/>
            <a:ext cx="466344" cy="118872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687568" y="3095962"/>
            <a:ext cx="275142" cy="118872"/>
          </a:xfrm>
          <a:prstGeom prst="rect">
            <a:avLst/>
          </a:prstGeom>
          <a:solidFill>
            <a:srgbClr val="7D9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4840" y="3388570"/>
            <a:ext cx="12070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Kimi K2.7 Code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87568" y="3351994"/>
            <a:ext cx="363748" cy="118872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87568" y="3498298"/>
            <a:ext cx="235503" cy="118872"/>
          </a:xfrm>
          <a:prstGeom prst="rect">
            <a:avLst/>
          </a:prstGeom>
          <a:solidFill>
            <a:srgbClr val="7D9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11810" y="4315968"/>
            <a:ext cx="85203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CL" sz="750" b="0" i="0">
                <a:solidFill>
                  <a:srgbClr val="5A6472"/>
                </a:solidFill>
                <a:latin typeface="Arial"/>
              </a:rPr>
              <a:t>Tarifas publicadas por 1M tokens — GPT-5.5: 5,00 in / 30,00 out · Opus 4.8: 5,00 / 25,00 · K3: 3,00 / 15,00 · GLM-5.2: 1,40 / 4,40 · K2.7: 0,95 / 4,00.  Cache hit: 0,50 / 0,50 / 0,30 / 0,26 / 0,19.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810" y="0"/>
            <a:ext cx="8520379" cy="572414"/>
          </a:xfrm>
        </p:spPr>
        <p:txBody>
          <a:bodyPr/>
          <a:lstStyle/>
          <a:p>
            <a:r>
              <a:rPr lang="es-CL"/>
              <a:t>Economía de la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3580" y="798011"/>
            <a:ext cx="852037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1800" b="0" i="0" dirty="0">
                <a:solidFill>
                  <a:srgbClr val="44546A"/>
                </a:solidFill>
                <a:latin typeface="Arial"/>
              </a:rPr>
              <a:t>Cuento cuesta un nodo de computo local?: caso 8 núcleos H200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810" y="2304174"/>
            <a:ext cx="749808" cy="1101965"/>
          </a:xfrm>
          <a:prstGeom prst="rect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11810" y="2112150"/>
            <a:ext cx="822959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CL" sz="800" b="1" i="0">
                <a:solidFill>
                  <a:srgbClr val="1A2332"/>
                </a:solidFill>
                <a:latin typeface="Arial"/>
              </a:rPr>
              <a:t>9.722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1810" y="3461004"/>
            <a:ext cx="84124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CL" sz="700" b="0" i="0">
                <a:solidFill>
                  <a:srgbClr val="5A6472"/>
                </a:solidFill>
                <a:latin typeface="Arial"/>
              </a:rPr>
              <a:t>Depreciación</a:t>
            </a:r>
          </a:p>
          <a:p>
            <a:pPr algn="ctr"/>
            <a:r>
              <a:rPr lang="es-CL" sz="700" b="0" i="0">
                <a:solidFill>
                  <a:srgbClr val="5A6472"/>
                </a:solidFill>
                <a:latin typeface="Arial"/>
              </a:rPr>
              <a:t>350k / 36 m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1074" y="2039735"/>
            <a:ext cx="749808" cy="264439"/>
          </a:xfrm>
          <a:prstGeom prst="rect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922" y="1847711"/>
            <a:ext cx="896112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CL" sz="800" b="1" i="0">
                <a:solidFill>
                  <a:srgbClr val="1A2332"/>
                </a:solidFill>
                <a:latin typeface="Arial"/>
              </a:rPr>
              <a:t>2.333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9634" y="3461004"/>
            <a:ext cx="93268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CL" sz="700" b="0" i="0">
                <a:solidFill>
                  <a:srgbClr val="5A6472"/>
                </a:solidFill>
                <a:latin typeface="Arial"/>
              </a:rPr>
              <a:t>Soporte</a:t>
            </a:r>
          </a:p>
          <a:p>
            <a:pPr algn="ctr"/>
            <a:r>
              <a:rPr lang="es-CL" sz="700" b="0" i="0">
                <a:solidFill>
                  <a:srgbClr val="5A6472"/>
                </a:solidFill>
                <a:latin typeface="Arial"/>
              </a:rPr>
              <a:t>8% CAPEX/año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50338" y="1930354"/>
            <a:ext cx="749808" cy="109380"/>
          </a:xfrm>
          <a:prstGeom prst="rect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177186" y="1738330"/>
            <a:ext cx="896112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CL" sz="800" b="1" i="0">
                <a:solidFill>
                  <a:srgbClr val="1A2332"/>
                </a:solidFill>
                <a:latin typeface="Arial"/>
              </a:rPr>
              <a:t>965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58898" y="3461004"/>
            <a:ext cx="93268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CL" sz="700" b="0" i="0">
                <a:solidFill>
                  <a:srgbClr val="5A6472"/>
                </a:solidFill>
                <a:latin typeface="Arial"/>
              </a:rPr>
              <a:t>Energía</a:t>
            </a:r>
          </a:p>
          <a:p>
            <a:pPr algn="ctr"/>
            <a:r>
              <a:rPr lang="es-CL" sz="700" b="0" i="0">
                <a:solidFill>
                  <a:srgbClr val="5A6472"/>
                </a:solidFill>
                <a:latin typeface="Arial"/>
              </a:rPr>
              <a:t>PUE 1,35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9602" y="1760333"/>
            <a:ext cx="749808" cy="170021"/>
          </a:xfrm>
          <a:prstGeom prst="rect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46450" y="1568309"/>
            <a:ext cx="896112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CL" sz="800" b="1" i="0">
                <a:solidFill>
                  <a:srgbClr val="1A2332"/>
                </a:solidFill>
                <a:latin typeface="Arial"/>
              </a:rPr>
              <a:t>1.500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8162" y="3461004"/>
            <a:ext cx="93268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CL" sz="700" b="0" i="0">
                <a:solidFill>
                  <a:srgbClr val="5A6472"/>
                </a:solidFill>
                <a:latin typeface="Arial"/>
              </a:rPr>
              <a:t>Rack, red</a:t>
            </a:r>
          </a:p>
          <a:p>
            <a:pPr algn="ctr"/>
            <a:r>
              <a:rPr lang="es-CL" sz="700" b="0" i="0">
                <a:solidFill>
                  <a:srgbClr val="5A6472"/>
                </a:solidFill>
                <a:latin typeface="Arial"/>
              </a:rPr>
              <a:t>monitoreo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88866" y="1760219"/>
            <a:ext cx="749808" cy="164592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5714" y="1568195"/>
            <a:ext cx="896112" cy="1737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CL" sz="800" b="1" i="0">
                <a:solidFill>
                  <a:srgbClr val="1A2332"/>
                </a:solidFill>
                <a:latin typeface="Arial"/>
              </a:rPr>
              <a:t>14.521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97426" y="3461004"/>
            <a:ext cx="932688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CL" sz="700" b="0" i="0">
                <a:solidFill>
                  <a:srgbClr val="5A6472"/>
                </a:solidFill>
                <a:latin typeface="Arial"/>
              </a:rPr>
              <a:t>TCO mensual</a:t>
            </a:r>
          </a:p>
          <a:p>
            <a:pPr algn="ctr"/>
            <a:r>
              <a:rPr lang="es-CL" sz="700" b="0" i="0">
                <a:solidFill>
                  <a:srgbClr val="5A6472"/>
                </a:solidFill>
                <a:latin typeface="Arial"/>
              </a:rPr>
              <a:t>USD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6565254"/>
              </p:ext>
            </p:extLst>
          </p:nvPr>
        </p:nvGraphicFramePr>
        <p:xfrm>
          <a:off x="5166360" y="1458468"/>
          <a:ext cx="3666743" cy="1700784"/>
        </p:xfrm>
        <a:graphic>
          <a:graphicData uri="http://schemas.openxmlformats.org/drawingml/2006/table">
            <a:tbl>
              <a:tblPr>
                <a:tableStyleId>{5D318F78-D3C2-4329-A4A2-0733A066682E}</a:tableStyleId>
              </a:tblPr>
              <a:tblGrid>
                <a:gridCol w="20665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Supuesto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Valor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CAPEX instalado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USD 350.000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Vida de depreciación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36 meses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Electricidad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0,12 USD/kWh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Utilización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80% de 10,2 kW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Precio GSA HGX H200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USD 259.244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5166360" y="3305556"/>
            <a:ext cx="3666744" cy="47548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257800" y="3369564"/>
            <a:ext cx="3483863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50"/>
              </a:spcAft>
            </a:pPr>
            <a:r>
              <a:rPr lang="es-CL" sz="950" b="1" i="0">
                <a:solidFill>
                  <a:srgbClr val="1A2332"/>
                </a:solidFill>
                <a:latin typeface="Arial"/>
              </a:rPr>
              <a:t>Nodo 8×B200</a:t>
            </a:r>
          </a:p>
          <a:p>
            <a:pPr algn="l">
              <a:spcAft>
                <a:spcPts val="150"/>
              </a:spcAft>
            </a:pPr>
            <a:r>
              <a:rPr lang="es-CL" sz="950" b="0" i="0">
                <a:solidFill>
                  <a:srgbClr val="1A2332"/>
                </a:solidFill>
                <a:latin typeface="Arial"/>
              </a:rPr>
              <a:t>USD 18.353 / 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1810" y="4315968"/>
            <a:ext cx="85203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CL" sz="800" b="0" i="0" dirty="0">
                <a:solidFill>
                  <a:srgbClr val="5A6472"/>
                </a:solidFill>
                <a:latin typeface="Arial"/>
              </a:rPr>
              <a:t>NO INCLUYE: personal de plataforma / SRE · costo de capital · impuestos e importación · repuestos · </a:t>
            </a:r>
            <a:r>
              <a:rPr lang="es-CL" sz="800" b="0" i="0" dirty="0" err="1">
                <a:solidFill>
                  <a:srgbClr val="5A6472"/>
                </a:solidFill>
                <a:latin typeface="Arial"/>
              </a:rPr>
              <a:t>storage</a:t>
            </a:r>
            <a:r>
              <a:rPr lang="es-CL" sz="800" b="0" i="0" dirty="0">
                <a:solidFill>
                  <a:srgbClr val="5A6472"/>
                </a:solidFill>
                <a:latin typeface="Arial"/>
              </a:rPr>
              <a:t> de alto desempeño · red </a:t>
            </a:r>
            <a:r>
              <a:rPr lang="es-CL" sz="800" b="0" i="0" dirty="0" err="1">
                <a:solidFill>
                  <a:srgbClr val="5A6472"/>
                </a:solidFill>
                <a:latin typeface="Arial"/>
              </a:rPr>
              <a:t>multinodo</a:t>
            </a:r>
            <a:r>
              <a:rPr lang="es-CL" sz="800" b="0" i="0" dirty="0">
                <a:solidFill>
                  <a:srgbClr val="5A6472"/>
                </a:solidFill>
                <a:latin typeface="Arial"/>
              </a:rPr>
              <a:t> · sitio de DR · costo de indisponibilidad.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810" y="0"/>
            <a:ext cx="8520379" cy="572414"/>
          </a:xfrm>
        </p:spPr>
        <p:txBody>
          <a:bodyPr/>
          <a:lstStyle/>
          <a:p>
            <a:r>
              <a:rPr lang="es-CL"/>
              <a:t>Economía de la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810" y="682142"/>
            <a:ext cx="852037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1800" b="0" i="0" dirty="0">
                <a:solidFill>
                  <a:srgbClr val="44546A"/>
                </a:solidFill>
                <a:latin typeface="Arial"/>
              </a:rPr>
              <a:t>Y el mismo núcleo en la nube?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810" y="1386230"/>
            <a:ext cx="852037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900" b="0" i="0">
                <a:solidFill>
                  <a:srgbClr val="2E5A8F"/>
                </a:solidFill>
                <a:latin typeface="Arial"/>
              </a:rPr>
              <a:t>costo mensual = USD/GPU-h × 8 GPUs × 730 h   ·   tarifas Nebius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9597592"/>
              </p:ext>
            </p:extLst>
          </p:nvPr>
        </p:nvGraphicFramePr>
        <p:xfrm>
          <a:off x="311810" y="1733702"/>
          <a:ext cx="3931920" cy="1280160"/>
        </p:xfrm>
        <a:graphic>
          <a:graphicData uri="http://schemas.openxmlformats.org/drawingml/2006/table">
            <a:tbl>
              <a:tblPr>
                <a:tableStyleId>{5D318F78-D3C2-4329-A4A2-0733A066682E}</a:tableStyleId>
              </a:tblPr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Nodo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Preempt.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Compromiso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On-demand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8×H100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12,6k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14,6k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22,5k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8×H200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14,3k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17,1k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26,3k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8×B200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23,1k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27,1k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41,8k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434840" y="1518818"/>
            <a:ext cx="100584" cy="100584"/>
          </a:xfrm>
          <a:prstGeom prst="rect">
            <a:avLst/>
          </a:prstGeom>
          <a:solidFill>
            <a:srgbClr val="7D9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0288" y="1477670"/>
            <a:ext cx="6858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Preemptible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22392" y="1518818"/>
            <a:ext cx="100584" cy="100584"/>
          </a:xfrm>
          <a:prstGeom prst="rect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577840" y="1477670"/>
            <a:ext cx="102412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Compromiso −35%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48272" y="1518818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03720" y="1477670"/>
            <a:ext cx="713232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On-demand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39406" y="1770278"/>
            <a:ext cx="0" cy="1828800"/>
          </a:xfrm>
          <a:prstGeom prst="line">
            <a:avLst/>
          </a:prstGeom>
          <a:ln w="12700">
            <a:solidFill>
              <a:srgbClr val="8A94A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59246" y="3626510"/>
            <a:ext cx="210312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s-CL" sz="700" b="0" i="0">
                <a:solidFill>
                  <a:srgbClr val="8A94A2"/>
                </a:solidFill>
                <a:latin typeface="Arial"/>
              </a:rPr>
              <a:t>AWS P5e 8×H200 on-demand ≈ 34,9k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53158"/>
            <a:ext cx="10515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900" b="1" i="0">
                <a:solidFill>
                  <a:srgbClr val="1A2332"/>
                </a:solidFill>
                <a:latin typeface="Arial"/>
              </a:rPr>
              <a:t>8×H100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1861718"/>
            <a:ext cx="672084" cy="118872"/>
          </a:xfrm>
          <a:prstGeom prst="rect">
            <a:avLst/>
          </a:prstGeom>
          <a:solidFill>
            <a:srgbClr val="7D9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77840" y="2012594"/>
            <a:ext cx="778764" cy="118872"/>
          </a:xfrm>
          <a:prstGeom prst="rect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577840" y="2163470"/>
            <a:ext cx="1200150" cy="118872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34840" y="2520086"/>
            <a:ext cx="10515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900" b="1" i="0">
                <a:solidFill>
                  <a:srgbClr val="1A2332"/>
                </a:solidFill>
                <a:latin typeface="Arial"/>
              </a:rPr>
              <a:t>8×H200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2428646"/>
            <a:ext cx="762762" cy="118872"/>
          </a:xfrm>
          <a:prstGeom prst="rect">
            <a:avLst/>
          </a:prstGeom>
          <a:solidFill>
            <a:srgbClr val="7D9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77840" y="2579522"/>
            <a:ext cx="912114" cy="118872"/>
          </a:xfrm>
          <a:prstGeom prst="rect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577840" y="2730398"/>
            <a:ext cx="1402842" cy="118872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4840" y="3087014"/>
            <a:ext cx="10515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900" b="1" i="0">
                <a:solidFill>
                  <a:srgbClr val="1A2332"/>
                </a:solidFill>
                <a:latin typeface="Arial"/>
              </a:rPr>
              <a:t>8×B200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2995574"/>
            <a:ext cx="1232154" cy="118872"/>
          </a:xfrm>
          <a:prstGeom prst="rect">
            <a:avLst/>
          </a:prstGeom>
          <a:solidFill>
            <a:srgbClr val="7D9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577840" y="3146450"/>
            <a:ext cx="1445514" cy="118872"/>
          </a:xfrm>
          <a:prstGeom prst="rect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577840" y="3297326"/>
            <a:ext cx="2229612" cy="118872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1810" y="4315968"/>
            <a:ext cx="85203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CL" sz="800" b="0" i="0">
                <a:solidFill>
                  <a:srgbClr val="5A6472"/>
                </a:solidFill>
                <a:latin typeface="Arial"/>
              </a:rPr>
              <a:t>Preemptible: apto para batch tolerante a interrupciones, no para un SLA interactivo. Un compromiso baja el precio, pero convierte elasticidad en obligación fija.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810" y="0"/>
            <a:ext cx="8520379" cy="572414"/>
          </a:xfrm>
        </p:spPr>
        <p:txBody>
          <a:bodyPr/>
          <a:lstStyle/>
          <a:p>
            <a:r>
              <a:rPr lang="es-CL"/>
              <a:t>Economía de la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809" y="663799"/>
            <a:ext cx="852037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1800" dirty="0">
                <a:solidFill>
                  <a:srgbClr val="44546A"/>
                </a:solidFill>
              </a:rPr>
              <a:t>Cuanto consumo justifica este costo?: curvas de costo marginal</a:t>
            </a:r>
            <a:endParaRPr lang="es-CL" sz="1800" b="0" i="0" dirty="0">
              <a:solidFill>
                <a:srgbClr val="44546A"/>
              </a:solidFill>
              <a:latin typeface="Arial"/>
            </a:endParaRPr>
          </a:p>
        </p:txBody>
      </p:sp>
      <p:pic>
        <p:nvPicPr>
          <p:cNvPr id="4" name="Picture 3" descr="curvas_cos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78" y="1161450"/>
            <a:ext cx="7863840" cy="32004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1809" y="4361905"/>
            <a:ext cx="85203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CL" sz="800" b="0" i="0">
                <a:solidFill>
                  <a:srgbClr val="5A6472"/>
                </a:solidFill>
                <a:latin typeface="Arial"/>
              </a:rPr>
              <a:t>costo efectivo por M = TCO mensual ÷ millones de tokens servidos. Válido mientras un nodo cumpla throughput, concurrencia y P95.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810" y="0"/>
            <a:ext cx="8520379" cy="572414"/>
          </a:xfrm>
        </p:spPr>
        <p:txBody>
          <a:bodyPr/>
          <a:lstStyle/>
          <a:p>
            <a:r>
              <a:rPr lang="es-CL"/>
              <a:t>Economía de la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810" y="566928"/>
            <a:ext cx="852037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1800" b="0" i="0">
                <a:solidFill>
                  <a:srgbClr val="44546A"/>
                </a:solidFill>
                <a:latin typeface="Arial"/>
              </a:rPr>
              <a:t>Costo mensual por alternativa a seis niveles de volumen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810" y="1005840"/>
          <a:ext cx="8517636" cy="3017518"/>
        </p:xfrm>
        <a:graphic>
          <a:graphicData uri="http://schemas.openxmlformats.org/drawingml/2006/table">
            <a:tbl>
              <a:tblPr>
                <a:tableStyleId>{5D318F78-D3C2-4329-A4A2-0733A066682E}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9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69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6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69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469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469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1074">
                <a:tc>
                  <a:txBody>
                    <a:bodyPr/>
                    <a:lstStyle/>
                    <a:p>
                      <a:pPr algn="l"/>
                      <a:r>
                        <a:rPr lang="es-CL" sz="750" b="1" i="0">
                          <a:solidFill>
                            <a:srgbClr val="1A2332"/>
                          </a:solidFill>
                          <a:latin typeface="Arial"/>
                        </a:rPr>
                        <a:t>TOKENS/MES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750" b="1" i="0">
                          <a:solidFill>
                            <a:srgbClr val="1A2332"/>
                          </a:solidFill>
                          <a:latin typeface="Arial"/>
                        </a:rPr>
                        <a:t>GPT-5.5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750" b="1" i="0">
                          <a:solidFill>
                            <a:srgbClr val="1A2332"/>
                          </a:solidFill>
                          <a:latin typeface="Arial"/>
                        </a:rPr>
                        <a:t>OPUS 4.8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750" b="1" i="0">
                          <a:solidFill>
                            <a:srgbClr val="1A2332"/>
                          </a:solidFill>
                          <a:latin typeface="Arial"/>
                        </a:rPr>
                        <a:t>GLM-5.2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750" b="1" i="0">
                          <a:solidFill>
                            <a:srgbClr val="1A2332"/>
                          </a:solidFill>
                          <a:latin typeface="Arial"/>
                        </a:rPr>
                        <a:t>KIMI K2.7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750" b="1" i="0">
                          <a:solidFill>
                            <a:srgbClr val="1A2332"/>
                          </a:solidFill>
                          <a:latin typeface="Arial"/>
                        </a:rPr>
                        <a:t>H200 PROPIO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750" b="1" i="0">
                          <a:solidFill>
                            <a:srgbClr val="1A2332"/>
                          </a:solidFill>
                          <a:latin typeface="Arial"/>
                        </a:rPr>
                        <a:t>CLOUD COMPR.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750" b="1" i="0">
                          <a:solidFill>
                            <a:srgbClr val="1A2332"/>
                          </a:solidFill>
                          <a:latin typeface="Arial"/>
                        </a:rPr>
                        <a:t>CLOUD ON-DEM.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lang="es-CL" sz="900" b="1" i="0">
                          <a:solidFill>
                            <a:srgbClr val="1A2332"/>
                          </a:solidFill>
                          <a:latin typeface="Arial"/>
                        </a:rPr>
                        <a:t>100M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1,00k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0,90k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0,20k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0,16k</a:t>
                      </a:r>
                    </a:p>
                  </a:txBody>
                  <a:tcPr marL="45720" marR="45720" marT="18288" marB="18288" anchor="ctr">
                    <a:solidFill>
                      <a:srgbClr val="DBE5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14,52k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17,08k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26,28k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lang="es-CL" sz="900" b="1" i="0">
                          <a:solidFill>
                            <a:srgbClr val="1A2332"/>
                          </a:solidFill>
                          <a:latin typeface="Arial"/>
                        </a:rPr>
                        <a:t>1B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10,00k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9,00k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2,00k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1,56k</a:t>
                      </a:r>
                    </a:p>
                  </a:txBody>
                  <a:tcPr marL="45720" marR="45720" marT="18288" marB="18288" anchor="ctr">
                    <a:solidFill>
                      <a:srgbClr val="DBE5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14,52k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17,08k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26,28k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lang="es-CL" sz="900" b="1" i="0">
                          <a:solidFill>
                            <a:srgbClr val="1A2332"/>
                          </a:solidFill>
                          <a:latin typeface="Arial"/>
                        </a:rPr>
                        <a:t>2B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20,00k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18,00k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4,00k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3,12k</a:t>
                      </a:r>
                    </a:p>
                  </a:txBody>
                  <a:tcPr marL="45720" marR="45720" marT="18288" marB="18288" anchor="ctr">
                    <a:solidFill>
                      <a:srgbClr val="DBE5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14,52k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17,08k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26,28k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lang="es-CL" sz="900" b="1" i="0">
                          <a:solidFill>
                            <a:srgbClr val="1A2332"/>
                          </a:solidFill>
                          <a:latin typeface="Arial"/>
                        </a:rPr>
                        <a:t>5B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50,00k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45,00k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10,00k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7,80k</a:t>
                      </a:r>
                    </a:p>
                  </a:txBody>
                  <a:tcPr marL="45720" marR="45720" marT="18288" marB="18288" anchor="ctr">
                    <a:solidFill>
                      <a:srgbClr val="DBE5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14,52k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17,08k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26,28k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lang="es-CL" sz="900" b="1" i="0">
                          <a:solidFill>
                            <a:srgbClr val="1A2332"/>
                          </a:solidFill>
                          <a:latin typeface="Arial"/>
                        </a:rPr>
                        <a:t>10B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100,00k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90,00k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20,00k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15,60k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14,52k</a:t>
                      </a:r>
                    </a:p>
                  </a:txBody>
                  <a:tcPr marL="45720" marR="45720" marT="18288" marB="18288" anchor="ctr">
                    <a:solidFill>
                      <a:srgbClr val="DBE5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17,08k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26,28k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lang="es-CL" sz="900" b="1" i="0">
                          <a:solidFill>
                            <a:srgbClr val="1A2332"/>
                          </a:solidFill>
                          <a:latin typeface="Arial"/>
                        </a:rPr>
                        <a:t>20B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200,00k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180,00k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40,00k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31,20k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14,52k*</a:t>
                      </a:r>
                    </a:p>
                  </a:txBody>
                  <a:tcPr marL="45720" marR="45720" marT="18288" marB="18288" anchor="ctr">
                    <a:solidFill>
                      <a:srgbClr val="DBE5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17,08k*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26,28k*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1810" y="4315968"/>
            <a:ext cx="85203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CL" sz="800" b="0" i="0">
                <a:solidFill>
                  <a:srgbClr val="5A6472"/>
                </a:solidFill>
                <a:latin typeface="Arial"/>
              </a:rPr>
              <a:t>Celda sombreada = alternativa más barata en cada nivel.  * El costo fijo exige que la configuración aún cumpla throughput, P95 y concurrencia; puede requerir nodos adicionales.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810" y="0"/>
            <a:ext cx="8520379" cy="572414"/>
          </a:xfrm>
        </p:spPr>
        <p:txBody>
          <a:bodyPr/>
          <a:lstStyle/>
          <a:p>
            <a:r>
              <a:rPr lang="es-CL"/>
              <a:t>Economía de la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810" y="725625"/>
            <a:ext cx="852037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1800" b="0" i="0" dirty="0">
                <a:solidFill>
                  <a:srgbClr val="44546A"/>
                </a:solidFill>
                <a:latin typeface="Arial"/>
              </a:rPr>
              <a:t>Un H200 propio </a:t>
            </a:r>
            <a:r>
              <a:rPr lang="es-CL" sz="1800" dirty="0">
                <a:solidFill>
                  <a:srgbClr val="44546A"/>
                </a:solidFill>
              </a:rPr>
              <a:t>gana</a:t>
            </a:r>
            <a:r>
              <a:rPr lang="es-CL" sz="1800" b="0" i="0" dirty="0">
                <a:solidFill>
                  <a:srgbClr val="44546A"/>
                </a:solidFill>
                <a:latin typeface="Arial"/>
              </a:rPr>
              <a:t> a las </a:t>
            </a:r>
            <a:r>
              <a:rPr lang="es-CL" sz="1800" b="0" i="0" dirty="0" err="1">
                <a:solidFill>
                  <a:srgbClr val="44546A"/>
                </a:solidFill>
                <a:latin typeface="Arial"/>
              </a:rPr>
              <a:t>APIs</a:t>
            </a:r>
            <a:r>
              <a:rPr lang="es-CL" sz="1800" b="0" i="0" dirty="0">
                <a:solidFill>
                  <a:srgbClr val="44546A"/>
                </a:solidFill>
                <a:latin typeface="Arial"/>
              </a:rPr>
              <a:t> entre 1,45B y 9,3B tokens/mes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0098" y="1051827"/>
            <a:ext cx="852037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900" b="0" i="0" dirty="0">
                <a:solidFill>
                  <a:srgbClr val="2E5A8F"/>
                </a:solidFill>
                <a:latin typeface="Arial"/>
              </a:rPr>
              <a:t>break-</a:t>
            </a:r>
            <a:r>
              <a:rPr lang="es-CL" sz="900" b="0" i="0" dirty="0" err="1">
                <a:solidFill>
                  <a:srgbClr val="2E5A8F"/>
                </a:solidFill>
                <a:latin typeface="Arial"/>
              </a:rPr>
              <a:t>even</a:t>
            </a:r>
            <a:r>
              <a:rPr lang="es-CL" sz="900" b="0" i="0" dirty="0">
                <a:solidFill>
                  <a:srgbClr val="2E5A8F"/>
                </a:solidFill>
                <a:latin typeface="Arial"/>
              </a:rPr>
              <a:t> = costo fijo mensual ÷ precio </a:t>
            </a:r>
            <a:r>
              <a:rPr lang="es-CL" sz="900" b="0" i="0" dirty="0" err="1">
                <a:solidFill>
                  <a:srgbClr val="2E5A8F"/>
                </a:solidFill>
                <a:latin typeface="Arial"/>
              </a:rPr>
              <a:t>blended</a:t>
            </a:r>
            <a:r>
              <a:rPr lang="es-CL" sz="900" b="0" i="0" dirty="0">
                <a:solidFill>
                  <a:srgbClr val="2E5A8F"/>
                </a:solidFill>
                <a:latin typeface="Arial"/>
              </a:rPr>
              <a:t>   ·   Ej.: 14.521 ÷ 10,00 = 1.452M ≈ 1,45B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518479"/>
              </p:ext>
            </p:extLst>
          </p:nvPr>
        </p:nvGraphicFramePr>
        <p:xfrm>
          <a:off x="311810" y="1816544"/>
          <a:ext cx="3749040" cy="1417320"/>
        </p:xfrm>
        <a:graphic>
          <a:graphicData uri="http://schemas.openxmlformats.org/drawingml/2006/table">
            <a:tbl>
              <a:tblPr>
                <a:tableStyleId>{5D318F78-D3C2-4329-A4A2-0733A066682E}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Comparador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1 nodo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 dirty="0">
                          <a:solidFill>
                            <a:srgbClr val="1A2332"/>
                          </a:solidFill>
                          <a:latin typeface="Arial"/>
                        </a:rPr>
                        <a:t>2 nodos (HA)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vs GPT-5.5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1,45B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2,90B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vs Claude Opus 4.8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0" i="0" dirty="0">
                          <a:solidFill>
                            <a:srgbClr val="1A2332"/>
                          </a:solidFill>
                          <a:latin typeface="Arial"/>
                        </a:rPr>
                        <a:t>1,61B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3,23B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vs GLM-5.2 API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7,26B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14,52B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vs Kimi K2.7 API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9,31B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1000" b="0" i="0" dirty="0">
                          <a:solidFill>
                            <a:srgbClr val="1A2332"/>
                          </a:solidFill>
                          <a:latin typeface="Arial"/>
                        </a:rPr>
                        <a:t>18,62B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434840" y="1480005"/>
            <a:ext cx="100584" cy="100584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0288" y="1438857"/>
            <a:ext cx="47548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1 nodo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9" y="1480005"/>
            <a:ext cx="100584" cy="100584"/>
          </a:xfrm>
          <a:prstGeom prst="rect">
            <a:avLst/>
          </a:prstGeom>
          <a:solidFill>
            <a:srgbClr val="7D9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67527" y="1438857"/>
            <a:ext cx="84124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2 nodos (HA)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877769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vs GPT-5.5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832049"/>
            <a:ext cx="185138" cy="128016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77840" y="1996641"/>
            <a:ext cx="370277" cy="128016"/>
          </a:xfrm>
          <a:prstGeom prst="rect">
            <a:avLst/>
          </a:prstGeom>
          <a:solidFill>
            <a:srgbClr val="7D9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2334969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0" i="0" dirty="0">
                <a:solidFill>
                  <a:srgbClr val="5A6472"/>
                </a:solidFill>
                <a:latin typeface="Arial"/>
              </a:rPr>
              <a:t>vs Claude Opus 4.8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0" y="2289249"/>
            <a:ext cx="205568" cy="128016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577840" y="2453841"/>
            <a:ext cx="412413" cy="128016"/>
          </a:xfrm>
          <a:prstGeom prst="rect">
            <a:avLst/>
          </a:prstGeom>
          <a:solidFill>
            <a:srgbClr val="7D9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2792169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vs GLM-5.2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2746449"/>
            <a:ext cx="926971" cy="128016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577840" y="2911041"/>
            <a:ext cx="1853943" cy="128016"/>
          </a:xfrm>
          <a:prstGeom prst="rect">
            <a:avLst/>
          </a:prstGeom>
          <a:solidFill>
            <a:srgbClr val="7D9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3249369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vs Kimi K2.7 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77840" y="3203649"/>
            <a:ext cx="1188720" cy="128016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577840" y="3368241"/>
            <a:ext cx="2377440" cy="128016"/>
          </a:xfrm>
          <a:prstGeom prst="rect">
            <a:avLst/>
          </a:prstGeom>
          <a:solidFill>
            <a:srgbClr val="7D9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1810" y="4315968"/>
            <a:ext cx="85203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CL" sz="800" b="0" i="0">
                <a:solidFill>
                  <a:srgbClr val="5A6472"/>
                </a:solidFill>
                <a:latin typeface="Arial"/>
              </a:rPr>
              <a:t>En tenant cloud el cruce con GPT-5.5 sube a 1,71B (comprometido) y 2,63B (on-demand). El comparador más exigente es la API económica del mismo modelo abierto.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810" y="0"/>
            <a:ext cx="8520379" cy="572414"/>
          </a:xfrm>
        </p:spPr>
        <p:txBody>
          <a:bodyPr/>
          <a:lstStyle/>
          <a:p>
            <a:r>
              <a:rPr lang="es-CL"/>
              <a:t>Economía de la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809" y="617220"/>
            <a:ext cx="852037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1800" b="0" i="0" dirty="0">
                <a:solidFill>
                  <a:srgbClr val="44546A"/>
                </a:solidFill>
                <a:latin typeface="Arial"/>
              </a:rPr>
              <a:t>¿Cuánto volumen representa 1B de tokens al mes?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7" y="1611630"/>
            <a:ext cx="2194560" cy="8686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5400" b="1" i="0">
                <a:solidFill>
                  <a:srgbClr val="1A2332"/>
                </a:solidFill>
                <a:latin typeface="Arial"/>
              </a:rPr>
              <a:t>1B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7" y="248945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1200" b="0" i="0">
                <a:solidFill>
                  <a:srgbClr val="5A6472"/>
                </a:solidFill>
                <a:latin typeface="Arial"/>
              </a:rPr>
              <a:t>tokens por 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7" y="2946654"/>
            <a:ext cx="2926080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es-CL" sz="900" b="0" i="0">
                <a:solidFill>
                  <a:srgbClr val="5A6472"/>
                </a:solidFill>
                <a:latin typeface="Arial"/>
              </a:rPr>
              <a:t>Regla aproximada:</a:t>
            </a:r>
          </a:p>
          <a:p>
            <a:pPr algn="l">
              <a:spcAft>
                <a:spcPts val="200"/>
              </a:spcAft>
            </a:pPr>
            <a:r>
              <a:rPr lang="es-CL" sz="900" b="0" i="0">
                <a:solidFill>
                  <a:srgbClr val="5A6472"/>
                </a:solidFill>
                <a:latin typeface="Arial"/>
              </a:rPr>
              <a:t>1 token ≈ 0,75 palabras en inglés</a:t>
            </a:r>
          </a:p>
          <a:p>
            <a:pPr algn="l">
              <a:spcAft>
                <a:spcPts val="200"/>
              </a:spcAft>
            </a:pPr>
            <a:r>
              <a:rPr lang="es-CL" sz="900" b="0" i="0">
                <a:solidFill>
                  <a:srgbClr val="5A6472"/>
                </a:solidFill>
                <a:latin typeface="Arial"/>
              </a:rPr>
              <a:t>1 página ≈ 500 palabras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603945"/>
              </p:ext>
            </p:extLst>
          </p:nvPr>
        </p:nvGraphicFramePr>
        <p:xfrm>
          <a:off x="3473805" y="1204723"/>
          <a:ext cx="5358383" cy="2926077"/>
        </p:xfrm>
        <a:graphic>
          <a:graphicData uri="http://schemas.openxmlformats.org/drawingml/2006/table">
            <a:tbl>
              <a:tblPr>
                <a:tableStyleId>{5D318F78-D3C2-4329-A4A2-0733A066682E}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9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Equivalencia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Valor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750M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palabras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1,5M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páginas single-spaced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≈680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sagas completas de Harry Potter (~1,1M palabras c/u)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≈19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Encyclopædia Britannica (~40M palabras)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0,15×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>
                          <a:solidFill>
                            <a:srgbClr val="1A2332"/>
                          </a:solidFill>
                          <a:latin typeface="Arial"/>
                        </a:rPr>
                        <a:t>Wikipedia en inglés (&gt;5B palabras)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algn="l"/>
                      <a:r>
                        <a:rPr lang="es-CL" sz="1000" b="1" i="0">
                          <a:solidFill>
                            <a:srgbClr val="1A2332"/>
                          </a:solidFill>
                          <a:latin typeface="Arial"/>
                        </a:rPr>
                        <a:t>90–250k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00" b="0" i="0" dirty="0">
                          <a:solidFill>
                            <a:srgbClr val="1A2332"/>
                          </a:solidFill>
                          <a:latin typeface="Arial"/>
                        </a:rPr>
                        <a:t>contratos MSA/SaaS de 3.000–8.000 palabras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810" y="0"/>
            <a:ext cx="8520379" cy="572414"/>
          </a:xfrm>
        </p:spPr>
        <p:txBody>
          <a:bodyPr/>
          <a:lstStyle/>
          <a:p>
            <a:r>
              <a:rPr lang="es-CL"/>
              <a:t>Economía de la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5" y="749808"/>
            <a:ext cx="852037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1800" b="0" i="0">
                <a:solidFill>
                  <a:srgbClr val="44546A"/>
                </a:solidFill>
                <a:latin typeface="Arial"/>
              </a:rPr>
              <a:t>Para la banda Haiku / GPT-5 mini basta una GPU de 48 GB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5" y="118872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700" b="1" i="0">
                <a:solidFill>
                  <a:srgbClr val="8A94A2"/>
                </a:solidFill>
                <a:latin typeface="Arial"/>
              </a:rPr>
              <a:t>SELECCIÓN POR INTELIGENCIA — ARTIFICIAL ANALYSIS INTELLIGENCE INDEX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5" y="1444752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Qwen3.5-35B-A3B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3604" y="1472184"/>
            <a:ext cx="1783080" cy="182880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02405" y="1444752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1" i="0">
                <a:solidFill>
                  <a:srgbClr val="1A2332"/>
                </a:solidFill>
                <a:latin typeface="Arial"/>
              </a:rPr>
              <a:t>29*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5" y="1755648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GPT-5 mini, high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3604" y="1783080"/>
            <a:ext cx="1537137" cy="182880"/>
          </a:xfrm>
          <a:prstGeom prst="rect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56462" y="1755648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1" i="0">
                <a:solidFill>
                  <a:srgbClr val="1A2332"/>
                </a:solidFill>
                <a:latin typeface="Arial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5" y="2066544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Claude 4.5 Haiku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73604" y="2093975"/>
            <a:ext cx="1475652" cy="182880"/>
          </a:xfrm>
          <a:prstGeom prst="rect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94977" y="2066544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1" i="0">
                <a:solidFill>
                  <a:srgbClr val="1A2332"/>
                </a:solidFill>
                <a:latin typeface="Arial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5" y="2377440"/>
            <a:ext cx="1508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GLM-4.7-Flash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3604" y="2404871"/>
            <a:ext cx="1414166" cy="182880"/>
          </a:xfrm>
          <a:prstGeom prst="rect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33491" y="2377440"/>
            <a:ext cx="4114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1" i="0">
                <a:solidFill>
                  <a:srgbClr val="1A2332"/>
                </a:solidFill>
                <a:latin typeface="Arial"/>
              </a:rPr>
              <a:t>23*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5" y="2798064"/>
            <a:ext cx="1298448" cy="5486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02335" y="2862071"/>
            <a:ext cx="1115568" cy="4206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50"/>
              </a:spcAft>
            </a:pPr>
            <a:r>
              <a:rPr lang="es-CL" sz="1100" b="1" i="0">
                <a:solidFill>
                  <a:srgbClr val="1A2332"/>
                </a:solidFill>
                <a:latin typeface="Arial"/>
              </a:rPr>
              <a:t>1,80/M</a:t>
            </a:r>
          </a:p>
          <a:p>
            <a:pPr algn="l">
              <a:spcAft>
                <a:spcPts val="150"/>
              </a:spcAft>
            </a:pPr>
            <a:r>
              <a:rPr lang="es-CL" sz="700" b="0" i="0">
                <a:solidFill>
                  <a:srgbClr val="5A6472"/>
                </a:solidFill>
                <a:latin typeface="Arial"/>
              </a:rPr>
              <a:t>Blended Haiku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19071" y="2798064"/>
            <a:ext cx="1298448" cy="5486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10511" y="2862071"/>
            <a:ext cx="1115568" cy="4206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50"/>
              </a:spcAft>
            </a:pPr>
            <a:r>
              <a:rPr lang="es-CL" sz="1100" b="1" i="0">
                <a:solidFill>
                  <a:srgbClr val="1A2332"/>
                </a:solidFill>
                <a:latin typeface="Arial"/>
              </a:rPr>
              <a:t>0,60/M</a:t>
            </a:r>
          </a:p>
          <a:p>
            <a:pPr algn="l">
              <a:spcAft>
                <a:spcPts val="150"/>
              </a:spcAft>
            </a:pPr>
            <a:r>
              <a:rPr lang="es-CL" sz="700" b="0" i="0">
                <a:solidFill>
                  <a:srgbClr val="5A6472"/>
                </a:solidFill>
                <a:latin typeface="Arial"/>
              </a:rPr>
              <a:t>GPT-5 mini · Qwen 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27247" y="2798064"/>
            <a:ext cx="1298448" cy="54864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18687" y="2862071"/>
            <a:ext cx="1115568" cy="4206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50"/>
              </a:spcAft>
            </a:pPr>
            <a:r>
              <a:rPr lang="es-CL" sz="1100" b="1" i="0">
                <a:solidFill>
                  <a:srgbClr val="1A2332"/>
                </a:solidFill>
                <a:latin typeface="Arial"/>
              </a:rPr>
              <a:t>0,136/M</a:t>
            </a:r>
          </a:p>
          <a:p>
            <a:pPr algn="l">
              <a:spcAft>
                <a:spcPts val="150"/>
              </a:spcAft>
            </a:pPr>
            <a:r>
              <a:rPr lang="es-CL" sz="700" b="0" i="0">
                <a:solidFill>
                  <a:srgbClr val="5A6472"/>
                </a:solidFill>
                <a:latin typeface="Arial"/>
              </a:rPr>
              <a:t>GLM-4.7-Flash API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6017085"/>
              </p:ext>
            </p:extLst>
          </p:nvPr>
        </p:nvGraphicFramePr>
        <p:xfrm>
          <a:off x="4662525" y="1188720"/>
          <a:ext cx="4169664" cy="1700784"/>
        </p:xfrm>
        <a:graphic>
          <a:graphicData uri="http://schemas.openxmlformats.org/drawingml/2006/table">
            <a:tbl>
              <a:tblPr>
                <a:tableStyleId>{5D318F78-D3C2-4329-A4A2-0733A066682E}</a:tableStyleId>
              </a:tblPr>
              <a:tblGrid>
                <a:gridCol w="2798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Componente · servidor 1×L40S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USD/mes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Depreciación (25k / 36 m)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694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Soporte (8% CAPEX/año)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Energía (0,70 kW · PUE 1,35)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Rack, red, observabilidad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300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TCO mensual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1.244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4662525" y="298094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900" b="0" i="0">
                <a:solidFill>
                  <a:srgbClr val="5A6472"/>
                </a:solidFill>
                <a:latin typeface="Arial"/>
              </a:rPr>
              <a:t>L40S cloud on-demand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9965" y="2980944"/>
            <a:ext cx="179222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CL" sz="950" b="1" i="0">
                <a:solidFill>
                  <a:srgbClr val="1A2332"/>
                </a:solidFill>
                <a:latin typeface="Arial"/>
              </a:rPr>
              <a:t>1.252 / 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2525" y="3346704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900" b="0" i="0">
                <a:solidFill>
                  <a:srgbClr val="5A6472"/>
                </a:solidFill>
                <a:latin typeface="Arial"/>
              </a:rPr>
              <a:t>L40S cloud preemptible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39965" y="3346704"/>
            <a:ext cx="179222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es-CL" sz="950" b="1" i="0">
                <a:solidFill>
                  <a:srgbClr val="1A2332"/>
                </a:solidFill>
                <a:latin typeface="Arial"/>
              </a:rPr>
              <a:t>608 / 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2525" y="3767328"/>
            <a:ext cx="4169663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El ticket de entrada baja de cientos de miles a decenas de miles de USD. Dos GPUs en un mismo servidor no equivalen a dos nodos redundantes.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1810" y="4315968"/>
            <a:ext cx="85203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CL" sz="700" b="0" i="0">
                <a:solidFill>
                  <a:srgbClr val="5A6472"/>
                </a:solidFill>
                <a:latin typeface="Arial"/>
              </a:rPr>
              <a:t>* Índices estimados. Qwen3.5-35B-A3B: 36B parámetros totales, 3B activos, Apache 2.0, contexto 262K; en INT4/AWQ (~18 GB de pesos) cabe con holgura en una L40S de 48 GB. «Comparable» = misma banda en este benchmark, no equivalencia contractual de calidad.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810" y="0"/>
            <a:ext cx="8520379" cy="572414"/>
          </a:xfrm>
        </p:spPr>
        <p:txBody>
          <a:bodyPr/>
          <a:lstStyle/>
          <a:p>
            <a:r>
              <a:rPr lang="es-CL"/>
              <a:t>Economía de la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810" y="566928"/>
            <a:ext cx="852037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1800" b="0" i="0">
                <a:solidFill>
                  <a:srgbClr val="44546A"/>
                </a:solidFill>
                <a:latin typeface="Arial"/>
              </a:rPr>
              <a:t>Una L40S cruza a Haiku en 0,69B; el límite real es el throughput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810" y="1005840"/>
            <a:ext cx="8520379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900" b="0" i="0">
                <a:solidFill>
                  <a:srgbClr val="2E5A8F"/>
                </a:solidFill>
                <a:latin typeface="Arial"/>
              </a:rPr>
              <a:t>producción = 2 × 1.244 + 3.000 de operación = USD 5.488 / mes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1810" y="1316736"/>
          <a:ext cx="5120640" cy="1645920"/>
        </p:xfrm>
        <a:graphic>
          <a:graphicData uri="http://schemas.openxmlformats.org/drawingml/2006/table">
            <a:tbl>
              <a:tblPr>
                <a:tableStyleId>{5D318F78-D3C2-4329-A4A2-0733A066682E}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Comparador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1 servidor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Blended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2 réplicas + operación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vs Claude 4.5 Haiku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 dirty="0">
                          <a:solidFill>
                            <a:srgbClr val="1A2332"/>
                          </a:solidFill>
                          <a:latin typeface="Arial"/>
                        </a:rPr>
                        <a:t>0,69B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1,80/M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3,05B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vs GPT-5 mini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2,07B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0,60/M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9,15B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vs Qwen3.5 API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2,07B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0,60/M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9,15B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vs GLM-4.7-Flash API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9,15B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0,136/M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 dirty="0">
                          <a:solidFill>
                            <a:srgbClr val="1A2332"/>
                          </a:solidFill>
                          <a:latin typeface="Arial"/>
                        </a:rPr>
                        <a:t>40,35B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669280" y="1316736"/>
            <a:ext cx="3163824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800" b="1" i="0">
                <a:solidFill>
                  <a:srgbClr val="8A94A2"/>
                </a:solidFill>
                <a:latin typeface="Arial"/>
              </a:rPr>
              <a:t>BANDA DE THROUGHPUT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1554480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1200" b="1" i="0">
                <a:solidFill>
                  <a:srgbClr val="1A2332"/>
                </a:solidFill>
                <a:latin typeface="Arial"/>
              </a:rPr>
              <a:t>~53 tok/s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554480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output a 0,69B/mes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975104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1200" b="1" i="0">
                <a:solidFill>
                  <a:srgbClr val="1A2332"/>
                </a:solidFill>
                <a:latin typeface="Arial"/>
              </a:rPr>
              <a:t>~158 tok/s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75104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output a 2,07B/mes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395728"/>
            <a:ext cx="96012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1200" b="1" i="0">
                <a:solidFill>
                  <a:srgbClr val="1A2332"/>
                </a:solidFill>
                <a:latin typeface="Arial"/>
              </a:rPr>
              <a:t>~474 tok/s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395728"/>
            <a:ext cx="2157984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con burst de 3× en pico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810" y="4315968"/>
            <a:ext cx="85203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CL" sz="750" b="0" i="0">
                <a:solidFill>
                  <a:srgbClr val="5A6472"/>
                </a:solidFill>
                <a:latin typeface="Arial"/>
              </a:rPr>
              <a:t>Sin ajuste de calidad: el benchmark sitúa a Qwen en la misma banda. El caso pequeño refuerza la conclusión central: decidir por costo por tarea aceptada dentro de capacidad y SLA, no por el tamaño de los pesos.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810" y="0"/>
            <a:ext cx="8520379" cy="572414"/>
          </a:xfrm>
        </p:spPr>
        <p:txBody>
          <a:bodyPr/>
          <a:lstStyle/>
          <a:p>
            <a:r>
              <a:rPr lang="es-CL"/>
              <a:t>Economía de la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810" y="658368"/>
            <a:ext cx="852037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1800" b="0" i="0" dirty="0">
                <a:solidFill>
                  <a:srgbClr val="44546A"/>
                </a:solidFill>
                <a:latin typeface="Arial"/>
              </a:rPr>
              <a:t>Kimi K3 pertenece a otra escala: clúster de 64+ aceleradores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810" y="1005840"/>
            <a:ext cx="2788920" cy="74980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03250" y="1069848"/>
            <a:ext cx="2606039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50"/>
              </a:spcAft>
            </a:pPr>
            <a:r>
              <a:rPr lang="es-CL" sz="1800" b="1" i="0">
                <a:solidFill>
                  <a:srgbClr val="1A2332"/>
                </a:solidFill>
                <a:latin typeface="Arial"/>
              </a:rPr>
              <a:t>2,8T</a:t>
            </a:r>
          </a:p>
          <a:p>
            <a:pPr algn="l">
              <a:spcAft>
                <a:spcPts val="150"/>
              </a:spcAft>
            </a:pPr>
            <a:r>
              <a:rPr lang="es-CL" sz="750" b="0" i="0">
                <a:solidFill>
                  <a:srgbClr val="5A6472"/>
                </a:solidFill>
                <a:latin typeface="Arial"/>
              </a:rPr>
              <a:t>parámetros totales · MXFP4 pesos / MXFP8 activaciones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173882" y="1005840"/>
            <a:ext cx="2788920" cy="74980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65322" y="1069848"/>
            <a:ext cx="2606039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50"/>
              </a:spcAft>
            </a:pPr>
            <a:r>
              <a:rPr lang="es-CL" sz="1800" b="1" i="0">
                <a:solidFill>
                  <a:srgbClr val="1A2332"/>
                </a:solidFill>
                <a:latin typeface="Arial"/>
              </a:rPr>
              <a:t>64+</a:t>
            </a:r>
          </a:p>
          <a:p>
            <a:pPr algn="l">
              <a:spcAft>
                <a:spcPts val="150"/>
              </a:spcAft>
            </a:pPr>
            <a:r>
              <a:rPr lang="es-CL" sz="750" b="0" i="0">
                <a:solidFill>
                  <a:srgbClr val="5A6472"/>
                </a:solidFill>
                <a:latin typeface="Arial"/>
              </a:rPr>
              <a:t>aceleradores recomendados por Moonshot (supernodo)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954" y="1005840"/>
            <a:ext cx="2788920" cy="74980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7394" y="1069848"/>
            <a:ext cx="2606039" cy="6217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50"/>
              </a:spcAft>
            </a:pPr>
            <a:r>
              <a:rPr lang="es-CL" sz="1800" b="1" i="0">
                <a:solidFill>
                  <a:srgbClr val="1A2332"/>
                </a:solidFill>
                <a:latin typeface="Arial"/>
              </a:rPr>
              <a:t>~130k</a:t>
            </a:r>
          </a:p>
          <a:p>
            <a:pPr algn="l">
              <a:spcAft>
                <a:spcPts val="150"/>
              </a:spcAft>
            </a:pPr>
            <a:r>
              <a:rPr lang="es-CL" sz="750" b="0" i="0">
                <a:solidFill>
                  <a:srgbClr val="5A6472"/>
                </a:solidFill>
                <a:latin typeface="Arial"/>
              </a:rPr>
              <a:t>USD/mes · TCO del proxy 64×H200 (CAPEX ~3,2M)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810" y="1920240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800" b="1" i="0">
                <a:solidFill>
                  <a:srgbClr val="8A94A2"/>
                </a:solidFill>
                <a:latin typeface="Arial"/>
              </a:rPr>
              <a:t>PROXY CLOUD 64×H200 · USD/MES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810" y="2185415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50" b="0" i="0">
                <a:solidFill>
                  <a:srgbClr val="5A6472"/>
                </a:solidFill>
                <a:latin typeface="Arial"/>
              </a:rPr>
              <a:t>Preemptible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2212848"/>
            <a:ext cx="945895" cy="201168"/>
          </a:xfrm>
          <a:prstGeom prst="rect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94735" y="2185415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50" b="1" i="0">
                <a:solidFill>
                  <a:srgbClr val="1A2332"/>
                </a:solidFill>
                <a:latin typeface="Arial"/>
              </a:rPr>
              <a:t>114.464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810" y="2551175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50" b="0" i="0">
                <a:solidFill>
                  <a:srgbClr val="5A6472"/>
                </a:solidFill>
                <a:latin typeface="Arial"/>
              </a:rPr>
              <a:t>Compromiso (−35% máx.)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03120" y="2578608"/>
            <a:ext cx="1129284" cy="201168"/>
          </a:xfrm>
          <a:prstGeom prst="rect">
            <a:avLst/>
          </a:prstGeom>
          <a:solidFill>
            <a:srgbClr val="4F77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78123" y="2551175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50" b="1" i="0">
                <a:solidFill>
                  <a:srgbClr val="1A2332"/>
                </a:solidFill>
                <a:latin typeface="Arial"/>
              </a:rPr>
              <a:t>136.656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810" y="2916936"/>
            <a:ext cx="16916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50" b="0" i="0">
                <a:solidFill>
                  <a:srgbClr val="5A6472"/>
                </a:solidFill>
                <a:latin typeface="Arial"/>
              </a:rPr>
              <a:t>On-demand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2944368"/>
            <a:ext cx="1737360" cy="201168"/>
          </a:xfrm>
          <a:prstGeom prst="rect">
            <a:avLst/>
          </a:prstGeom>
          <a:solidFill>
            <a:srgbClr val="1A2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86199" y="2916936"/>
            <a:ext cx="77724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es-CL" sz="850" b="1" i="0">
                <a:solidFill>
                  <a:srgbClr val="1A2332"/>
                </a:solidFill>
                <a:latin typeface="Arial"/>
              </a:rPr>
              <a:t>210.240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1920240"/>
            <a:ext cx="4169663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800" b="1" i="0">
                <a:solidFill>
                  <a:srgbClr val="8A94A2"/>
                </a:solidFill>
                <a:latin typeface="Arial"/>
              </a:rPr>
              <a:t>BREAK-EVEN DEL PROXY PROPIO (130K/MES) · B TOKENS/MES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663440" y="2157984"/>
          <a:ext cx="4169664" cy="1325880"/>
        </p:xfrm>
        <a:graphic>
          <a:graphicData uri="http://schemas.openxmlformats.org/drawingml/2006/table">
            <a:tbl>
              <a:tblPr>
                <a:tableStyleId>{5D318F78-D3C2-4329-A4A2-0733A066682E}</a:tableStyleId>
              </a:tblPr>
              <a:tblGrid>
                <a:gridCol w="2615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Comparador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Break-even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vs GPT-5.5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13,0B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vs Claude Opus 4.8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14,4B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vs K3 API sin caché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24,1B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lang="es-CL" sz="950" b="1" i="0">
                          <a:solidFill>
                            <a:srgbClr val="1A2332"/>
                          </a:solidFill>
                          <a:latin typeface="Arial"/>
                        </a:rPr>
                        <a:t>vs K3 API con 90% caché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s-CL" sz="950" b="0" i="0">
                          <a:solidFill>
                            <a:srgbClr val="1A2332"/>
                          </a:solidFill>
                          <a:latin typeface="Arial"/>
                        </a:rPr>
                        <a:t>37,6B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311810" y="3547872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800" b="0" i="0">
                <a:solidFill>
                  <a:srgbClr val="5A6472"/>
                </a:solidFill>
                <a:latin typeface="Arial"/>
              </a:rPr>
              <a:t>Contra su propia API, el self-hosting de K3 solo cruza en decenas de miles de millones de tokens mensuales; con HA, cerca del doble.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810" y="4315968"/>
            <a:ext cx="85203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s-CL" sz="800" b="0" i="0">
                <a:solidFill>
                  <a:srgbClr val="5A6472"/>
                </a:solidFill>
                <a:latin typeface="Arial"/>
              </a:rPr>
              <a:t>Proxy de orden de magnitud, no un diseño validado por Moonshot. Pesos completos anunciados para antes del 27 de julio de 2026.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810" y="0"/>
            <a:ext cx="8520379" cy="572414"/>
          </a:xfrm>
        </p:spPr>
        <p:txBody>
          <a:bodyPr/>
          <a:lstStyle/>
          <a:p>
            <a:r>
              <a:rPr lang="es-CL"/>
              <a:t>Economía de la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810" y="566928"/>
            <a:ext cx="852037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s-CL" sz="1800" b="0" i="0">
                <a:solidFill>
                  <a:srgbClr val="44546A"/>
                </a:solidFill>
                <a:latin typeface="Arial"/>
              </a:rPr>
              <a:t>Bandas de decisión según el volumen mensual estable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11810" y="1024128"/>
          <a:ext cx="8520379" cy="2788920"/>
        </p:xfrm>
        <a:graphic>
          <a:graphicData uri="http://schemas.openxmlformats.org/drawingml/2006/table">
            <a:tbl>
              <a:tblPr>
                <a:tableStyleId>{5D318F78-D3C2-4329-A4A2-0733A066682E}</a:tableStyleId>
              </a:tblPr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5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lang="es-CL" sz="900" b="1" i="0">
                          <a:solidFill>
                            <a:srgbClr val="1A2332"/>
                          </a:solidFill>
                          <a:latin typeface="Arial"/>
                        </a:rPr>
                        <a:t>Banda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1" i="0">
                          <a:solidFill>
                            <a:srgbClr val="1A2332"/>
                          </a:solidFill>
                          <a:latin typeface="Arial"/>
                        </a:rPr>
                        <a:t>Veredicto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1" i="0">
                          <a:solidFill>
                            <a:srgbClr val="1A2332"/>
                          </a:solidFill>
                          <a:latin typeface="Arial"/>
                        </a:rPr>
                        <a:t>Detalle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lang="es-CL" sz="900" b="1" i="0">
                          <a:solidFill>
                            <a:srgbClr val="1A2332"/>
                          </a:solidFill>
                          <a:latin typeface="Arial"/>
                        </a:rPr>
                        <a:t>&lt; 1B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API como opción predeterminada.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Self-hosting solo por soberanía, aislamiento u operación offline. Evitar CAPEX sin trazas de demanda.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lang="es-CL" sz="900" b="1" i="0">
                          <a:solidFill>
                            <a:srgbClr val="1A2332"/>
                          </a:solidFill>
                          <a:latin typeface="Arial"/>
                        </a:rPr>
                        <a:t>1–5B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Paridad teórica frente a frontier.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Frágil ante caché, redundancia y calidad. Probar endpoints privados o BYOC antes de comprar.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lang="es-CL" sz="900" b="1" i="0">
                          <a:solidFill>
                            <a:srgbClr val="1A2332"/>
                          </a:solidFill>
                          <a:latin typeface="Arial"/>
                        </a:rPr>
                        <a:t>5–10B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Zona seria de evaluación.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Requiere tráfico estable y evaluación por tarea. Un router híbrido captura ahorro sin renunciar a frontier.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lang="es-CL" sz="900" b="1" i="0">
                          <a:solidFill>
                            <a:srgbClr val="1A2332"/>
                          </a:solidFill>
                          <a:latin typeface="Arial"/>
                        </a:rPr>
                        <a:t>10–20B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Nodo propio muy competitivo vs frontier.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Se acerca a las APIs económicas abiertas. Verificar que un nodo sostenga el throughput real.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lang="es-CL" sz="900" b="1" i="0">
                          <a:solidFill>
                            <a:srgbClr val="1A2332"/>
                          </a:solidFill>
                          <a:latin typeface="Arial"/>
                        </a:rPr>
                        <a:t>&gt; 20B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Plataforma redundante defendible.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900" b="0" i="0">
                          <a:solidFill>
                            <a:srgbClr val="1A2332"/>
                          </a:solidFill>
                          <a:latin typeface="Arial"/>
                        </a:rPr>
                        <a:t>Depende de operación eficiente y alta utilización. Negociar API y cloud commitments sigue siendo obligatorio.</a:t>
                      </a:r>
                    </a:p>
                  </a:txBody>
                  <a:tcPr marL="45720" marR="45720" marT="18288" marB="18288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11810" y="3950208"/>
            <a:ext cx="8520379" cy="566928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03250" y="4014216"/>
            <a:ext cx="8337499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150"/>
              </a:spcAft>
            </a:pPr>
            <a:r>
              <a:rPr lang="es-CL" sz="950" b="1" i="0">
                <a:solidFill>
                  <a:srgbClr val="1A2332"/>
                </a:solidFill>
                <a:latin typeface="Arial"/>
              </a:rPr>
              <a:t>Kimi K3</a:t>
            </a:r>
          </a:p>
          <a:p>
            <a:pPr algn="l">
              <a:spcAft>
                <a:spcPts val="150"/>
              </a:spcAft>
            </a:pPr>
            <a:r>
              <a:rPr lang="es-CL" sz="900" b="0" i="0">
                <a:solidFill>
                  <a:srgbClr val="5A6472"/>
                </a:solidFill>
                <a:latin typeface="Arial"/>
              </a:rPr>
              <a:t>API o proveedor administrado por defecto; self-hosting solo con decenas de B tokens/mes estables o por soberanía y control.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Economía de la IA</a:t>
            </a:r>
            <a:endParaRPr/>
          </a:p>
        </p:txBody>
      </p:sp>
      <p:sp>
        <p:nvSpPr>
          <p:cNvPr id="355" name="Google Shape;355;p54"/>
          <p:cNvSpPr txBox="1"/>
          <p:nvPr/>
        </p:nvSpPr>
        <p:spPr>
          <a:xfrm>
            <a:off x="23600" y="630980"/>
            <a:ext cx="8808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2"/>
                </a:solidFill>
              </a:rPr>
              <a:t>¿Por </a:t>
            </a:r>
            <a:r>
              <a:rPr lang="en" sz="1800" dirty="0" err="1">
                <a:solidFill>
                  <a:schemeClr val="dk2"/>
                </a:solidFill>
              </a:rPr>
              <a:t>qué</a:t>
            </a:r>
            <a:r>
              <a:rPr lang="en" sz="1800" dirty="0">
                <a:solidFill>
                  <a:schemeClr val="dk2"/>
                </a:solidFill>
              </a:rPr>
              <a:t> no hay mas </a:t>
            </a:r>
            <a:r>
              <a:rPr lang="en" sz="1800" dirty="0" err="1">
                <a:solidFill>
                  <a:schemeClr val="dk2"/>
                </a:solidFill>
              </a:rPr>
              <a:t>oferta</a:t>
            </a:r>
            <a:r>
              <a:rPr lang="en" sz="1800" dirty="0">
                <a:solidFill>
                  <a:schemeClr val="dk2"/>
                </a:solidFill>
              </a:rPr>
              <a:t> de GPUs?</a:t>
            </a:r>
            <a:endParaRPr sz="1500" dirty="0">
              <a:solidFill>
                <a:schemeClr val="dk2"/>
              </a:solidFill>
            </a:endParaRPr>
          </a:p>
        </p:txBody>
      </p:sp>
      <p:pic>
        <p:nvPicPr>
          <p:cNvPr id="356" name="Google Shape;35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3200" y="1148350"/>
            <a:ext cx="6872371" cy="3624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014" y="1697150"/>
            <a:ext cx="5492775" cy="268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72800" y="1979675"/>
            <a:ext cx="3063375" cy="2118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03662" y="1148353"/>
            <a:ext cx="4736678" cy="362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7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¿Está todo perdido para Open Source?</a:t>
            </a:r>
            <a:endParaRPr/>
          </a:p>
        </p:txBody>
      </p:sp>
      <p:sp>
        <p:nvSpPr>
          <p:cNvPr id="379" name="Google Shape;379;p57"/>
          <p:cNvSpPr txBox="1"/>
          <p:nvPr/>
        </p:nvSpPr>
        <p:spPr>
          <a:xfrm>
            <a:off x="23600" y="752900"/>
            <a:ext cx="584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Tal vez no: Groq &amp; LPUs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380" name="Google Shape;38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94800"/>
            <a:ext cx="8839204" cy="3340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04000" y="1462575"/>
            <a:ext cx="6135998" cy="3205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3277" y="1282300"/>
            <a:ext cx="5437433" cy="334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03987" y="1129400"/>
            <a:ext cx="6136003" cy="3361621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7"/>
          <p:cNvSpPr txBox="1"/>
          <p:nvPr/>
        </p:nvSpPr>
        <p:spPr>
          <a:xfrm>
            <a:off x="1736688" y="1282300"/>
            <a:ext cx="5670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https://groq.com/blog/inside-the-lpu-deconstructing-groq-speed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84B9D26-0B42-79F2-5035-975561F046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5990" y="963067"/>
            <a:ext cx="6136003" cy="36942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Caso 3: Correr open source en Groq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432</TotalTime>
  <Words>2732</Words>
  <Application>Microsoft Macintosh PowerPoint</Application>
  <PresentationFormat>On-screen Show (16:9)</PresentationFormat>
  <Paragraphs>505</Paragraphs>
  <Slides>49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Roboto</vt:lpstr>
      <vt:lpstr>Poppins</vt:lpstr>
      <vt:lpstr>Arial</vt:lpstr>
      <vt:lpstr>Calibri</vt:lpstr>
      <vt:lpstr>Tema de Office</vt:lpstr>
      <vt:lpstr>Diplomado de Extensión en IA Generativa para Organizaciones  Modulo 5, Clase 1: Modelos de código abierto</vt:lpstr>
      <vt:lpstr>Temario</vt:lpstr>
      <vt:lpstr>Introducción</vt:lpstr>
      <vt:lpstr>¿Cuál es la propuesta de valor?</vt:lpstr>
      <vt:lpstr>Open vs closed: David vs Goliath</vt:lpstr>
      <vt:lpstr>Open vs closed: David vs Goliath</vt:lpstr>
      <vt:lpstr>Open vs closed: David vs Goliath</vt:lpstr>
      <vt:lpstr>Open vs closed: David vs Goliath</vt:lpstr>
      <vt:lpstr>Open vs closed: David vs Goliath</vt:lpstr>
      <vt:lpstr>Corriendo modelos locales</vt:lpstr>
      <vt:lpstr>Caso 1: Correr un modelo open source localmente</vt:lpstr>
      <vt:lpstr>Corriendo un modelo localmente via Ollama.</vt:lpstr>
      <vt:lpstr>Corriendo un modelo localmente via Ollama.</vt:lpstr>
      <vt:lpstr>Corriendo un modelo localmente via Ollama.</vt:lpstr>
      <vt:lpstr>Fine tunning</vt:lpstr>
      <vt:lpstr>Que es finetunning?</vt:lpstr>
      <vt:lpstr>Que es finetunning?</vt:lpstr>
      <vt:lpstr>Cómo hacerlo eficiente?</vt:lpstr>
      <vt:lpstr>Cómo hacerlo eficiente?</vt:lpstr>
      <vt:lpstr>Caso 2: fine tuning</vt:lpstr>
      <vt:lpstr>Destilación de modelos</vt:lpstr>
      <vt:lpstr>¿Qué es destilar un modelo?</vt:lpstr>
      <vt:lpstr>Arquitectura general de la destilación</vt:lpstr>
      <vt:lpstr>Tres formas de destilar — y quién usa cada una</vt:lpstr>
      <vt:lpstr>La disputa, en cuatro fechas</vt:lpstr>
      <vt:lpstr>Discussion: Open vs Closed Source</vt:lpstr>
      <vt:lpstr>Open Source LLM != Open Source</vt:lpstr>
      <vt:lpstr>Open Source LLM != Open Source</vt:lpstr>
      <vt:lpstr>Open Source LLM != Open Source</vt:lpstr>
      <vt:lpstr>Comparativa de modelos</vt:lpstr>
      <vt:lpstr>Comparativa de modelos</vt:lpstr>
      <vt:lpstr>Comparativa de modelos</vt:lpstr>
      <vt:lpstr>Economía de la IA</vt:lpstr>
      <vt:lpstr>Economía de la IA</vt:lpstr>
      <vt:lpstr>Economía de la IA</vt:lpstr>
      <vt:lpstr>Economía de la IA</vt:lpstr>
      <vt:lpstr>Economía de la IA</vt:lpstr>
      <vt:lpstr>Economía de la IA</vt:lpstr>
      <vt:lpstr>Economía de la IA</vt:lpstr>
      <vt:lpstr>Economía de la IA</vt:lpstr>
      <vt:lpstr>Economía de la IA</vt:lpstr>
      <vt:lpstr>Economía de la IA</vt:lpstr>
      <vt:lpstr>Economía de la IA</vt:lpstr>
      <vt:lpstr>Economía de la IA</vt:lpstr>
      <vt:lpstr>Economía de la IA</vt:lpstr>
      <vt:lpstr>Economía de la IA</vt:lpstr>
      <vt:lpstr>¿Está todo perdido para Open Source?</vt:lpstr>
      <vt:lpstr>Caso 3: Correr open source en Groq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José Manuel Peña Mendez</cp:lastModifiedBy>
  <cp:revision>13</cp:revision>
  <dcterms:modified xsi:type="dcterms:W3CDTF">2026-07-29T05:00:58Z</dcterms:modified>
</cp:coreProperties>
</file>